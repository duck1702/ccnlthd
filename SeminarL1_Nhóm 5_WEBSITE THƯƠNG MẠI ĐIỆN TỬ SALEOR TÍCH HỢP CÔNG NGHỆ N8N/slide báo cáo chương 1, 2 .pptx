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8288000" cy="10287000"/>
  <p:notesSz cx="6858000" cy="9144000"/>
  <p:embeddedFontLst>
    <p:embeddedFont>
      <p:font typeface="Decalotype" panose="020B0604020202020204" charset="0"/>
      <p:regular r:id="rId34"/>
    </p:embeddedFont>
    <p:embeddedFont>
      <p:font typeface="Decalotype Bold" panose="020B0604020202020204" charset="0"/>
      <p:regular r:id="rId35"/>
    </p:embeddedFont>
    <p:embeddedFont>
      <p:font typeface="Decalotype Italics" panose="020B0604020202020204" charset="0"/>
      <p:regular r:id="rId36"/>
    </p:embeddedFont>
    <p:embeddedFont>
      <p:font typeface="Decalotype Ultra-Bold" panose="020B0604020202020204" charset="0"/>
      <p:regular r:id="rId37"/>
    </p:embeddedFont>
    <p:embeddedFont>
      <p:font typeface="Noto Sans" panose="020B0502040504020204" pitchFamily="34" charset="0"/>
      <p:regular r:id="rId38"/>
    </p:embeddedFont>
    <p:embeddedFont>
      <p:font typeface="Noto Sans Bold" panose="020B0604020202020204" charset="0"/>
      <p:regular r:id="rId39"/>
    </p:embeddedFont>
    <p:embeddedFont>
      <p:font typeface="Noto Sans Italics" panose="020B0604020202020204" charset="0"/>
      <p:regular r:id="rId40"/>
    </p:embeddedFont>
    <p:embeddedFont>
      <p:font typeface="Poppins Bold" panose="020B0604020202020204" charset="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TextBox 2"/>
          <p:cNvSpPr txBox="1"/>
          <p:nvPr/>
        </p:nvSpPr>
        <p:spPr>
          <a:xfrm>
            <a:off x="1028700" y="1438275"/>
            <a:ext cx="13113220" cy="5416281"/>
          </a:xfrm>
          <a:prstGeom prst="rect">
            <a:avLst/>
          </a:prstGeom>
        </p:spPr>
        <p:txBody>
          <a:bodyPr lIns="0" tIns="0" rIns="0" bIns="0" rtlCol="0" anchor="t">
            <a:spAutoFit/>
          </a:bodyPr>
          <a:lstStyle/>
          <a:p>
            <a:pPr algn="l">
              <a:lnSpc>
                <a:spcPts val="20864"/>
              </a:lnSpc>
            </a:pPr>
            <a:r>
              <a:rPr lang="en-US" sz="20864" b="1">
                <a:solidFill>
                  <a:srgbClr val="383838"/>
                </a:solidFill>
                <a:latin typeface="Noto Sans Bold"/>
                <a:ea typeface="Noto Sans Bold"/>
                <a:cs typeface="Noto Sans Bold"/>
                <a:sym typeface="Noto Sans Bold"/>
              </a:rPr>
              <a:t>VELIN SHOP</a:t>
            </a:r>
          </a:p>
        </p:txBody>
      </p:sp>
      <p:sp>
        <p:nvSpPr>
          <p:cNvPr id="3" name="Freeform 3"/>
          <p:cNvSpPr/>
          <p:nvPr/>
        </p:nvSpPr>
        <p:spPr>
          <a:xfrm>
            <a:off x="9330091" y="1624581"/>
            <a:ext cx="3907547" cy="3809736"/>
          </a:xfrm>
          <a:custGeom>
            <a:avLst/>
            <a:gdLst/>
            <a:ahLst/>
            <a:cxnLst/>
            <a:rect l="l" t="t" r="r" b="b"/>
            <a:pathLst>
              <a:path w="3907547" h="3809736">
                <a:moveTo>
                  <a:pt x="0" y="0"/>
                </a:moveTo>
                <a:lnTo>
                  <a:pt x="3907547" y="0"/>
                </a:lnTo>
                <a:lnTo>
                  <a:pt x="3907547" y="3809736"/>
                </a:lnTo>
                <a:lnTo>
                  <a:pt x="0" y="380973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1028700" y="7022809"/>
            <a:ext cx="11850409" cy="638175"/>
          </a:xfrm>
          <a:prstGeom prst="rect">
            <a:avLst/>
          </a:prstGeom>
        </p:spPr>
        <p:txBody>
          <a:bodyPr lIns="0" tIns="0" rIns="0" bIns="0" rtlCol="0" anchor="t">
            <a:spAutoFit/>
          </a:bodyPr>
          <a:lstStyle/>
          <a:p>
            <a:pPr algn="l">
              <a:lnSpc>
                <a:spcPts val="5040"/>
              </a:lnSpc>
            </a:pPr>
            <a:r>
              <a:rPr lang="en-US" sz="4200" b="1">
                <a:solidFill>
                  <a:srgbClr val="383838"/>
                </a:solidFill>
                <a:latin typeface="Noto Sans Bold"/>
                <a:ea typeface="Noto Sans Bold"/>
                <a:cs typeface="Noto Sans Bold"/>
                <a:sym typeface="Noto Sans Bold"/>
              </a:rPr>
              <a:t>Môn học: Các công nghệ lập trình hiện đại</a:t>
            </a:r>
          </a:p>
        </p:txBody>
      </p:sp>
      <p:sp>
        <p:nvSpPr>
          <p:cNvPr id="5" name="TextBox 5"/>
          <p:cNvSpPr txBox="1"/>
          <p:nvPr/>
        </p:nvSpPr>
        <p:spPr>
          <a:xfrm>
            <a:off x="1028700" y="8030592"/>
            <a:ext cx="9888783" cy="628651"/>
          </a:xfrm>
          <a:prstGeom prst="rect">
            <a:avLst/>
          </a:prstGeom>
        </p:spPr>
        <p:txBody>
          <a:bodyPr lIns="0" tIns="0" rIns="0" bIns="0" rtlCol="0" anchor="t">
            <a:spAutoFit/>
          </a:bodyPr>
          <a:lstStyle/>
          <a:p>
            <a:pPr marL="0" lvl="0" indent="0" algn="l">
              <a:lnSpc>
                <a:spcPts val="5219"/>
              </a:lnSpc>
            </a:pPr>
            <a:r>
              <a:rPr lang="en-US" sz="3599" b="1">
                <a:solidFill>
                  <a:srgbClr val="000000"/>
                </a:solidFill>
                <a:latin typeface="Noto Sans Bold"/>
                <a:ea typeface="Noto Sans Bold"/>
                <a:cs typeface="Noto Sans Bold"/>
                <a:sym typeface="Noto Sans Bold"/>
              </a:rPr>
              <a:t> Giảng viên hướng dẫn: Thầy Đỗ Như Tài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028700" y="2453131"/>
            <a:ext cx="6656741" cy="5380738"/>
          </a:xfrm>
          <a:custGeom>
            <a:avLst/>
            <a:gdLst/>
            <a:ahLst/>
            <a:cxnLst/>
            <a:rect l="l" t="t" r="r" b="b"/>
            <a:pathLst>
              <a:path w="6656741" h="5380738">
                <a:moveTo>
                  <a:pt x="0" y="0"/>
                </a:moveTo>
                <a:lnTo>
                  <a:pt x="6656741" y="0"/>
                </a:lnTo>
                <a:lnTo>
                  <a:pt x="6656741" y="5380738"/>
                </a:lnTo>
                <a:lnTo>
                  <a:pt x="0" y="5380738"/>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8762813" y="4802318"/>
            <a:ext cx="8496487" cy="2841050"/>
            <a:chOff x="0" y="0"/>
            <a:chExt cx="11328650" cy="3788067"/>
          </a:xfrm>
        </p:grpSpPr>
        <p:sp>
          <p:nvSpPr>
            <p:cNvPr id="4" name="TextBox 4"/>
            <p:cNvSpPr txBox="1"/>
            <p:nvPr/>
          </p:nvSpPr>
          <p:spPr>
            <a:xfrm>
              <a:off x="0" y="-76200"/>
              <a:ext cx="11328650" cy="736601"/>
            </a:xfrm>
            <a:prstGeom prst="rect">
              <a:avLst/>
            </a:prstGeom>
          </p:spPr>
          <p:txBody>
            <a:bodyPr lIns="0" tIns="0" rIns="0" bIns="0" rtlCol="0" anchor="t">
              <a:spAutoFit/>
            </a:bodyPr>
            <a:lstStyle/>
            <a:p>
              <a:pPr marL="0" lvl="0" indent="0" algn="l">
                <a:lnSpc>
                  <a:spcPts val="4784"/>
                </a:lnSpc>
              </a:pPr>
              <a:r>
                <a:rPr lang="en-US" sz="3299" b="1">
                  <a:solidFill>
                    <a:srgbClr val="000000"/>
                  </a:solidFill>
                  <a:latin typeface="Noto Sans Bold"/>
                  <a:ea typeface="Noto Sans Bold"/>
                  <a:cs typeface="Noto Sans Bold"/>
                  <a:sym typeface="Noto Sans Bold"/>
                </a:rPr>
                <a:t>3122411169 - Nguyễn Phạm Hoàng Quân </a:t>
              </a:r>
            </a:p>
          </p:txBody>
        </p:sp>
        <p:sp>
          <p:nvSpPr>
            <p:cNvPr id="5" name="TextBox 5"/>
            <p:cNvSpPr txBox="1"/>
            <p:nvPr/>
          </p:nvSpPr>
          <p:spPr>
            <a:xfrm>
              <a:off x="0" y="966355"/>
              <a:ext cx="11328650" cy="736601"/>
            </a:xfrm>
            <a:prstGeom prst="rect">
              <a:avLst/>
            </a:prstGeom>
          </p:spPr>
          <p:txBody>
            <a:bodyPr lIns="0" tIns="0" rIns="0" bIns="0" rtlCol="0" anchor="t">
              <a:spAutoFit/>
            </a:bodyPr>
            <a:lstStyle/>
            <a:p>
              <a:pPr marL="0" lvl="0" indent="0" algn="l">
                <a:lnSpc>
                  <a:spcPts val="4784"/>
                </a:lnSpc>
              </a:pPr>
              <a:r>
                <a:rPr lang="en-US" sz="3299" b="1">
                  <a:solidFill>
                    <a:srgbClr val="000000"/>
                  </a:solidFill>
                  <a:latin typeface="Noto Sans Bold"/>
                  <a:ea typeface="Noto Sans Bold"/>
                  <a:cs typeface="Noto Sans Bold"/>
                  <a:sym typeface="Noto Sans Bold"/>
                </a:rPr>
                <a:t>3122411208 - Nguyễn Trần Quốc Tiến </a:t>
              </a:r>
            </a:p>
          </p:txBody>
        </p:sp>
        <p:sp>
          <p:nvSpPr>
            <p:cNvPr id="6" name="TextBox 6"/>
            <p:cNvSpPr txBox="1"/>
            <p:nvPr/>
          </p:nvSpPr>
          <p:spPr>
            <a:xfrm>
              <a:off x="0" y="2008911"/>
              <a:ext cx="11328650" cy="736601"/>
            </a:xfrm>
            <a:prstGeom prst="rect">
              <a:avLst/>
            </a:prstGeom>
          </p:spPr>
          <p:txBody>
            <a:bodyPr lIns="0" tIns="0" rIns="0" bIns="0" rtlCol="0" anchor="t">
              <a:spAutoFit/>
            </a:bodyPr>
            <a:lstStyle/>
            <a:p>
              <a:pPr marL="0" lvl="0" indent="0" algn="l">
                <a:lnSpc>
                  <a:spcPts val="4784"/>
                </a:lnSpc>
              </a:pPr>
              <a:r>
                <a:rPr lang="en-US" sz="3299" b="1">
                  <a:solidFill>
                    <a:srgbClr val="000000"/>
                  </a:solidFill>
                  <a:latin typeface="Noto Sans Bold"/>
                  <a:ea typeface="Noto Sans Bold"/>
                  <a:cs typeface="Noto Sans Bold"/>
                  <a:sym typeface="Noto Sans Bold"/>
                </a:rPr>
                <a:t>3122411117 - Nguyễn Huỳnh Phương Lộc </a:t>
              </a:r>
            </a:p>
          </p:txBody>
        </p:sp>
        <p:sp>
          <p:nvSpPr>
            <p:cNvPr id="7" name="TextBox 7"/>
            <p:cNvSpPr txBox="1"/>
            <p:nvPr/>
          </p:nvSpPr>
          <p:spPr>
            <a:xfrm>
              <a:off x="0" y="3051466"/>
              <a:ext cx="11328650" cy="736601"/>
            </a:xfrm>
            <a:prstGeom prst="rect">
              <a:avLst/>
            </a:prstGeom>
          </p:spPr>
          <p:txBody>
            <a:bodyPr lIns="0" tIns="0" rIns="0" bIns="0" rtlCol="0" anchor="t">
              <a:spAutoFit/>
            </a:bodyPr>
            <a:lstStyle/>
            <a:p>
              <a:pPr marL="0" lvl="0" indent="0" algn="l">
                <a:lnSpc>
                  <a:spcPts val="4784"/>
                </a:lnSpc>
              </a:pPr>
              <a:r>
                <a:rPr lang="en-US" sz="3299" b="1">
                  <a:solidFill>
                    <a:srgbClr val="000000"/>
                  </a:solidFill>
                  <a:latin typeface="Noto Sans Bold"/>
                  <a:ea typeface="Noto Sans Bold"/>
                  <a:cs typeface="Noto Sans Bold"/>
                  <a:sym typeface="Noto Sans Bold"/>
                </a:rPr>
                <a:t>3122411044 - Nguyễn Việt Đức</a:t>
              </a:r>
            </a:p>
          </p:txBody>
        </p:sp>
      </p:grpSp>
      <p:sp>
        <p:nvSpPr>
          <p:cNvPr id="8" name="TextBox 8"/>
          <p:cNvSpPr txBox="1"/>
          <p:nvPr/>
        </p:nvSpPr>
        <p:spPr>
          <a:xfrm>
            <a:off x="8762813" y="2243581"/>
            <a:ext cx="8496487" cy="1581150"/>
          </a:xfrm>
          <a:prstGeom prst="rect">
            <a:avLst/>
          </a:prstGeom>
        </p:spPr>
        <p:txBody>
          <a:bodyPr lIns="0" tIns="0" rIns="0" bIns="0" rtlCol="0" anchor="t">
            <a:spAutoFit/>
          </a:bodyPr>
          <a:lstStyle/>
          <a:p>
            <a:pPr algn="ctr">
              <a:lnSpc>
                <a:spcPts val="13050"/>
              </a:lnSpc>
              <a:spcBef>
                <a:spcPct val="0"/>
              </a:spcBef>
            </a:pPr>
            <a:r>
              <a:rPr lang="en-US" sz="9000" b="1">
                <a:solidFill>
                  <a:srgbClr val="000000"/>
                </a:solidFill>
                <a:latin typeface="Noto Sans Bold"/>
                <a:ea typeface="Noto Sans Bold"/>
                <a:cs typeface="Noto Sans Bold"/>
                <a:sym typeface="Noto Sans Bold"/>
              </a:rPr>
              <a:t>THÀNH VIÊN</a:t>
            </a: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7666" r="-14187" b="-17666"/>
            </a:stretch>
          </a:blipFill>
        </p:spPr>
        <p:txBody>
          <a:bodyPr/>
          <a:lstStyle/>
          <a:p>
            <a:endParaRPr lang="en-US"/>
          </a:p>
        </p:txBody>
      </p:sp>
      <p:graphicFrame>
        <p:nvGraphicFramePr>
          <p:cNvPr id="3" name="Table 3"/>
          <p:cNvGraphicFramePr>
            <a:graphicFrameLocks noGrp="1"/>
          </p:cNvGraphicFramePr>
          <p:nvPr/>
        </p:nvGraphicFramePr>
        <p:xfrm>
          <a:off x="1028700" y="1028700"/>
          <a:ext cx="9395535" cy="2389436"/>
        </p:xfrm>
        <a:graphic>
          <a:graphicData uri="http://schemas.openxmlformats.org/drawingml/2006/table">
            <a:tbl>
              <a:tblPr/>
              <a:tblGrid>
                <a:gridCol w="9395535">
                  <a:extLst>
                    <a:ext uri="{9D8B030D-6E8A-4147-A177-3AD203B41FA5}">
                      <a16:colId xmlns:a16="http://schemas.microsoft.com/office/drawing/2014/main" val="20000"/>
                    </a:ext>
                  </a:extLst>
                </a:gridCol>
              </a:tblGrid>
              <a:tr h="2389436">
                <a:tc>
                  <a:txBody>
                    <a:bodyPr/>
                    <a:lstStyle/>
                    <a:p>
                      <a:pPr algn="ctr">
                        <a:lnSpc>
                          <a:spcPts val="9801"/>
                        </a:lnSpc>
                        <a:defRPr/>
                      </a:pPr>
                      <a:r>
                        <a:rPr lang="en-US" sz="7000" b="1" spc="-560">
                          <a:solidFill>
                            <a:srgbClr val="EFEEE8"/>
                          </a:solidFill>
                          <a:latin typeface="Noto Sans Bold"/>
                          <a:ea typeface="Noto Sans Bold"/>
                          <a:cs typeface="Noto Sans Bold"/>
                          <a:sym typeface="Noto Sans Bold"/>
                        </a:rPr>
                        <a:t>THƯƠNG MẠI ĐIỆN TỬ</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4" name="TextBox 4"/>
          <p:cNvSpPr txBox="1"/>
          <p:nvPr/>
        </p:nvSpPr>
        <p:spPr>
          <a:xfrm>
            <a:off x="1028700" y="3830007"/>
            <a:ext cx="9395535" cy="4894701"/>
          </a:xfrm>
          <a:prstGeom prst="rect">
            <a:avLst/>
          </a:prstGeom>
        </p:spPr>
        <p:txBody>
          <a:bodyPr lIns="0" tIns="0" rIns="0" bIns="0" rtlCol="0" anchor="t">
            <a:spAutoFit/>
          </a:bodyPr>
          <a:lstStyle/>
          <a:p>
            <a:pPr algn="l">
              <a:lnSpc>
                <a:spcPts val="3532"/>
              </a:lnSpc>
            </a:pPr>
            <a:r>
              <a:rPr lang="en-US" sz="2436">
                <a:solidFill>
                  <a:srgbClr val="EFEEE8"/>
                </a:solidFill>
                <a:latin typeface="Noto Sans"/>
                <a:ea typeface="Noto Sans"/>
                <a:cs typeface="Noto Sans"/>
                <a:sym typeface="Noto Sans"/>
              </a:rPr>
              <a:t>Trong những năm gần đây, thương mại điện tử đã trở thành một xu hướng tất yếu trong quá trình chuyển đổi số. Các hệ thống phần mềm hiện đại không chỉ cần đáp ứng chức năng mua bán trực tuyến mà còn phải:</a:t>
            </a:r>
          </a:p>
          <a:p>
            <a:pPr marL="525975" lvl="1" indent="-262987" algn="l">
              <a:lnSpc>
                <a:spcPts val="3532"/>
              </a:lnSpc>
              <a:buFont typeface="Arial"/>
              <a:buChar char="•"/>
            </a:pPr>
            <a:r>
              <a:rPr lang="en-US" sz="2436">
                <a:solidFill>
                  <a:srgbClr val="EFEEE8"/>
                </a:solidFill>
                <a:latin typeface="Noto Sans"/>
                <a:ea typeface="Noto Sans"/>
                <a:cs typeface="Noto Sans"/>
                <a:sym typeface="Noto Sans"/>
              </a:rPr>
              <a:t>Linh hoạt và dễ mở rộng</a:t>
            </a:r>
          </a:p>
          <a:p>
            <a:pPr marL="525975" lvl="1" indent="-262987" algn="l">
              <a:lnSpc>
                <a:spcPts val="3532"/>
              </a:lnSpc>
              <a:buFont typeface="Arial"/>
              <a:buChar char="•"/>
            </a:pPr>
            <a:r>
              <a:rPr lang="en-US" sz="2436">
                <a:solidFill>
                  <a:srgbClr val="EFEEE8"/>
                </a:solidFill>
                <a:latin typeface="Noto Sans"/>
                <a:ea typeface="Noto Sans"/>
                <a:cs typeface="Noto Sans"/>
                <a:sym typeface="Noto Sans"/>
              </a:rPr>
              <a:t>Tích hợp được nhiều công nghệ mới</a:t>
            </a:r>
          </a:p>
          <a:p>
            <a:pPr marL="525975" lvl="1" indent="-262987" algn="l">
              <a:lnSpc>
                <a:spcPts val="3532"/>
              </a:lnSpc>
              <a:buFont typeface="Arial"/>
              <a:buChar char="•"/>
            </a:pPr>
            <a:r>
              <a:rPr lang="en-US" sz="2436">
                <a:solidFill>
                  <a:srgbClr val="EFEEE8"/>
                </a:solidFill>
                <a:latin typeface="Noto Sans"/>
                <a:ea typeface="Noto Sans"/>
                <a:cs typeface="Noto Sans"/>
                <a:sym typeface="Noto Sans"/>
              </a:rPr>
              <a:t>Tự động hóa các quy trình nghiệp vụ</a:t>
            </a:r>
          </a:p>
          <a:p>
            <a:pPr algn="l">
              <a:lnSpc>
                <a:spcPts val="3532"/>
              </a:lnSpc>
            </a:pPr>
            <a:r>
              <a:rPr lang="en-US" sz="2436">
                <a:solidFill>
                  <a:srgbClr val="EFEEE8"/>
                </a:solidFill>
                <a:latin typeface="Noto Sans"/>
                <a:ea typeface="Noto Sans"/>
                <a:cs typeface="Noto Sans"/>
                <a:sym typeface="Noto Sans"/>
              </a:rPr>
              <a:t>Sự phát triển của các công cụ tự động hóa quy trình đã góp phần nâng cao hiệu quả vận hành và giảm thiểu công sức lập trình thủ công trong các hệ thống thương mại điện tử.</a:t>
            </a:r>
          </a:p>
          <a:p>
            <a:pPr marL="0" lvl="0" indent="0" algn="l">
              <a:lnSpc>
                <a:spcPts val="3532"/>
              </a:lnSpc>
              <a:spcBef>
                <a:spcPct val="0"/>
              </a:spcBef>
            </a:pPr>
            <a:endParaRPr lang="en-US" sz="2436">
              <a:solidFill>
                <a:srgbClr val="EFEEE8"/>
              </a:solidFill>
              <a:latin typeface="Noto Sans"/>
              <a:ea typeface="Noto Sans"/>
              <a:cs typeface="Noto Sans"/>
              <a:sym typeface="Noto Sans"/>
            </a:endParaRP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7666" r="-14187" b="-17666"/>
            </a:stretch>
          </a:blipFill>
        </p:spPr>
        <p:txBody>
          <a:bodyPr/>
          <a:lstStyle/>
          <a:p>
            <a:endParaRPr lang="en-US"/>
          </a:p>
        </p:txBody>
      </p:sp>
      <p:graphicFrame>
        <p:nvGraphicFramePr>
          <p:cNvPr id="3" name="Table 3"/>
          <p:cNvGraphicFramePr>
            <a:graphicFrameLocks noGrp="1"/>
          </p:cNvGraphicFramePr>
          <p:nvPr/>
        </p:nvGraphicFramePr>
        <p:xfrm>
          <a:off x="1028700" y="1028700"/>
          <a:ext cx="9395535" cy="2389436"/>
        </p:xfrm>
        <a:graphic>
          <a:graphicData uri="http://schemas.openxmlformats.org/drawingml/2006/table">
            <a:tbl>
              <a:tblPr/>
              <a:tblGrid>
                <a:gridCol w="9395535">
                  <a:extLst>
                    <a:ext uri="{9D8B030D-6E8A-4147-A177-3AD203B41FA5}">
                      <a16:colId xmlns:a16="http://schemas.microsoft.com/office/drawing/2014/main" val="20000"/>
                    </a:ext>
                  </a:extLst>
                </a:gridCol>
              </a:tblGrid>
              <a:tr h="2389436">
                <a:tc>
                  <a:txBody>
                    <a:bodyPr/>
                    <a:lstStyle/>
                    <a:p>
                      <a:pPr algn="ctr">
                        <a:lnSpc>
                          <a:spcPts val="9801"/>
                        </a:lnSpc>
                        <a:defRPr/>
                      </a:pPr>
                      <a:r>
                        <a:rPr lang="en-US" sz="7000" b="1" spc="-560">
                          <a:solidFill>
                            <a:srgbClr val="EFEEE8"/>
                          </a:solidFill>
                          <a:latin typeface="Noto Sans Bold"/>
                          <a:ea typeface="Noto Sans Bold"/>
                          <a:cs typeface="Noto Sans Bold"/>
                          <a:sym typeface="Noto Sans Bold"/>
                        </a:rPr>
                        <a:t>THƯƠNG MẠI ĐIỆN TỬ</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4" name="TextBox 4"/>
          <p:cNvSpPr txBox="1"/>
          <p:nvPr/>
        </p:nvSpPr>
        <p:spPr>
          <a:xfrm>
            <a:off x="1028700" y="3830007"/>
            <a:ext cx="9395535" cy="3551676"/>
          </a:xfrm>
          <a:prstGeom prst="rect">
            <a:avLst/>
          </a:prstGeom>
        </p:spPr>
        <p:txBody>
          <a:bodyPr lIns="0" tIns="0" rIns="0" bIns="0" rtlCol="0" anchor="t">
            <a:spAutoFit/>
          </a:bodyPr>
          <a:lstStyle/>
          <a:p>
            <a:pPr algn="l">
              <a:lnSpc>
                <a:spcPts val="3532"/>
              </a:lnSpc>
            </a:pPr>
            <a:r>
              <a:rPr lang="en-US" sz="2436">
                <a:solidFill>
                  <a:srgbClr val="EFEEE8"/>
                </a:solidFill>
                <a:latin typeface="Noto Sans"/>
                <a:ea typeface="Noto Sans"/>
                <a:cs typeface="Noto Sans"/>
                <a:sym typeface="Noto Sans"/>
              </a:rPr>
              <a:t>Xuất phát từ thực tế đó, đồ án:</a:t>
            </a:r>
          </a:p>
          <a:p>
            <a:pPr algn="l">
              <a:lnSpc>
                <a:spcPts val="3532"/>
              </a:lnSpc>
            </a:pPr>
            <a:r>
              <a:rPr lang="en-US" sz="2436">
                <a:solidFill>
                  <a:srgbClr val="EFEEE8"/>
                </a:solidFill>
                <a:latin typeface="Noto Sans"/>
                <a:ea typeface="Noto Sans"/>
                <a:cs typeface="Noto Sans"/>
                <a:sym typeface="Noto Sans"/>
              </a:rPr>
              <a:t>“Website thương mại điện tử tích hợp công nghệ n8n”</a:t>
            </a:r>
          </a:p>
          <a:p>
            <a:pPr algn="l">
              <a:lnSpc>
                <a:spcPts val="3532"/>
              </a:lnSpc>
            </a:pPr>
            <a:r>
              <a:rPr lang="en-US" sz="2436">
                <a:solidFill>
                  <a:srgbClr val="EFEEE8"/>
                </a:solidFill>
                <a:latin typeface="Noto Sans"/>
                <a:ea typeface="Noto Sans"/>
                <a:cs typeface="Noto Sans"/>
                <a:sym typeface="Noto Sans"/>
              </a:rPr>
              <a:t>được xây dựng dựa trên nền tảng mã nguồn mở Saleor, một hệ thống thương mại điện tử hiện đại sử dụng:</a:t>
            </a:r>
          </a:p>
          <a:p>
            <a:pPr marL="525975" lvl="1" indent="-262987" algn="l">
              <a:lnSpc>
                <a:spcPts val="3532"/>
              </a:lnSpc>
              <a:buFont typeface="Arial"/>
              <a:buChar char="•"/>
            </a:pPr>
            <a:r>
              <a:rPr lang="en-US" sz="2436">
                <a:solidFill>
                  <a:srgbClr val="EFEEE8"/>
                </a:solidFill>
                <a:latin typeface="Noto Sans"/>
                <a:ea typeface="Noto Sans"/>
                <a:cs typeface="Noto Sans"/>
                <a:sym typeface="Noto Sans"/>
              </a:rPr>
              <a:t>Kiến trúc Headless Commerce</a:t>
            </a:r>
          </a:p>
          <a:p>
            <a:pPr marL="525975" lvl="1" indent="-262987" algn="l">
              <a:lnSpc>
                <a:spcPts val="3532"/>
              </a:lnSpc>
              <a:buFont typeface="Arial"/>
              <a:buChar char="•"/>
            </a:pPr>
            <a:r>
              <a:rPr lang="en-US" sz="2436">
                <a:solidFill>
                  <a:srgbClr val="EFEEE8"/>
                </a:solidFill>
                <a:latin typeface="Noto Sans"/>
                <a:ea typeface="Noto Sans"/>
                <a:cs typeface="Noto Sans"/>
                <a:sym typeface="Noto Sans"/>
              </a:rPr>
              <a:t>API GraphQL</a:t>
            </a:r>
          </a:p>
          <a:p>
            <a:pPr marL="525975" lvl="1" indent="-262987" algn="l">
              <a:lnSpc>
                <a:spcPts val="3532"/>
              </a:lnSpc>
              <a:buFont typeface="Arial"/>
              <a:buChar char="•"/>
            </a:pPr>
            <a:r>
              <a:rPr lang="en-US" sz="2436">
                <a:solidFill>
                  <a:srgbClr val="EFEEE8"/>
                </a:solidFill>
                <a:latin typeface="Noto Sans"/>
                <a:ea typeface="Noto Sans"/>
                <a:cs typeface="Noto Sans"/>
                <a:sym typeface="Noto Sans"/>
              </a:rPr>
              <a:t>Khả năng tách biệt giữa giao diện và xử lý nghiệp vụ</a:t>
            </a:r>
          </a:p>
          <a:p>
            <a:pPr marL="0" lvl="0" indent="0" algn="l">
              <a:lnSpc>
                <a:spcPts val="3532"/>
              </a:lnSpc>
              <a:spcBef>
                <a:spcPct val="0"/>
              </a:spcBef>
            </a:pPr>
            <a:endParaRPr lang="en-US" sz="2436">
              <a:solidFill>
                <a:srgbClr val="EFEEE8"/>
              </a:solidFill>
              <a:latin typeface="Noto Sans"/>
              <a:ea typeface="Noto Sans"/>
              <a:cs typeface="Noto Sans"/>
              <a:sym typeface="Noto Sans"/>
            </a:endParaRPr>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EDEA"/>
        </a:solidFill>
        <a:effectLst/>
      </p:bgPr>
    </p:bg>
    <p:spTree>
      <p:nvGrpSpPr>
        <p:cNvPr id="1" name=""/>
        <p:cNvGrpSpPr/>
        <p:nvPr/>
      </p:nvGrpSpPr>
      <p:grpSpPr>
        <a:xfrm>
          <a:off x="0" y="0"/>
          <a:ext cx="0" cy="0"/>
          <a:chOff x="0" y="0"/>
          <a:chExt cx="0" cy="0"/>
        </a:xfrm>
      </p:grpSpPr>
      <p:grpSp>
        <p:nvGrpSpPr>
          <p:cNvPr id="2" name="Group 2"/>
          <p:cNvGrpSpPr/>
          <p:nvPr/>
        </p:nvGrpSpPr>
        <p:grpSpPr>
          <a:xfrm>
            <a:off x="11387278" y="1882322"/>
            <a:ext cx="5561464" cy="7189105"/>
            <a:chOff x="0" y="0"/>
            <a:chExt cx="1464748" cy="1893427"/>
          </a:xfrm>
        </p:grpSpPr>
        <p:sp>
          <p:nvSpPr>
            <p:cNvPr id="3" name="Freeform 3"/>
            <p:cNvSpPr/>
            <p:nvPr/>
          </p:nvSpPr>
          <p:spPr>
            <a:xfrm>
              <a:off x="0" y="0"/>
              <a:ext cx="1464748" cy="1893427"/>
            </a:xfrm>
            <a:custGeom>
              <a:avLst/>
              <a:gdLst/>
              <a:ahLst/>
              <a:cxnLst/>
              <a:rect l="l" t="t" r="r" b="b"/>
              <a:pathLst>
                <a:path w="1464748" h="1893427">
                  <a:moveTo>
                    <a:pt x="70995" y="0"/>
                  </a:moveTo>
                  <a:lnTo>
                    <a:pt x="1393753" y="0"/>
                  </a:lnTo>
                  <a:cubicBezTo>
                    <a:pt x="1412582" y="0"/>
                    <a:pt x="1430640" y="7480"/>
                    <a:pt x="1443954" y="20794"/>
                  </a:cubicBezTo>
                  <a:cubicBezTo>
                    <a:pt x="1457268" y="34108"/>
                    <a:pt x="1464748" y="52166"/>
                    <a:pt x="1464748" y="70995"/>
                  </a:cubicBezTo>
                  <a:lnTo>
                    <a:pt x="1464748" y="1822432"/>
                  </a:lnTo>
                  <a:cubicBezTo>
                    <a:pt x="1464748" y="1861641"/>
                    <a:pt x="1432962" y="1893427"/>
                    <a:pt x="1393753" y="1893427"/>
                  </a:cubicBezTo>
                  <a:lnTo>
                    <a:pt x="70995" y="1893427"/>
                  </a:lnTo>
                  <a:cubicBezTo>
                    <a:pt x="31786" y="1893427"/>
                    <a:pt x="0" y="1861641"/>
                    <a:pt x="0" y="1822432"/>
                  </a:cubicBezTo>
                  <a:lnTo>
                    <a:pt x="0" y="70995"/>
                  </a:lnTo>
                  <a:cubicBezTo>
                    <a:pt x="0" y="52166"/>
                    <a:pt x="7480" y="34108"/>
                    <a:pt x="20794" y="20794"/>
                  </a:cubicBezTo>
                  <a:cubicBezTo>
                    <a:pt x="34108" y="7480"/>
                    <a:pt x="52166" y="0"/>
                    <a:pt x="70995" y="0"/>
                  </a:cubicBezTo>
                  <a:close/>
                </a:path>
              </a:pathLst>
            </a:custGeom>
            <a:ln w="19050" cap="rnd">
              <a:solidFill>
                <a:srgbClr val="000000"/>
              </a:solidFill>
              <a:prstDash val="solid"/>
              <a:round/>
            </a:ln>
          </p:spPr>
          <p:txBody>
            <a:bodyPr/>
            <a:lstStyle/>
            <a:p>
              <a:endParaRPr lang="en-US"/>
            </a:p>
          </p:txBody>
        </p:sp>
        <p:sp>
          <p:nvSpPr>
            <p:cNvPr id="4" name="TextBox 4"/>
            <p:cNvSpPr txBox="1"/>
            <p:nvPr/>
          </p:nvSpPr>
          <p:spPr>
            <a:xfrm>
              <a:off x="0" y="-57150"/>
              <a:ext cx="1464748" cy="1950577"/>
            </a:xfrm>
            <a:prstGeom prst="rect">
              <a:avLst/>
            </a:prstGeom>
          </p:spPr>
          <p:txBody>
            <a:bodyPr lIns="50800" tIns="50800" rIns="50800" bIns="50800" rtlCol="0" anchor="ctr"/>
            <a:lstStyle/>
            <a:p>
              <a:pPr algn="ctr">
                <a:lnSpc>
                  <a:spcPts val="3219"/>
                </a:lnSpc>
              </a:pPr>
              <a:endParaRPr/>
            </a:p>
          </p:txBody>
        </p:sp>
      </p:grpSp>
      <p:sp>
        <p:nvSpPr>
          <p:cNvPr id="5" name="Freeform 5"/>
          <p:cNvSpPr/>
          <p:nvPr/>
        </p:nvSpPr>
        <p:spPr>
          <a:xfrm>
            <a:off x="11248170" y="2338045"/>
            <a:ext cx="5839680" cy="6733383"/>
          </a:xfrm>
          <a:custGeom>
            <a:avLst/>
            <a:gdLst/>
            <a:ahLst/>
            <a:cxnLst/>
            <a:rect l="l" t="t" r="r" b="b"/>
            <a:pathLst>
              <a:path w="5839680" h="6733383">
                <a:moveTo>
                  <a:pt x="0" y="0"/>
                </a:moveTo>
                <a:lnTo>
                  <a:pt x="5839680" y="0"/>
                </a:lnTo>
                <a:lnTo>
                  <a:pt x="5839680" y="6733383"/>
                </a:lnTo>
                <a:lnTo>
                  <a:pt x="0" y="67333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6" name="Group 6"/>
          <p:cNvGrpSpPr/>
          <p:nvPr/>
        </p:nvGrpSpPr>
        <p:grpSpPr>
          <a:xfrm>
            <a:off x="16151134" y="1573901"/>
            <a:ext cx="1326859" cy="132685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3219"/>
                </a:lnSpc>
              </a:pPr>
              <a:endParaRPr/>
            </a:p>
          </p:txBody>
        </p:sp>
      </p:grpSp>
      <p:graphicFrame>
        <p:nvGraphicFramePr>
          <p:cNvPr id="9" name="Table 9"/>
          <p:cNvGraphicFramePr>
            <a:graphicFrameLocks noGrp="1"/>
          </p:cNvGraphicFramePr>
          <p:nvPr/>
        </p:nvGraphicFramePr>
        <p:xfrm>
          <a:off x="1028700" y="3000375"/>
          <a:ext cx="8511018" cy="6257923"/>
        </p:xfrm>
        <a:graphic>
          <a:graphicData uri="http://schemas.openxmlformats.org/drawingml/2006/table">
            <a:tbl>
              <a:tblPr/>
              <a:tblGrid>
                <a:gridCol w="1479772">
                  <a:extLst>
                    <a:ext uri="{9D8B030D-6E8A-4147-A177-3AD203B41FA5}">
                      <a16:colId xmlns:a16="http://schemas.microsoft.com/office/drawing/2014/main" val="20000"/>
                    </a:ext>
                  </a:extLst>
                </a:gridCol>
                <a:gridCol w="7031246">
                  <a:extLst>
                    <a:ext uri="{9D8B030D-6E8A-4147-A177-3AD203B41FA5}">
                      <a16:colId xmlns:a16="http://schemas.microsoft.com/office/drawing/2014/main" val="20001"/>
                    </a:ext>
                  </a:extLst>
                </a:gridCol>
              </a:tblGrid>
              <a:tr h="977501">
                <a:tc>
                  <a:txBody>
                    <a:bodyPr/>
                    <a:lstStyle/>
                    <a:p>
                      <a:pPr algn="ctr">
                        <a:lnSpc>
                          <a:spcPts val="3079"/>
                        </a:lnSpc>
                        <a:defRPr/>
                      </a:pPr>
                      <a:r>
                        <a:rPr lang="en-US" sz="2199" b="1">
                          <a:solidFill>
                            <a:srgbClr val="000000"/>
                          </a:solidFill>
                          <a:latin typeface="Poppins Bold"/>
                          <a:ea typeface="Poppins Bold"/>
                          <a:cs typeface="Poppins Bold"/>
                          <a:sym typeface="Poppins Bold"/>
                        </a:rPr>
                        <a:t>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Poppins Bold"/>
                          <a:ea typeface="Poppins Bold"/>
                          <a:cs typeface="Poppins Bold"/>
                          <a:sym typeface="Poppins Bold"/>
                        </a:rPr>
                        <a:t>Tổng quan đề tài</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77501">
                <a:tc>
                  <a:txBody>
                    <a:bodyPr/>
                    <a:lstStyle/>
                    <a:p>
                      <a:pPr algn="ctr">
                        <a:lnSpc>
                          <a:spcPts val="3079"/>
                        </a:lnSpc>
                        <a:defRPr/>
                      </a:pPr>
                      <a:r>
                        <a:rPr lang="en-US" sz="2199" b="1">
                          <a:solidFill>
                            <a:srgbClr val="000000"/>
                          </a:solidFill>
                          <a:latin typeface="Poppins Bold"/>
                          <a:ea typeface="Poppins Bold"/>
                          <a:cs typeface="Poppins Bold"/>
                          <a:sym typeface="Poppins Bold"/>
                        </a:rPr>
                        <a:t>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Poppins Bold"/>
                          <a:ea typeface="Poppins Bold"/>
                          <a:cs typeface="Poppins Bold"/>
                          <a:sym typeface="Poppins Bold"/>
                        </a:rPr>
                        <a:t>Cơ sở lý thuyết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370418">
                <a:tc>
                  <a:txBody>
                    <a:bodyPr/>
                    <a:lstStyle/>
                    <a:p>
                      <a:pPr algn="ctr">
                        <a:lnSpc>
                          <a:spcPts val="3079"/>
                        </a:lnSpc>
                        <a:defRPr/>
                      </a:pPr>
                      <a:r>
                        <a:rPr lang="en-US" sz="2199" b="1">
                          <a:solidFill>
                            <a:srgbClr val="000000"/>
                          </a:solidFill>
                          <a:latin typeface="Poppins Bold"/>
                          <a:ea typeface="Poppins Bold"/>
                          <a:cs typeface="Poppins Bold"/>
                          <a:sym typeface="Poppins Bold"/>
                        </a:rPr>
                        <a:t>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Poppins Bold"/>
                          <a:ea typeface="Poppins Bold"/>
                          <a:cs typeface="Poppins Bold"/>
                          <a:sym typeface="Poppins Bold"/>
                        </a:rPr>
                        <a:t>Phân tích yêu cầu và thiết kế hệ thống e-commerce AI</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77501">
                <a:tc>
                  <a:txBody>
                    <a:bodyPr/>
                    <a:lstStyle/>
                    <a:p>
                      <a:pPr algn="ctr">
                        <a:lnSpc>
                          <a:spcPts val="3079"/>
                        </a:lnSpc>
                        <a:defRPr/>
                      </a:pPr>
                      <a:r>
                        <a:rPr lang="en-US" sz="2199" b="1">
                          <a:solidFill>
                            <a:srgbClr val="000000"/>
                          </a:solidFill>
                          <a:latin typeface="Poppins Bold"/>
                          <a:ea typeface="Poppins Bold"/>
                          <a:cs typeface="Poppins Bold"/>
                          <a:sym typeface="Poppins Bold"/>
                        </a:rPr>
                        <a:t>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Poppins Bold"/>
                          <a:ea typeface="Poppins Bold"/>
                          <a:cs typeface="Poppins Bold"/>
                          <a:sym typeface="Poppins Bold"/>
                        </a:rPr>
                        <a:t>Thiết kế hệ thống microservice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77501">
                <a:tc>
                  <a:txBody>
                    <a:bodyPr/>
                    <a:lstStyle/>
                    <a:p>
                      <a:pPr algn="ctr">
                        <a:lnSpc>
                          <a:spcPts val="3079"/>
                        </a:lnSpc>
                        <a:defRPr/>
                      </a:pPr>
                      <a:r>
                        <a:rPr lang="en-US" sz="2199" b="1">
                          <a:solidFill>
                            <a:srgbClr val="000000"/>
                          </a:solidFill>
                          <a:latin typeface="Poppins Bold"/>
                          <a:ea typeface="Poppins Bold"/>
                          <a:cs typeface="Poppins Bold"/>
                          <a:sym typeface="Poppins Bold"/>
                        </a:rPr>
                        <a:t>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Poppins Bold"/>
                          <a:ea typeface="Poppins Bold"/>
                          <a:cs typeface="Poppins Bold"/>
                          <a:sym typeface="Poppins Bold"/>
                        </a:rPr>
                        <a:t>AI Agent tích hợp vào hệ thống E-commerce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77501">
                <a:tc>
                  <a:txBody>
                    <a:bodyPr/>
                    <a:lstStyle/>
                    <a:p>
                      <a:pPr algn="ctr">
                        <a:lnSpc>
                          <a:spcPts val="3079"/>
                        </a:lnSpc>
                        <a:defRPr/>
                      </a:pPr>
                      <a:r>
                        <a:rPr lang="en-US" sz="2199" b="1">
                          <a:solidFill>
                            <a:srgbClr val="000000"/>
                          </a:solidFill>
                          <a:latin typeface="Poppins Bold"/>
                          <a:ea typeface="Poppins Bold"/>
                          <a:cs typeface="Poppins Bold"/>
                          <a:sym typeface="Poppins Bold"/>
                        </a:rPr>
                        <a:t>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Poppins Bold"/>
                          <a:ea typeface="Poppins Bold"/>
                          <a:cs typeface="Poppins Bold"/>
                          <a:sym typeface="Poppins Bold"/>
                        </a:rPr>
                        <a:t>Tổng kết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TextBox 10"/>
          <p:cNvSpPr txBox="1"/>
          <p:nvPr/>
        </p:nvSpPr>
        <p:spPr>
          <a:xfrm>
            <a:off x="1865726" y="1405665"/>
            <a:ext cx="6836968" cy="1310470"/>
          </a:xfrm>
          <a:prstGeom prst="rect">
            <a:avLst/>
          </a:prstGeom>
        </p:spPr>
        <p:txBody>
          <a:bodyPr lIns="0" tIns="0" rIns="0" bIns="0" rtlCol="0" anchor="t">
            <a:spAutoFit/>
          </a:bodyPr>
          <a:lstStyle/>
          <a:p>
            <a:pPr algn="ctr">
              <a:lnSpc>
                <a:spcPts val="8933"/>
              </a:lnSpc>
            </a:pPr>
            <a:r>
              <a:rPr lang="en-US" sz="9606" b="1" spc="-614">
                <a:solidFill>
                  <a:srgbClr val="000000"/>
                </a:solidFill>
                <a:latin typeface="Poppins Bold"/>
                <a:ea typeface="Poppins Bold"/>
                <a:cs typeface="Poppins Bold"/>
                <a:sym typeface="Poppins Bold"/>
              </a:rPr>
              <a:t>MỤC LỤC</a:t>
            </a: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1028700"/>
          <a:ext cx="11985522" cy="2190750"/>
        </p:xfrm>
        <a:graphic>
          <a:graphicData uri="http://schemas.openxmlformats.org/drawingml/2006/table">
            <a:tbl>
              <a:tblPr/>
              <a:tblGrid>
                <a:gridCol w="11985522">
                  <a:extLst>
                    <a:ext uri="{9D8B030D-6E8A-4147-A177-3AD203B41FA5}">
                      <a16:colId xmlns:a16="http://schemas.microsoft.com/office/drawing/2014/main" val="20000"/>
                    </a:ext>
                  </a:extLst>
                </a:gridCol>
              </a:tblGrid>
              <a:tr h="2190750">
                <a:tc>
                  <a:txBody>
                    <a:bodyPr/>
                    <a:lstStyle/>
                    <a:p>
                      <a:pPr algn="ctr">
                        <a:lnSpc>
                          <a:spcPts val="13720"/>
                        </a:lnSpc>
                        <a:defRPr/>
                      </a:pPr>
                      <a:r>
                        <a:rPr lang="en-US" sz="9800" b="1" spc="-784">
                          <a:solidFill>
                            <a:srgbClr val="383838"/>
                          </a:solidFill>
                          <a:latin typeface="Noto Sans Bold"/>
                          <a:ea typeface="Noto Sans Bold"/>
                          <a:cs typeface="Noto Sans Bold"/>
                          <a:sym typeface="Noto Sans Bold"/>
                        </a:rPr>
                        <a:t>TỔNG QUAN ĐỀ TÀI</a:t>
                      </a:r>
                      <a:endParaRPr lang="en-US" sz="1100"/>
                    </a:p>
                  </a:txBody>
                  <a:tcPr marL="114300" marR="114300" marT="114300" marB="114300">
                    <a:lnL w="9525" cap="flat" cmpd="sng" algn="ctr">
                      <a:solidFill>
                        <a:srgbClr val="EFEEE8"/>
                      </a:solidFill>
                      <a:prstDash val="solid"/>
                      <a:round/>
                      <a:headEnd type="none" w="med" len="med"/>
                      <a:tailEnd type="none" w="med" len="med"/>
                    </a:lnL>
                    <a:lnR w="9525" cap="flat" cmpd="sng" algn="ctr">
                      <a:solidFill>
                        <a:srgbClr val="EFEEE8"/>
                      </a:solidFill>
                      <a:prstDash val="solid"/>
                      <a:round/>
                      <a:headEnd type="none" w="med" len="med"/>
                      <a:tailEnd type="none" w="med" len="med"/>
                    </a:lnR>
                    <a:lnT w="9525" cap="flat" cmpd="sng" algn="ctr">
                      <a:solidFill>
                        <a:srgbClr val="EFEEE8"/>
                      </a:solidFill>
                      <a:prstDash val="solid"/>
                      <a:round/>
                      <a:headEnd type="none" w="med" len="med"/>
                      <a:tailEnd type="none" w="med" len="med"/>
                    </a:lnT>
                    <a:lnB w="9525" cap="flat" cmpd="sng" algn="ctr">
                      <a:solidFill>
                        <a:srgbClr val="EFEEE8"/>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 name="Table 3"/>
          <p:cNvGraphicFramePr>
            <a:graphicFrameLocks noGrp="1"/>
          </p:cNvGraphicFramePr>
          <p:nvPr/>
        </p:nvGraphicFramePr>
        <p:xfrm>
          <a:off x="6049384" y="3577707"/>
          <a:ext cx="11209916" cy="4740261"/>
        </p:xfrm>
        <a:graphic>
          <a:graphicData uri="http://schemas.openxmlformats.org/drawingml/2006/table">
            <a:tbl>
              <a:tblPr/>
              <a:tblGrid>
                <a:gridCol w="2360784">
                  <a:extLst>
                    <a:ext uri="{9D8B030D-6E8A-4147-A177-3AD203B41FA5}">
                      <a16:colId xmlns:a16="http://schemas.microsoft.com/office/drawing/2014/main" val="20000"/>
                    </a:ext>
                  </a:extLst>
                </a:gridCol>
                <a:gridCol w="8849132">
                  <a:extLst>
                    <a:ext uri="{9D8B030D-6E8A-4147-A177-3AD203B41FA5}">
                      <a16:colId xmlns:a16="http://schemas.microsoft.com/office/drawing/2014/main" val="20001"/>
                    </a:ext>
                  </a:extLst>
                </a:gridCol>
              </a:tblGrid>
              <a:tr h="1580087">
                <a:tc>
                  <a:txBody>
                    <a:bodyPr/>
                    <a:lstStyle/>
                    <a:p>
                      <a:pPr algn="l">
                        <a:lnSpc>
                          <a:spcPts val="3780"/>
                        </a:lnSpc>
                        <a:defRPr/>
                      </a:pPr>
                      <a:r>
                        <a:rPr lang="en-US" sz="2700" b="1">
                          <a:solidFill>
                            <a:srgbClr val="383838"/>
                          </a:solidFill>
                          <a:latin typeface="Noto Sans Bold"/>
                          <a:ea typeface="Noto Sans Bold"/>
                          <a:cs typeface="Noto Sans Bold"/>
                          <a:sym typeface="Noto Sans Bold"/>
                        </a:rPr>
                        <a:t>#1</a:t>
                      </a:r>
                      <a:endParaRPr lang="en-US" sz="1100"/>
                    </a:p>
                  </a:txBody>
                  <a:tcPr marL="114300" marR="114300" marT="114300" marB="1143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3779"/>
                        </a:lnSpc>
                        <a:defRPr/>
                      </a:pPr>
                      <a:r>
                        <a:rPr lang="en-US" sz="2699" b="1">
                          <a:solidFill>
                            <a:srgbClr val="000000"/>
                          </a:solidFill>
                          <a:latin typeface="Noto Sans Bold"/>
                          <a:ea typeface="Noto Sans Bold"/>
                          <a:cs typeface="Noto Sans Bold"/>
                          <a:sym typeface="Noto Sans Bold"/>
                        </a:rPr>
                        <a:t>Lý do chọn đề tài</a:t>
                      </a:r>
                      <a:endParaRPr lang="en-US" sz="1100"/>
                    </a:p>
                  </a:txBody>
                  <a:tcPr marL="114300" marR="114300" marT="114300" marB="1143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580087">
                <a:tc>
                  <a:txBody>
                    <a:bodyPr/>
                    <a:lstStyle/>
                    <a:p>
                      <a:pPr algn="l">
                        <a:lnSpc>
                          <a:spcPts val="3780"/>
                        </a:lnSpc>
                        <a:defRPr/>
                      </a:pPr>
                      <a:r>
                        <a:rPr lang="en-US" sz="2700" b="1">
                          <a:solidFill>
                            <a:srgbClr val="383838"/>
                          </a:solidFill>
                          <a:latin typeface="Noto Sans Bold"/>
                          <a:ea typeface="Noto Sans Bold"/>
                          <a:cs typeface="Noto Sans Bold"/>
                          <a:sym typeface="Noto Sans Bold"/>
                        </a:rPr>
                        <a:t>#2</a:t>
                      </a:r>
                      <a:endParaRPr lang="en-US" sz="1100"/>
                    </a:p>
                  </a:txBody>
                  <a:tcPr marL="114300" marR="114300" marT="114300" marB="1143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3780"/>
                        </a:lnSpc>
                        <a:defRPr/>
                      </a:pPr>
                      <a:r>
                        <a:rPr lang="en-US" sz="2700" b="1">
                          <a:solidFill>
                            <a:srgbClr val="383838"/>
                          </a:solidFill>
                          <a:latin typeface="Noto Sans Bold"/>
                          <a:ea typeface="Noto Sans Bold"/>
                          <a:cs typeface="Noto Sans Bold"/>
                          <a:sym typeface="Noto Sans Bold"/>
                        </a:rPr>
                        <a:t>Mục tiêu của đề tài</a:t>
                      </a:r>
                      <a:endParaRPr lang="en-US" sz="1100"/>
                    </a:p>
                  </a:txBody>
                  <a:tcPr marL="114300" marR="114300" marT="114300" marB="1143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80087">
                <a:tc>
                  <a:txBody>
                    <a:bodyPr/>
                    <a:lstStyle/>
                    <a:p>
                      <a:pPr algn="l">
                        <a:lnSpc>
                          <a:spcPts val="3780"/>
                        </a:lnSpc>
                        <a:defRPr/>
                      </a:pPr>
                      <a:r>
                        <a:rPr lang="en-US" sz="2700" b="1">
                          <a:solidFill>
                            <a:srgbClr val="383838"/>
                          </a:solidFill>
                          <a:latin typeface="Noto Sans Bold"/>
                          <a:ea typeface="Noto Sans Bold"/>
                          <a:cs typeface="Noto Sans Bold"/>
                          <a:sym typeface="Noto Sans Bold"/>
                        </a:rPr>
                        <a:t>#3</a:t>
                      </a:r>
                      <a:endParaRPr lang="en-US" sz="1100"/>
                    </a:p>
                  </a:txBody>
                  <a:tcPr marL="114300" marR="114300" marT="114300" marB="1143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3780"/>
                        </a:lnSpc>
                        <a:defRPr/>
                      </a:pPr>
                      <a:r>
                        <a:rPr lang="en-US" sz="2700" b="1">
                          <a:solidFill>
                            <a:srgbClr val="383838"/>
                          </a:solidFill>
                          <a:latin typeface="Noto Sans Bold"/>
                          <a:ea typeface="Noto Sans Bold"/>
                          <a:cs typeface="Noto Sans Bold"/>
                          <a:sym typeface="Noto Sans Bold"/>
                        </a:rPr>
                        <a:t>Cầu hỏi nghiên cứu</a:t>
                      </a:r>
                      <a:endParaRPr lang="en-US" sz="1100"/>
                    </a:p>
                  </a:txBody>
                  <a:tcPr marL="114300" marR="114300" marT="114300" marB="1143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AutoShape 2"/>
          <p:cNvSpPr/>
          <p:nvPr/>
        </p:nvSpPr>
        <p:spPr>
          <a:xfrm>
            <a:off x="1105872" y="4576373"/>
            <a:ext cx="15713676" cy="0"/>
          </a:xfrm>
          <a:prstGeom prst="line">
            <a:avLst/>
          </a:prstGeom>
          <a:ln w="85725" cap="flat">
            <a:solidFill>
              <a:srgbClr val="383838"/>
            </a:solidFill>
            <a:prstDash val="solid"/>
            <a:headEnd type="none" w="sm" len="sm"/>
            <a:tailEnd type="arrow" w="med" len="sm"/>
          </a:ln>
        </p:spPr>
        <p:txBody>
          <a:bodyPr/>
          <a:lstStyle/>
          <a:p>
            <a:endParaRPr lang="en-US"/>
          </a:p>
        </p:txBody>
      </p:sp>
      <p:graphicFrame>
        <p:nvGraphicFramePr>
          <p:cNvPr id="3" name="Table 3"/>
          <p:cNvGraphicFramePr>
            <a:graphicFrameLocks noGrp="1"/>
          </p:cNvGraphicFramePr>
          <p:nvPr/>
        </p:nvGraphicFramePr>
        <p:xfrm>
          <a:off x="3498331" y="1028700"/>
          <a:ext cx="10994164" cy="2389436"/>
        </p:xfrm>
        <a:graphic>
          <a:graphicData uri="http://schemas.openxmlformats.org/drawingml/2006/table">
            <a:tbl>
              <a:tblPr/>
              <a:tblGrid>
                <a:gridCol w="10994164">
                  <a:extLst>
                    <a:ext uri="{9D8B030D-6E8A-4147-A177-3AD203B41FA5}">
                      <a16:colId xmlns:a16="http://schemas.microsoft.com/office/drawing/2014/main" val="20000"/>
                    </a:ext>
                  </a:extLst>
                </a:gridCol>
              </a:tblGrid>
              <a:tr h="2389436">
                <a:tc>
                  <a:txBody>
                    <a:bodyPr/>
                    <a:lstStyle/>
                    <a:p>
                      <a:pPr algn="ctr">
                        <a:lnSpc>
                          <a:spcPts val="13439"/>
                        </a:lnSpc>
                        <a:defRPr/>
                      </a:pPr>
                      <a:r>
                        <a:rPr lang="en-US" sz="9600" b="1" spc="-768">
                          <a:solidFill>
                            <a:srgbClr val="383838"/>
                          </a:solidFill>
                          <a:latin typeface="Noto Sans Bold"/>
                          <a:ea typeface="Noto Sans Bold"/>
                          <a:cs typeface="Noto Sans Bold"/>
                          <a:sym typeface="Noto Sans Bold"/>
                        </a:rPr>
                        <a:t>LÝ DO CHỌN ĐỀ TÀI</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pSp>
        <p:nvGrpSpPr>
          <p:cNvPr id="4" name="Group 4"/>
          <p:cNvGrpSpPr/>
          <p:nvPr/>
        </p:nvGrpSpPr>
        <p:grpSpPr>
          <a:xfrm>
            <a:off x="1105872" y="4427786"/>
            <a:ext cx="3566748" cy="5223288"/>
            <a:chOff x="0" y="0"/>
            <a:chExt cx="4755664" cy="6964384"/>
          </a:xfrm>
        </p:grpSpPr>
        <p:grpSp>
          <p:nvGrpSpPr>
            <p:cNvPr id="5" name="Group 5"/>
            <p:cNvGrpSpPr/>
            <p:nvPr/>
          </p:nvGrpSpPr>
          <p:grpSpPr>
            <a:xfrm>
              <a:off x="0" y="0"/>
              <a:ext cx="396231" cy="39623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21"/>
                  </a:lnSpc>
                </a:pPr>
                <a:endParaRPr/>
              </a:p>
            </p:txBody>
          </p:sp>
        </p:grpSp>
        <p:sp>
          <p:nvSpPr>
            <p:cNvPr id="8" name="TextBox 8"/>
            <p:cNvSpPr txBox="1"/>
            <p:nvPr/>
          </p:nvSpPr>
          <p:spPr>
            <a:xfrm>
              <a:off x="0" y="768731"/>
              <a:ext cx="4755664"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nhất</a:t>
              </a:r>
            </a:p>
          </p:txBody>
        </p:sp>
        <p:sp>
          <p:nvSpPr>
            <p:cNvPr id="9" name="TextBox 9"/>
            <p:cNvSpPr txBox="1"/>
            <p:nvPr/>
          </p:nvSpPr>
          <p:spPr>
            <a:xfrm>
              <a:off x="0" y="1683301"/>
              <a:ext cx="4755664" cy="5281083"/>
            </a:xfrm>
            <a:prstGeom prst="rect">
              <a:avLst/>
            </a:prstGeom>
          </p:spPr>
          <p:txBody>
            <a:bodyPr lIns="0" tIns="0" rIns="0" bIns="0" rtlCol="0" anchor="t">
              <a:spAutoFit/>
            </a:bodyPr>
            <a:lstStyle/>
            <a:p>
              <a:pPr algn="just">
                <a:lnSpc>
                  <a:spcPts val="2900"/>
                </a:lnSpc>
              </a:pPr>
              <a:r>
                <a:rPr lang="en-US" sz="2000" b="1">
                  <a:solidFill>
                    <a:srgbClr val="383838"/>
                  </a:solidFill>
                  <a:latin typeface="Noto Sans Bold"/>
                  <a:ea typeface="Noto Sans Bold"/>
                  <a:cs typeface="Noto Sans Bold"/>
                  <a:sym typeface="Noto Sans Bold"/>
                </a:rPr>
                <a:t>Nhu cầu thực tiễn:</a:t>
              </a:r>
            </a:p>
            <a:p>
              <a:pPr marL="0" lvl="0" indent="0" algn="just">
                <a:lnSpc>
                  <a:spcPts val="2900"/>
                </a:lnSpc>
                <a:spcBef>
                  <a:spcPct val="0"/>
                </a:spcBef>
              </a:pPr>
              <a:r>
                <a:rPr lang="en-US" sz="2000">
                  <a:solidFill>
                    <a:srgbClr val="383838"/>
                  </a:solidFill>
                  <a:latin typeface="Noto Sans"/>
                  <a:ea typeface="Noto Sans"/>
                  <a:cs typeface="Noto Sans"/>
                  <a:sym typeface="Noto Sans"/>
                </a:rPr>
                <a:t>Nhu cầu cá nhân hóa trải nghiệm người dùng trong thương mại điện tử ngày càng tăng. Việc ứng dụng trí tuệ nhân tạo (AI) giúp hệ thống phân tích hành vi khách hàng và đưa ra các đề xuất sản phẩm phù hợp, từ đó nâng cao trải nghiệm mua sắm và hiệu quả kinh doanh.</a:t>
              </a:r>
            </a:p>
          </p:txBody>
        </p:sp>
      </p:grpSp>
      <p:grpSp>
        <p:nvGrpSpPr>
          <p:cNvPr id="10" name="Group 10"/>
          <p:cNvGrpSpPr/>
          <p:nvPr/>
        </p:nvGrpSpPr>
        <p:grpSpPr>
          <a:xfrm>
            <a:off x="5270078" y="4427786"/>
            <a:ext cx="3279081" cy="5223288"/>
            <a:chOff x="0" y="0"/>
            <a:chExt cx="4372109" cy="6964384"/>
          </a:xfrm>
        </p:grpSpPr>
        <p:grpSp>
          <p:nvGrpSpPr>
            <p:cNvPr id="11" name="Group 11"/>
            <p:cNvGrpSpPr/>
            <p:nvPr/>
          </p:nvGrpSpPr>
          <p:grpSpPr>
            <a:xfrm>
              <a:off x="102896" y="0"/>
              <a:ext cx="396231" cy="39623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21"/>
                  </a:lnSpc>
                </a:pPr>
                <a:endParaRPr/>
              </a:p>
            </p:txBody>
          </p:sp>
        </p:grpSp>
        <p:sp>
          <p:nvSpPr>
            <p:cNvPr id="14" name="TextBox 14"/>
            <p:cNvSpPr txBox="1"/>
            <p:nvPr/>
          </p:nvSpPr>
          <p:spPr>
            <a:xfrm>
              <a:off x="0" y="768731"/>
              <a:ext cx="4372109"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hai</a:t>
              </a:r>
            </a:p>
          </p:txBody>
        </p:sp>
        <p:sp>
          <p:nvSpPr>
            <p:cNvPr id="15" name="TextBox 15"/>
            <p:cNvSpPr txBox="1"/>
            <p:nvPr/>
          </p:nvSpPr>
          <p:spPr>
            <a:xfrm>
              <a:off x="0" y="1683301"/>
              <a:ext cx="4372109" cy="5281083"/>
            </a:xfrm>
            <a:prstGeom prst="rect">
              <a:avLst/>
            </a:prstGeom>
          </p:spPr>
          <p:txBody>
            <a:bodyPr lIns="0" tIns="0" rIns="0" bIns="0" rtlCol="0" anchor="t">
              <a:spAutoFit/>
            </a:bodyPr>
            <a:lstStyle/>
            <a:p>
              <a:pPr algn="just">
                <a:lnSpc>
                  <a:spcPts val="2900"/>
                </a:lnSpc>
              </a:pPr>
              <a:r>
                <a:rPr lang="en-US" sz="2000" b="1">
                  <a:solidFill>
                    <a:srgbClr val="383838"/>
                  </a:solidFill>
                  <a:latin typeface="Noto Sans Bold"/>
                  <a:ea typeface="Noto Sans Bold"/>
                  <a:cs typeface="Noto Sans Bold"/>
                  <a:sym typeface="Noto Sans Bold"/>
                </a:rPr>
                <a:t>Xu hướng công nghiệp 4.0:</a:t>
              </a:r>
            </a:p>
            <a:p>
              <a:pPr marL="0" lvl="0" indent="0" algn="just">
                <a:lnSpc>
                  <a:spcPts val="2900"/>
                </a:lnSpc>
                <a:spcBef>
                  <a:spcPct val="0"/>
                </a:spcBef>
              </a:pPr>
              <a:r>
                <a:rPr lang="en-US" sz="2000">
                  <a:solidFill>
                    <a:srgbClr val="383838"/>
                  </a:solidFill>
                  <a:latin typeface="Noto Sans"/>
                  <a:ea typeface="Noto Sans"/>
                  <a:cs typeface="Noto Sans"/>
                  <a:sym typeface="Noto Sans"/>
                </a:rPr>
                <a:t>Việc nghiên cứu và ứng dụng AI giúp doanh nghiệp bắt kịp xu hướng công nghệ hiện đại, đồng thời hỗ trợ dự báo nhu cầu thị trường, tối ưu hóa quản lý hàng tồn kho và xây dựng hệ thống thương mại điện tử thông minh.</a:t>
              </a:r>
            </a:p>
          </p:txBody>
        </p:sp>
      </p:grpSp>
      <p:grpSp>
        <p:nvGrpSpPr>
          <p:cNvPr id="16" name="Group 16"/>
          <p:cNvGrpSpPr/>
          <p:nvPr/>
        </p:nvGrpSpPr>
        <p:grpSpPr>
          <a:xfrm>
            <a:off x="13342431" y="4427786"/>
            <a:ext cx="2826657" cy="5110376"/>
            <a:chOff x="0" y="0"/>
            <a:chExt cx="3768876" cy="6813834"/>
          </a:xfrm>
        </p:grpSpPr>
        <p:sp>
          <p:nvSpPr>
            <p:cNvPr id="17" name="TextBox 17"/>
            <p:cNvSpPr txBox="1"/>
            <p:nvPr/>
          </p:nvSpPr>
          <p:spPr>
            <a:xfrm>
              <a:off x="86323" y="1532751"/>
              <a:ext cx="3659941" cy="5281083"/>
            </a:xfrm>
            <a:prstGeom prst="rect">
              <a:avLst/>
            </a:prstGeom>
          </p:spPr>
          <p:txBody>
            <a:bodyPr lIns="0" tIns="0" rIns="0" bIns="0" rtlCol="0" anchor="t">
              <a:spAutoFit/>
            </a:bodyPr>
            <a:lstStyle/>
            <a:p>
              <a:pPr algn="just">
                <a:lnSpc>
                  <a:spcPts val="2900"/>
                </a:lnSpc>
              </a:pPr>
              <a:r>
                <a:rPr lang="en-US" sz="2000" b="1">
                  <a:solidFill>
                    <a:srgbClr val="383838"/>
                  </a:solidFill>
                  <a:latin typeface="Noto Sans Bold"/>
                  <a:ea typeface="Noto Sans Bold"/>
                  <a:cs typeface="Noto Sans Bold"/>
                  <a:sym typeface="Noto Sans Bold"/>
                </a:rPr>
                <a:t>Giải pháp Agentic AI:</a:t>
              </a:r>
            </a:p>
            <a:p>
              <a:pPr marL="0" lvl="0" indent="0" algn="just">
                <a:lnSpc>
                  <a:spcPts val="2900"/>
                </a:lnSpc>
                <a:spcBef>
                  <a:spcPct val="0"/>
                </a:spcBef>
              </a:pPr>
              <a:r>
                <a:rPr lang="en-US" sz="2000">
                  <a:solidFill>
                    <a:srgbClr val="383838"/>
                  </a:solidFill>
                  <a:latin typeface="Noto Sans"/>
                  <a:ea typeface="Noto Sans"/>
                  <a:cs typeface="Noto Sans"/>
                  <a:sym typeface="Noto Sans"/>
                </a:rPr>
                <a:t>AI góp phần tối ưu hóa quy trình vận hành và chăm sóc khách hàng thông qua các công nghệ như chatbot hỗ trợ 24/7, giúp giảm công việc thủ công, hạn chế sai sót và nâng cao chất lượng dịch vụ.</a:t>
              </a:r>
            </a:p>
          </p:txBody>
        </p:sp>
        <p:grpSp>
          <p:nvGrpSpPr>
            <p:cNvPr id="18" name="Group 18"/>
            <p:cNvGrpSpPr/>
            <p:nvPr/>
          </p:nvGrpSpPr>
          <p:grpSpPr>
            <a:xfrm>
              <a:off x="0" y="0"/>
              <a:ext cx="396231" cy="39623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21"/>
                  </a:lnSpc>
                </a:pPr>
                <a:endParaRPr/>
              </a:p>
            </p:txBody>
          </p:sp>
        </p:grpSp>
        <p:sp>
          <p:nvSpPr>
            <p:cNvPr id="21" name="TextBox 21"/>
            <p:cNvSpPr txBox="1"/>
            <p:nvPr/>
          </p:nvSpPr>
          <p:spPr>
            <a:xfrm>
              <a:off x="63711" y="768731"/>
              <a:ext cx="3705165"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tư</a:t>
              </a:r>
            </a:p>
          </p:txBody>
        </p:sp>
      </p:grpSp>
      <p:grpSp>
        <p:nvGrpSpPr>
          <p:cNvPr id="22" name="Group 22"/>
          <p:cNvGrpSpPr/>
          <p:nvPr/>
        </p:nvGrpSpPr>
        <p:grpSpPr>
          <a:xfrm>
            <a:off x="9146617" y="4427786"/>
            <a:ext cx="3598356" cy="5223288"/>
            <a:chOff x="0" y="0"/>
            <a:chExt cx="4797808" cy="6964384"/>
          </a:xfrm>
        </p:grpSpPr>
        <p:grpSp>
          <p:nvGrpSpPr>
            <p:cNvPr id="23" name="Group 23"/>
            <p:cNvGrpSpPr/>
            <p:nvPr/>
          </p:nvGrpSpPr>
          <p:grpSpPr>
            <a:xfrm>
              <a:off x="0" y="0"/>
              <a:ext cx="396231" cy="396231"/>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21"/>
                  </a:lnSpc>
                </a:pPr>
                <a:endParaRPr/>
              </a:p>
            </p:txBody>
          </p:sp>
        </p:grpSp>
        <p:sp>
          <p:nvSpPr>
            <p:cNvPr id="26" name="TextBox 26"/>
            <p:cNvSpPr txBox="1"/>
            <p:nvPr/>
          </p:nvSpPr>
          <p:spPr>
            <a:xfrm>
              <a:off x="63711" y="768731"/>
              <a:ext cx="4734097"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ba</a:t>
              </a:r>
            </a:p>
          </p:txBody>
        </p:sp>
        <p:sp>
          <p:nvSpPr>
            <p:cNvPr id="27" name="TextBox 27"/>
            <p:cNvSpPr txBox="1"/>
            <p:nvPr/>
          </p:nvSpPr>
          <p:spPr>
            <a:xfrm>
              <a:off x="0" y="1683301"/>
              <a:ext cx="4797808" cy="5281083"/>
            </a:xfrm>
            <a:prstGeom prst="rect">
              <a:avLst/>
            </a:prstGeom>
          </p:spPr>
          <p:txBody>
            <a:bodyPr lIns="0" tIns="0" rIns="0" bIns="0" rtlCol="0" anchor="t">
              <a:spAutoFit/>
            </a:bodyPr>
            <a:lstStyle/>
            <a:p>
              <a:pPr algn="just">
                <a:lnSpc>
                  <a:spcPts val="2900"/>
                </a:lnSpc>
              </a:pPr>
              <a:r>
                <a:rPr lang="en-US" sz="2000" b="1">
                  <a:solidFill>
                    <a:srgbClr val="383838"/>
                  </a:solidFill>
                  <a:latin typeface="Noto Sans Bold"/>
                  <a:ea typeface="Noto Sans Bold"/>
                  <a:cs typeface="Noto Sans Bold"/>
                  <a:sym typeface="Noto Sans Bold"/>
                </a:rPr>
                <a:t>Giải quyết các bài toán thực tiễn của doanh nghiệp: </a:t>
              </a:r>
            </a:p>
            <a:p>
              <a:pPr marL="0" lvl="0" indent="0" algn="just">
                <a:lnSpc>
                  <a:spcPts val="2900"/>
                </a:lnSpc>
                <a:spcBef>
                  <a:spcPct val="0"/>
                </a:spcBef>
              </a:pPr>
              <a:r>
                <a:rPr lang="en-US" sz="2000">
                  <a:solidFill>
                    <a:srgbClr val="383838"/>
                  </a:solidFill>
                  <a:latin typeface="Noto Sans"/>
                  <a:ea typeface="Noto Sans"/>
                  <a:cs typeface="Noto Sans"/>
                  <a:sym typeface="Noto Sans"/>
                </a:rPr>
                <a:t>Đề tài không chỉ dừng lại ở việc xây dựng một website bán hàng thông thường, mà còn tập trung giải quyết các bài toán quản trị như: Báo cáo tài chính, báo cáo tồn kho, quản lý nhân sự, quản lý xuất nhập, Quản lý đơn hàng, … .</a:t>
              </a:r>
            </a:p>
          </p:txBody>
        </p:sp>
      </p:gr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AutoShape 2"/>
          <p:cNvSpPr/>
          <p:nvPr/>
        </p:nvSpPr>
        <p:spPr>
          <a:xfrm>
            <a:off x="1105872" y="4576373"/>
            <a:ext cx="15713676" cy="0"/>
          </a:xfrm>
          <a:prstGeom prst="line">
            <a:avLst/>
          </a:prstGeom>
          <a:ln w="85725" cap="flat">
            <a:solidFill>
              <a:srgbClr val="383838"/>
            </a:solidFill>
            <a:prstDash val="solid"/>
            <a:headEnd type="none" w="sm" len="sm"/>
            <a:tailEnd type="arrow" w="med" len="sm"/>
          </a:ln>
        </p:spPr>
        <p:txBody>
          <a:bodyPr/>
          <a:lstStyle/>
          <a:p>
            <a:endParaRPr lang="en-US"/>
          </a:p>
        </p:txBody>
      </p:sp>
      <p:graphicFrame>
        <p:nvGraphicFramePr>
          <p:cNvPr id="3" name="Table 3"/>
          <p:cNvGraphicFramePr>
            <a:graphicFrameLocks noGrp="1"/>
          </p:cNvGraphicFramePr>
          <p:nvPr/>
        </p:nvGraphicFramePr>
        <p:xfrm>
          <a:off x="3498331" y="1028700"/>
          <a:ext cx="10994164" cy="2389436"/>
        </p:xfrm>
        <a:graphic>
          <a:graphicData uri="http://schemas.openxmlformats.org/drawingml/2006/table">
            <a:tbl>
              <a:tblPr/>
              <a:tblGrid>
                <a:gridCol w="10994164">
                  <a:extLst>
                    <a:ext uri="{9D8B030D-6E8A-4147-A177-3AD203B41FA5}">
                      <a16:colId xmlns:a16="http://schemas.microsoft.com/office/drawing/2014/main" val="20000"/>
                    </a:ext>
                  </a:extLst>
                </a:gridCol>
              </a:tblGrid>
              <a:tr h="2389436">
                <a:tc>
                  <a:txBody>
                    <a:bodyPr/>
                    <a:lstStyle/>
                    <a:p>
                      <a:pPr algn="ctr">
                        <a:lnSpc>
                          <a:spcPts val="13439"/>
                        </a:lnSpc>
                        <a:defRPr/>
                      </a:pPr>
                      <a:r>
                        <a:rPr lang="en-US" sz="9600" b="1" spc="-768">
                          <a:solidFill>
                            <a:srgbClr val="383838"/>
                          </a:solidFill>
                          <a:latin typeface="Noto Sans Bold"/>
                          <a:ea typeface="Noto Sans Bold"/>
                          <a:cs typeface="Noto Sans Bold"/>
                          <a:sym typeface="Noto Sans Bold"/>
                        </a:rPr>
                        <a:t>MỤC TIÊU</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pSp>
        <p:nvGrpSpPr>
          <p:cNvPr id="4" name="Group 4"/>
          <p:cNvGrpSpPr/>
          <p:nvPr/>
        </p:nvGrpSpPr>
        <p:grpSpPr>
          <a:xfrm>
            <a:off x="1105872" y="4427786"/>
            <a:ext cx="3827973" cy="3775488"/>
            <a:chOff x="0" y="0"/>
            <a:chExt cx="5103964" cy="5033984"/>
          </a:xfrm>
        </p:grpSpPr>
        <p:grpSp>
          <p:nvGrpSpPr>
            <p:cNvPr id="5" name="Group 5"/>
            <p:cNvGrpSpPr/>
            <p:nvPr/>
          </p:nvGrpSpPr>
          <p:grpSpPr>
            <a:xfrm>
              <a:off x="0" y="0"/>
              <a:ext cx="396231" cy="39623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21"/>
                  </a:lnSpc>
                </a:pPr>
                <a:endParaRPr/>
              </a:p>
            </p:txBody>
          </p:sp>
        </p:grpSp>
        <p:sp>
          <p:nvSpPr>
            <p:cNvPr id="8" name="TextBox 8"/>
            <p:cNvSpPr txBox="1"/>
            <p:nvPr/>
          </p:nvSpPr>
          <p:spPr>
            <a:xfrm>
              <a:off x="0" y="768731"/>
              <a:ext cx="2824063"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nhất</a:t>
              </a:r>
            </a:p>
          </p:txBody>
        </p:sp>
        <p:sp>
          <p:nvSpPr>
            <p:cNvPr id="9" name="TextBox 9"/>
            <p:cNvSpPr txBox="1"/>
            <p:nvPr/>
          </p:nvSpPr>
          <p:spPr>
            <a:xfrm>
              <a:off x="0" y="1683301"/>
              <a:ext cx="5103964" cy="3350683"/>
            </a:xfrm>
            <a:prstGeom prst="rect">
              <a:avLst/>
            </a:prstGeom>
          </p:spPr>
          <p:txBody>
            <a:bodyPr lIns="0" tIns="0" rIns="0" bIns="0" rtlCol="0" anchor="t">
              <a:spAutoFit/>
            </a:bodyPr>
            <a:lstStyle/>
            <a:p>
              <a:pPr marL="0" lvl="0" indent="0" algn="just">
                <a:lnSpc>
                  <a:spcPts val="2900"/>
                </a:lnSpc>
                <a:spcBef>
                  <a:spcPct val="0"/>
                </a:spcBef>
              </a:pPr>
              <a:r>
                <a:rPr lang="en-US" sz="2000">
                  <a:solidFill>
                    <a:srgbClr val="383838"/>
                  </a:solidFill>
                  <a:latin typeface="Noto Sans"/>
                  <a:ea typeface="Noto Sans"/>
                  <a:cs typeface="Noto Sans"/>
                  <a:sym typeface="Noto Sans"/>
                </a:rPr>
                <a:t>Xây dựng hệ thống thương mại điện tử hoàn chỉnh dựa trên kiến trúc microservices, đảm bảo hệ thống có đầy đủ các chức năng cơ bản của một website bán hàng và có khả năng mở rộng linh hoạt</a:t>
              </a:r>
            </a:p>
          </p:txBody>
        </p:sp>
      </p:grpSp>
      <p:grpSp>
        <p:nvGrpSpPr>
          <p:cNvPr id="10" name="Group 10"/>
          <p:cNvGrpSpPr/>
          <p:nvPr/>
        </p:nvGrpSpPr>
        <p:grpSpPr>
          <a:xfrm>
            <a:off x="6914327" y="4427786"/>
            <a:ext cx="4288200" cy="3775488"/>
            <a:chOff x="0" y="0"/>
            <a:chExt cx="5717601" cy="5033984"/>
          </a:xfrm>
        </p:grpSpPr>
        <p:grpSp>
          <p:nvGrpSpPr>
            <p:cNvPr id="11" name="Group 11"/>
            <p:cNvGrpSpPr/>
            <p:nvPr/>
          </p:nvGrpSpPr>
          <p:grpSpPr>
            <a:xfrm>
              <a:off x="102896" y="0"/>
              <a:ext cx="396231" cy="39623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21"/>
                  </a:lnSpc>
                </a:pPr>
                <a:endParaRPr/>
              </a:p>
            </p:txBody>
          </p:sp>
        </p:grpSp>
        <p:sp>
          <p:nvSpPr>
            <p:cNvPr id="14" name="TextBox 14"/>
            <p:cNvSpPr txBox="1"/>
            <p:nvPr/>
          </p:nvSpPr>
          <p:spPr>
            <a:xfrm>
              <a:off x="0" y="768731"/>
              <a:ext cx="2267451"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hai</a:t>
              </a:r>
            </a:p>
          </p:txBody>
        </p:sp>
        <p:sp>
          <p:nvSpPr>
            <p:cNvPr id="15" name="TextBox 15"/>
            <p:cNvSpPr txBox="1"/>
            <p:nvPr/>
          </p:nvSpPr>
          <p:spPr>
            <a:xfrm>
              <a:off x="37837" y="1683301"/>
              <a:ext cx="5679764" cy="3350683"/>
            </a:xfrm>
            <a:prstGeom prst="rect">
              <a:avLst/>
            </a:prstGeom>
          </p:spPr>
          <p:txBody>
            <a:bodyPr lIns="0" tIns="0" rIns="0" bIns="0" rtlCol="0" anchor="t">
              <a:spAutoFit/>
            </a:bodyPr>
            <a:lstStyle/>
            <a:p>
              <a:pPr marL="0" lvl="0" indent="0" algn="just">
                <a:lnSpc>
                  <a:spcPts val="2900"/>
                </a:lnSpc>
                <a:spcBef>
                  <a:spcPct val="0"/>
                </a:spcBef>
              </a:pPr>
              <a:r>
                <a:rPr lang="en-US" sz="2000">
                  <a:solidFill>
                    <a:srgbClr val="383838"/>
                  </a:solidFill>
                  <a:latin typeface="Noto Sans"/>
                  <a:ea typeface="Noto Sans"/>
                  <a:cs typeface="Noto Sans"/>
                  <a:sym typeface="Noto Sans"/>
                </a:rPr>
                <a:t>Ứng dụng các công nghệ trí tuệ nhân tạo hiện đại như trợ lý ảo (NLP/LLM), học máy (Machine Learning) và thị giác máy tính (Computer Vision) nhằm hỗ trợ tư vấn tự động, cá nhân hóa gợi ý sản phẩm và tìm kiếm thông minh</a:t>
              </a:r>
            </a:p>
          </p:txBody>
        </p:sp>
      </p:grpSp>
      <p:grpSp>
        <p:nvGrpSpPr>
          <p:cNvPr id="16" name="Group 16"/>
          <p:cNvGrpSpPr/>
          <p:nvPr/>
        </p:nvGrpSpPr>
        <p:grpSpPr>
          <a:xfrm>
            <a:off x="13008859" y="4433498"/>
            <a:ext cx="3380669" cy="3775488"/>
            <a:chOff x="0" y="0"/>
            <a:chExt cx="4507558" cy="5033984"/>
          </a:xfrm>
        </p:grpSpPr>
        <p:grpSp>
          <p:nvGrpSpPr>
            <p:cNvPr id="17" name="Group 17"/>
            <p:cNvGrpSpPr/>
            <p:nvPr/>
          </p:nvGrpSpPr>
          <p:grpSpPr>
            <a:xfrm>
              <a:off x="0" y="0"/>
              <a:ext cx="396231" cy="39623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21"/>
                  </a:lnSpc>
                </a:pPr>
                <a:endParaRPr/>
              </a:p>
            </p:txBody>
          </p:sp>
        </p:grpSp>
        <p:sp>
          <p:nvSpPr>
            <p:cNvPr id="20" name="TextBox 20"/>
            <p:cNvSpPr txBox="1"/>
            <p:nvPr/>
          </p:nvSpPr>
          <p:spPr>
            <a:xfrm>
              <a:off x="63711" y="768731"/>
              <a:ext cx="3705165"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ba</a:t>
              </a:r>
            </a:p>
          </p:txBody>
        </p:sp>
        <p:sp>
          <p:nvSpPr>
            <p:cNvPr id="21" name="TextBox 21"/>
            <p:cNvSpPr txBox="1"/>
            <p:nvPr/>
          </p:nvSpPr>
          <p:spPr>
            <a:xfrm>
              <a:off x="0" y="1683301"/>
              <a:ext cx="4507558" cy="3350683"/>
            </a:xfrm>
            <a:prstGeom prst="rect">
              <a:avLst/>
            </a:prstGeom>
          </p:spPr>
          <p:txBody>
            <a:bodyPr lIns="0" tIns="0" rIns="0" bIns="0" rtlCol="0" anchor="t">
              <a:spAutoFit/>
            </a:bodyPr>
            <a:lstStyle/>
            <a:p>
              <a:pPr marL="0" lvl="0" indent="0" algn="just">
                <a:lnSpc>
                  <a:spcPts val="2900"/>
                </a:lnSpc>
                <a:spcBef>
                  <a:spcPct val="0"/>
                </a:spcBef>
              </a:pPr>
              <a:r>
                <a:rPr lang="en-US" sz="2000">
                  <a:solidFill>
                    <a:srgbClr val="383838"/>
                  </a:solidFill>
                  <a:latin typeface="Noto Sans"/>
                  <a:ea typeface="Noto Sans"/>
                  <a:cs typeface="Noto Sans"/>
                  <a:sym typeface="Noto Sans"/>
                </a:rPr>
                <a:t>Xây dựng hệ thống quản trị dữ liệu thông minh giúp phân tích dữ liệu kinh doanh, dự báo doanh thu, phát hiện gian lận và hỗ trợ nhà quản trị đưa ra quyết định hiệu quả</a:t>
              </a:r>
            </a:p>
          </p:txBody>
        </p:sp>
      </p:gr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AutoShape 2"/>
          <p:cNvSpPr/>
          <p:nvPr/>
        </p:nvSpPr>
        <p:spPr>
          <a:xfrm>
            <a:off x="1105872" y="4663448"/>
            <a:ext cx="15713676" cy="0"/>
          </a:xfrm>
          <a:prstGeom prst="line">
            <a:avLst/>
          </a:prstGeom>
          <a:ln w="85725" cap="flat">
            <a:solidFill>
              <a:srgbClr val="383838"/>
            </a:solidFill>
            <a:prstDash val="solid"/>
            <a:headEnd type="none" w="sm" len="sm"/>
            <a:tailEnd type="arrow" w="med" len="sm"/>
          </a:ln>
        </p:spPr>
        <p:txBody>
          <a:bodyPr/>
          <a:lstStyle/>
          <a:p>
            <a:endParaRPr lang="en-US"/>
          </a:p>
        </p:txBody>
      </p:sp>
      <p:graphicFrame>
        <p:nvGraphicFramePr>
          <p:cNvPr id="3" name="Table 3"/>
          <p:cNvGraphicFramePr>
            <a:graphicFrameLocks noGrp="1"/>
          </p:cNvGraphicFramePr>
          <p:nvPr/>
        </p:nvGraphicFramePr>
        <p:xfrm>
          <a:off x="2928550" y="1028700"/>
          <a:ext cx="12430900" cy="2389436"/>
        </p:xfrm>
        <a:graphic>
          <a:graphicData uri="http://schemas.openxmlformats.org/drawingml/2006/table">
            <a:tbl>
              <a:tblPr/>
              <a:tblGrid>
                <a:gridCol w="12430900">
                  <a:extLst>
                    <a:ext uri="{9D8B030D-6E8A-4147-A177-3AD203B41FA5}">
                      <a16:colId xmlns:a16="http://schemas.microsoft.com/office/drawing/2014/main" val="20000"/>
                    </a:ext>
                  </a:extLst>
                </a:gridCol>
              </a:tblGrid>
              <a:tr h="2389436">
                <a:tc>
                  <a:txBody>
                    <a:bodyPr/>
                    <a:lstStyle/>
                    <a:p>
                      <a:pPr algn="ctr">
                        <a:lnSpc>
                          <a:spcPts val="13160"/>
                        </a:lnSpc>
                        <a:defRPr/>
                      </a:pPr>
                      <a:r>
                        <a:rPr lang="en-US" sz="9400" b="1" spc="-752">
                          <a:solidFill>
                            <a:srgbClr val="383838"/>
                          </a:solidFill>
                          <a:latin typeface="Noto Sans Bold"/>
                          <a:ea typeface="Noto Sans Bold"/>
                          <a:cs typeface="Noto Sans Bold"/>
                          <a:sym typeface="Noto Sans Bold"/>
                        </a:rPr>
                        <a:t>CÂU HỎI NGHIÊN CỨU</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pSp>
        <p:nvGrpSpPr>
          <p:cNvPr id="4" name="Group 4"/>
          <p:cNvGrpSpPr/>
          <p:nvPr/>
        </p:nvGrpSpPr>
        <p:grpSpPr>
          <a:xfrm>
            <a:off x="1105872" y="4514861"/>
            <a:ext cx="4277860" cy="3775488"/>
            <a:chOff x="0" y="0"/>
            <a:chExt cx="5703813" cy="5033984"/>
          </a:xfrm>
        </p:grpSpPr>
        <p:grpSp>
          <p:nvGrpSpPr>
            <p:cNvPr id="5" name="Group 5"/>
            <p:cNvGrpSpPr/>
            <p:nvPr/>
          </p:nvGrpSpPr>
          <p:grpSpPr>
            <a:xfrm>
              <a:off x="0" y="0"/>
              <a:ext cx="396231" cy="39623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21"/>
                  </a:lnSpc>
                </a:pPr>
                <a:endParaRPr/>
              </a:p>
            </p:txBody>
          </p:sp>
        </p:grpSp>
        <p:sp>
          <p:nvSpPr>
            <p:cNvPr id="8" name="TextBox 8"/>
            <p:cNvSpPr txBox="1"/>
            <p:nvPr/>
          </p:nvSpPr>
          <p:spPr>
            <a:xfrm>
              <a:off x="0" y="768731"/>
              <a:ext cx="2824063"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nhất</a:t>
              </a:r>
            </a:p>
          </p:txBody>
        </p:sp>
        <p:sp>
          <p:nvSpPr>
            <p:cNvPr id="9" name="TextBox 9"/>
            <p:cNvSpPr txBox="1"/>
            <p:nvPr/>
          </p:nvSpPr>
          <p:spPr>
            <a:xfrm>
              <a:off x="0" y="1683301"/>
              <a:ext cx="5703813" cy="3350683"/>
            </a:xfrm>
            <a:prstGeom prst="rect">
              <a:avLst/>
            </a:prstGeom>
          </p:spPr>
          <p:txBody>
            <a:bodyPr lIns="0" tIns="0" rIns="0" bIns="0" rtlCol="0" anchor="t">
              <a:spAutoFit/>
            </a:bodyPr>
            <a:lstStyle/>
            <a:p>
              <a:pPr marL="0" lvl="0" indent="0" algn="just">
                <a:lnSpc>
                  <a:spcPts val="2900"/>
                </a:lnSpc>
                <a:spcBef>
                  <a:spcPct val="0"/>
                </a:spcBef>
              </a:pPr>
              <a:r>
                <a:rPr lang="en-US" sz="2000">
                  <a:solidFill>
                    <a:srgbClr val="383838"/>
                  </a:solidFill>
                  <a:latin typeface="Noto Sans"/>
                  <a:ea typeface="Noto Sans"/>
                  <a:cs typeface="Noto Sans"/>
                  <a:sym typeface="Noto Sans"/>
                </a:rPr>
                <a:t>Làm thế nào để thiết kế và triển khai một website bán hàng đáp ứng đầy đủ các chức năng cơ bản như quản lý sản phẩm, tìm kiếm, đặt hàng và quản lý người dùng, đồng thời đảm bảo giao diện thân thiện và hiệu năng ổn định?</a:t>
              </a:r>
            </a:p>
          </p:txBody>
        </p:sp>
      </p:grpSp>
      <p:grpSp>
        <p:nvGrpSpPr>
          <p:cNvPr id="10" name="Group 10"/>
          <p:cNvGrpSpPr/>
          <p:nvPr/>
        </p:nvGrpSpPr>
        <p:grpSpPr>
          <a:xfrm>
            <a:off x="7531107" y="4514861"/>
            <a:ext cx="3330376" cy="3775488"/>
            <a:chOff x="0" y="0"/>
            <a:chExt cx="4440502" cy="5033984"/>
          </a:xfrm>
        </p:grpSpPr>
        <p:grpSp>
          <p:nvGrpSpPr>
            <p:cNvPr id="11" name="Group 11"/>
            <p:cNvGrpSpPr/>
            <p:nvPr/>
          </p:nvGrpSpPr>
          <p:grpSpPr>
            <a:xfrm>
              <a:off x="113159" y="0"/>
              <a:ext cx="435753" cy="396231"/>
              <a:chOff x="0" y="0"/>
              <a:chExt cx="893874" cy="812800"/>
            </a:xfrm>
          </p:grpSpPr>
          <p:sp>
            <p:nvSpPr>
              <p:cNvPr id="12" name="Freeform 12"/>
              <p:cNvSpPr/>
              <p:nvPr/>
            </p:nvSpPr>
            <p:spPr>
              <a:xfrm>
                <a:off x="0" y="0"/>
                <a:ext cx="893874" cy="812800"/>
              </a:xfrm>
              <a:custGeom>
                <a:avLst/>
                <a:gdLst/>
                <a:ahLst/>
                <a:cxnLst/>
                <a:rect l="l" t="t" r="r" b="b"/>
                <a:pathLst>
                  <a:path w="893874" h="812800">
                    <a:moveTo>
                      <a:pt x="446937" y="0"/>
                    </a:moveTo>
                    <a:cubicBezTo>
                      <a:pt x="200100" y="0"/>
                      <a:pt x="0" y="181951"/>
                      <a:pt x="0" y="406400"/>
                    </a:cubicBezTo>
                    <a:cubicBezTo>
                      <a:pt x="0" y="630849"/>
                      <a:pt x="200100" y="812800"/>
                      <a:pt x="446937" y="812800"/>
                    </a:cubicBezTo>
                    <a:cubicBezTo>
                      <a:pt x="693773" y="812800"/>
                      <a:pt x="893874" y="630849"/>
                      <a:pt x="893874" y="406400"/>
                    </a:cubicBezTo>
                    <a:cubicBezTo>
                      <a:pt x="893874" y="181951"/>
                      <a:pt x="693773" y="0"/>
                      <a:pt x="446937" y="0"/>
                    </a:cubicBezTo>
                    <a:close/>
                  </a:path>
                </a:pathLst>
              </a:custGeom>
              <a:solidFill>
                <a:srgbClr val="FFFFFF"/>
              </a:solidFill>
              <a:ln w="9525" cap="sq">
                <a:solidFill>
                  <a:srgbClr val="000000"/>
                </a:solidFill>
                <a:prstDash val="solid"/>
                <a:miter/>
              </a:ln>
            </p:spPr>
            <p:txBody>
              <a:bodyPr/>
              <a:lstStyle/>
              <a:p>
                <a:endParaRPr lang="en-US"/>
              </a:p>
            </p:txBody>
          </p:sp>
          <p:sp>
            <p:nvSpPr>
              <p:cNvPr id="13" name="TextBox 13"/>
              <p:cNvSpPr txBox="1"/>
              <p:nvPr/>
            </p:nvSpPr>
            <p:spPr>
              <a:xfrm>
                <a:off x="83801" y="38100"/>
                <a:ext cx="726272" cy="698500"/>
              </a:xfrm>
              <a:prstGeom prst="rect">
                <a:avLst/>
              </a:prstGeom>
            </p:spPr>
            <p:txBody>
              <a:bodyPr lIns="50800" tIns="50800" rIns="50800" bIns="50800" rtlCol="0" anchor="ctr"/>
              <a:lstStyle/>
              <a:p>
                <a:pPr algn="ctr">
                  <a:lnSpc>
                    <a:spcPts val="2621"/>
                  </a:lnSpc>
                </a:pPr>
                <a:endParaRPr/>
              </a:p>
            </p:txBody>
          </p:sp>
        </p:grpSp>
        <p:sp>
          <p:nvSpPr>
            <p:cNvPr id="14" name="TextBox 14"/>
            <p:cNvSpPr txBox="1"/>
            <p:nvPr/>
          </p:nvSpPr>
          <p:spPr>
            <a:xfrm>
              <a:off x="0" y="768731"/>
              <a:ext cx="2493621"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hai</a:t>
              </a:r>
            </a:p>
          </p:txBody>
        </p:sp>
        <p:sp>
          <p:nvSpPr>
            <p:cNvPr id="15" name="TextBox 15"/>
            <p:cNvSpPr txBox="1"/>
            <p:nvPr/>
          </p:nvSpPr>
          <p:spPr>
            <a:xfrm>
              <a:off x="41611" y="1683301"/>
              <a:ext cx="4398891" cy="3350683"/>
            </a:xfrm>
            <a:prstGeom prst="rect">
              <a:avLst/>
            </a:prstGeom>
          </p:spPr>
          <p:txBody>
            <a:bodyPr lIns="0" tIns="0" rIns="0" bIns="0" rtlCol="0" anchor="t">
              <a:spAutoFit/>
            </a:bodyPr>
            <a:lstStyle/>
            <a:p>
              <a:pPr marL="0" lvl="0" indent="0" algn="just">
                <a:lnSpc>
                  <a:spcPts val="2900"/>
                </a:lnSpc>
                <a:spcBef>
                  <a:spcPct val="0"/>
                </a:spcBef>
              </a:pPr>
              <a:r>
                <a:rPr lang="en-US" sz="2000">
                  <a:solidFill>
                    <a:srgbClr val="383838"/>
                  </a:solidFill>
                  <a:latin typeface="Noto Sans"/>
                  <a:ea typeface="Noto Sans"/>
                  <a:cs typeface="Noto Sans"/>
                  <a:sym typeface="Noto Sans"/>
                </a:rPr>
                <a:t>Làm thế nào để tích hợp trí tuệ nhân tạo (AI) vào website bán hàng nhằm hỗ trợ tư vấn khách hàng, gợi ý sản phẩm phù hợp và phân tích hành vi người dùng một cách hiệu quả?</a:t>
              </a:r>
            </a:p>
          </p:txBody>
        </p:sp>
      </p:grpSp>
      <p:grpSp>
        <p:nvGrpSpPr>
          <p:cNvPr id="16" name="Group 16"/>
          <p:cNvGrpSpPr/>
          <p:nvPr/>
        </p:nvGrpSpPr>
        <p:grpSpPr>
          <a:xfrm>
            <a:off x="13004609" y="4514861"/>
            <a:ext cx="3264569" cy="3775488"/>
            <a:chOff x="0" y="0"/>
            <a:chExt cx="4352759" cy="5033984"/>
          </a:xfrm>
        </p:grpSpPr>
        <p:grpSp>
          <p:nvGrpSpPr>
            <p:cNvPr id="17" name="Group 17"/>
            <p:cNvGrpSpPr/>
            <p:nvPr/>
          </p:nvGrpSpPr>
          <p:grpSpPr>
            <a:xfrm>
              <a:off x="0" y="0"/>
              <a:ext cx="396231" cy="39623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txBody>
              <a:bodyPr/>
              <a:lstStyle/>
              <a:p>
                <a:endParaRPr lang="en-US"/>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21"/>
                  </a:lnSpc>
                </a:pPr>
                <a:endParaRPr/>
              </a:p>
            </p:txBody>
          </p:sp>
        </p:grpSp>
        <p:sp>
          <p:nvSpPr>
            <p:cNvPr id="20" name="TextBox 20"/>
            <p:cNvSpPr txBox="1"/>
            <p:nvPr/>
          </p:nvSpPr>
          <p:spPr>
            <a:xfrm>
              <a:off x="63711" y="768731"/>
              <a:ext cx="3705165" cy="578019"/>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Noto Sans Bold"/>
                  <a:ea typeface="Noto Sans Bold"/>
                  <a:cs typeface="Noto Sans Bold"/>
                  <a:sym typeface="Noto Sans Bold"/>
                </a:rPr>
                <a:t>Thứ ba</a:t>
              </a:r>
            </a:p>
          </p:txBody>
        </p:sp>
        <p:sp>
          <p:nvSpPr>
            <p:cNvPr id="21" name="TextBox 21"/>
            <p:cNvSpPr txBox="1"/>
            <p:nvPr/>
          </p:nvSpPr>
          <p:spPr>
            <a:xfrm>
              <a:off x="0" y="1683301"/>
              <a:ext cx="4352759" cy="3350683"/>
            </a:xfrm>
            <a:prstGeom prst="rect">
              <a:avLst/>
            </a:prstGeom>
          </p:spPr>
          <p:txBody>
            <a:bodyPr lIns="0" tIns="0" rIns="0" bIns="0" rtlCol="0" anchor="t">
              <a:spAutoFit/>
            </a:bodyPr>
            <a:lstStyle/>
            <a:p>
              <a:pPr marL="0" lvl="0" indent="0" algn="just">
                <a:lnSpc>
                  <a:spcPts val="2900"/>
                </a:lnSpc>
                <a:spcBef>
                  <a:spcPct val="0"/>
                </a:spcBef>
              </a:pPr>
              <a:r>
                <a:rPr lang="en-US" sz="2000">
                  <a:solidFill>
                    <a:srgbClr val="383838"/>
                  </a:solidFill>
                  <a:latin typeface="Noto Sans"/>
                  <a:ea typeface="Noto Sans"/>
                  <a:cs typeface="Noto Sans"/>
                  <a:sym typeface="Noto Sans"/>
                </a:rPr>
                <a:t>Việc lựa chọn công nghệ và framework phù hợp ảnh hưởng như thế nào đến hiệu quả hoạt động của hệ thống và trải nghiệm người dùng trong thương mại điện tử?</a:t>
              </a:r>
            </a:p>
          </p:txBody>
        </p:sp>
      </p:gr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4649155" y="3268920"/>
            <a:ext cx="9066845" cy="5989380"/>
          </a:xfrm>
          <a:custGeom>
            <a:avLst/>
            <a:gdLst/>
            <a:ahLst/>
            <a:cxnLst/>
            <a:rect l="l" t="t" r="r" b="b"/>
            <a:pathLst>
              <a:path w="9066845" h="5989380">
                <a:moveTo>
                  <a:pt x="0" y="0"/>
                </a:moveTo>
                <a:lnTo>
                  <a:pt x="9066845" y="0"/>
                </a:lnTo>
                <a:lnTo>
                  <a:pt x="9066845" y="5989380"/>
                </a:lnTo>
                <a:lnTo>
                  <a:pt x="0" y="5989380"/>
                </a:lnTo>
                <a:lnTo>
                  <a:pt x="0" y="0"/>
                </a:lnTo>
                <a:close/>
              </a:path>
            </a:pathLst>
          </a:custGeom>
          <a:blipFill>
            <a:blip r:embed="rId2"/>
            <a:stretch>
              <a:fillRect t="-429" b="-429"/>
            </a:stretch>
          </a:blipFill>
        </p:spPr>
        <p:txBody>
          <a:bodyPr/>
          <a:lstStyle/>
          <a:p>
            <a:endParaRPr lang="en-US"/>
          </a:p>
        </p:txBody>
      </p:sp>
      <p:sp>
        <p:nvSpPr>
          <p:cNvPr id="3" name="TextBox 3"/>
          <p:cNvSpPr txBox="1"/>
          <p:nvPr/>
        </p:nvSpPr>
        <p:spPr>
          <a:xfrm>
            <a:off x="4572000" y="1229703"/>
            <a:ext cx="9144000" cy="806450"/>
          </a:xfrm>
          <a:prstGeom prst="rect">
            <a:avLst/>
          </a:prstGeom>
        </p:spPr>
        <p:txBody>
          <a:bodyPr lIns="0" tIns="0" rIns="0" bIns="0" rtlCol="0" anchor="t">
            <a:spAutoFit/>
          </a:bodyPr>
          <a:lstStyle/>
          <a:p>
            <a:pPr algn="ctr">
              <a:lnSpc>
                <a:spcPts val="6400"/>
              </a:lnSpc>
              <a:spcBef>
                <a:spcPct val="0"/>
              </a:spcBef>
            </a:pPr>
            <a:r>
              <a:rPr lang="en-US" sz="5000" b="1" spc="-125">
                <a:solidFill>
                  <a:srgbClr val="000000"/>
                </a:solidFill>
                <a:latin typeface="Noto Sans Bold"/>
                <a:ea typeface="Noto Sans Bold"/>
                <a:cs typeface="Noto Sans Bold"/>
                <a:sym typeface="Noto Sans Bold"/>
              </a:rPr>
              <a:t>PHƯƠNG PHÁP NGHIÊN CỨU</a:t>
            </a:r>
          </a:p>
        </p:txBody>
      </p:sp>
      <p:sp>
        <p:nvSpPr>
          <p:cNvPr id="4" name="TextBox 4"/>
          <p:cNvSpPr txBox="1"/>
          <p:nvPr/>
        </p:nvSpPr>
        <p:spPr>
          <a:xfrm>
            <a:off x="1882389" y="2319797"/>
            <a:ext cx="14523222" cy="646430"/>
          </a:xfrm>
          <a:prstGeom prst="rect">
            <a:avLst/>
          </a:prstGeom>
        </p:spPr>
        <p:txBody>
          <a:bodyPr lIns="0" tIns="0" rIns="0" bIns="0" rtlCol="0" anchor="t">
            <a:spAutoFit/>
          </a:bodyPr>
          <a:lstStyle/>
          <a:p>
            <a:pPr algn="just">
              <a:lnSpc>
                <a:spcPts val="2560"/>
              </a:lnSpc>
              <a:spcBef>
                <a:spcPct val="0"/>
              </a:spcBef>
            </a:pPr>
            <a:r>
              <a:rPr lang="en-US" sz="2000" spc="-50">
                <a:solidFill>
                  <a:srgbClr val="000000"/>
                </a:solidFill>
                <a:latin typeface="Noto Sans"/>
                <a:ea typeface="Noto Sans"/>
                <a:cs typeface="Noto Sans"/>
                <a:sym typeface="Noto Sans"/>
              </a:rPr>
              <a:t>Nghiên cứu được thực hiện dưới sự kết hợp giữa phương pháp nghiên cứu lý thuyết và phương pháp nghiên cứu thực nghiệm nhằm đảm bảo tính khoa học và khả năng ứng dụng thực tế.</a:t>
            </a:r>
          </a:p>
        </p:txBody>
      </p:sp>
      <p:sp>
        <p:nvSpPr>
          <p:cNvPr id="5" name="TextBox 5"/>
          <p:cNvSpPr txBox="1"/>
          <p:nvPr/>
        </p:nvSpPr>
        <p:spPr>
          <a:xfrm>
            <a:off x="1640511" y="9553575"/>
            <a:ext cx="14523222" cy="473329"/>
          </a:xfrm>
          <a:prstGeom prst="rect">
            <a:avLst/>
          </a:prstGeom>
        </p:spPr>
        <p:txBody>
          <a:bodyPr lIns="0" tIns="0" rIns="0" bIns="0" rtlCol="0" anchor="t">
            <a:spAutoFit/>
          </a:bodyPr>
          <a:lstStyle/>
          <a:p>
            <a:pPr algn="ctr">
              <a:lnSpc>
                <a:spcPts val="3967"/>
              </a:lnSpc>
              <a:spcBef>
                <a:spcPct val="0"/>
              </a:spcBef>
            </a:pPr>
            <a:r>
              <a:rPr lang="en-US" sz="3099" i="1" spc="-77">
                <a:solidFill>
                  <a:srgbClr val="000000"/>
                </a:solidFill>
                <a:latin typeface="Noto Sans Italics"/>
                <a:ea typeface="Noto Sans Italics"/>
                <a:cs typeface="Noto Sans Italics"/>
                <a:sym typeface="Noto Sans Italics"/>
              </a:rPr>
              <a:t> Hình 1: Phương pháp nghiên cứu đồ án</a:t>
            </a:r>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5220130" y="2887980"/>
            <a:ext cx="7847739" cy="5993711"/>
          </a:xfrm>
          <a:custGeom>
            <a:avLst/>
            <a:gdLst/>
            <a:ahLst/>
            <a:cxnLst/>
            <a:rect l="l" t="t" r="r" b="b"/>
            <a:pathLst>
              <a:path w="7847739" h="5993711">
                <a:moveTo>
                  <a:pt x="0" y="0"/>
                </a:moveTo>
                <a:lnTo>
                  <a:pt x="7847740" y="0"/>
                </a:lnTo>
                <a:lnTo>
                  <a:pt x="7847740" y="5993711"/>
                </a:lnTo>
                <a:lnTo>
                  <a:pt x="0" y="599371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249409" y="601663"/>
            <a:ext cx="9144000" cy="806450"/>
          </a:xfrm>
          <a:prstGeom prst="rect">
            <a:avLst/>
          </a:prstGeom>
        </p:spPr>
        <p:txBody>
          <a:bodyPr lIns="0" tIns="0" rIns="0" bIns="0" rtlCol="0" anchor="t">
            <a:spAutoFit/>
          </a:bodyPr>
          <a:lstStyle/>
          <a:p>
            <a:pPr algn="ctr">
              <a:lnSpc>
                <a:spcPts val="6400"/>
              </a:lnSpc>
              <a:spcBef>
                <a:spcPct val="0"/>
              </a:spcBef>
            </a:pPr>
            <a:r>
              <a:rPr lang="en-US" sz="5000" b="1" spc="-125">
                <a:solidFill>
                  <a:srgbClr val="000000"/>
                </a:solidFill>
                <a:latin typeface="Noto Sans Bold"/>
                <a:ea typeface="Noto Sans Bold"/>
                <a:cs typeface="Noto Sans Bold"/>
                <a:sym typeface="Noto Sans Bold"/>
              </a:rPr>
              <a:t>QUY TRÌNH SCRUM</a:t>
            </a:r>
          </a:p>
        </p:txBody>
      </p:sp>
      <p:sp>
        <p:nvSpPr>
          <p:cNvPr id="4" name="TextBox 4"/>
          <p:cNvSpPr txBox="1"/>
          <p:nvPr/>
        </p:nvSpPr>
        <p:spPr>
          <a:xfrm>
            <a:off x="3702387" y="1834007"/>
            <a:ext cx="10919070" cy="1053973"/>
          </a:xfrm>
          <a:prstGeom prst="rect">
            <a:avLst/>
          </a:prstGeom>
        </p:spPr>
        <p:txBody>
          <a:bodyPr lIns="0" tIns="0" rIns="0" bIns="0" rtlCol="0" anchor="t">
            <a:spAutoFit/>
          </a:bodyPr>
          <a:lstStyle/>
          <a:p>
            <a:pPr algn="just">
              <a:lnSpc>
                <a:spcPts val="2815"/>
              </a:lnSpc>
              <a:spcBef>
                <a:spcPct val="0"/>
              </a:spcBef>
            </a:pPr>
            <a:r>
              <a:rPr lang="en-US" sz="2199" spc="-54">
                <a:solidFill>
                  <a:srgbClr val="000000"/>
                </a:solidFill>
                <a:latin typeface="Noto Sans"/>
                <a:ea typeface="Noto Sans"/>
                <a:cs typeface="Noto Sans"/>
                <a:sym typeface="Noto Sans"/>
              </a:rPr>
              <a:t>Scrum là một phương pháp phát triển phần mềm thuộc mô hình Agile, tập trung vào việc phát triển sản phẩm theo từng vòng lặp ngắn gọi là Sprint (thường kéo dài từ 1–4 tuần).</a:t>
            </a:r>
          </a:p>
        </p:txBody>
      </p:sp>
      <p:sp>
        <p:nvSpPr>
          <p:cNvPr id="5" name="TextBox 5"/>
          <p:cNvSpPr txBox="1"/>
          <p:nvPr/>
        </p:nvSpPr>
        <p:spPr>
          <a:xfrm>
            <a:off x="7493228" y="9310316"/>
            <a:ext cx="3803352" cy="438277"/>
          </a:xfrm>
          <a:prstGeom prst="rect">
            <a:avLst/>
          </a:prstGeom>
        </p:spPr>
        <p:txBody>
          <a:bodyPr lIns="0" tIns="0" rIns="0" bIns="0" rtlCol="0" anchor="t">
            <a:spAutoFit/>
          </a:bodyPr>
          <a:lstStyle/>
          <a:p>
            <a:pPr algn="ctr">
              <a:lnSpc>
                <a:spcPts val="3583"/>
              </a:lnSpc>
              <a:spcBef>
                <a:spcPct val="0"/>
              </a:spcBef>
            </a:pPr>
            <a:r>
              <a:rPr lang="en-US" sz="2799" i="1" spc="-69">
                <a:solidFill>
                  <a:srgbClr val="000000"/>
                </a:solidFill>
                <a:latin typeface="Noto Sans Italics"/>
                <a:ea typeface="Noto Sans Italics"/>
                <a:cs typeface="Noto Sans Italics"/>
                <a:sym typeface="Noto Sans Italics"/>
              </a:rPr>
              <a:t> Hình 2: Quy trình SCRUM</a:t>
            </a:r>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267143" y="4846739"/>
            <a:ext cx="8279329" cy="3909859"/>
          </a:xfrm>
          <a:custGeom>
            <a:avLst/>
            <a:gdLst/>
            <a:ahLst/>
            <a:cxnLst/>
            <a:rect l="l" t="t" r="r" b="b"/>
            <a:pathLst>
              <a:path w="8279329" h="3909859">
                <a:moveTo>
                  <a:pt x="0" y="0"/>
                </a:moveTo>
                <a:lnTo>
                  <a:pt x="8279329" y="0"/>
                </a:lnTo>
                <a:lnTo>
                  <a:pt x="8279329" y="3909859"/>
                </a:lnTo>
                <a:lnTo>
                  <a:pt x="0" y="3909859"/>
                </a:lnTo>
                <a:lnTo>
                  <a:pt x="0" y="0"/>
                </a:lnTo>
                <a:close/>
              </a:path>
            </a:pathLst>
          </a:custGeom>
          <a:blipFill>
            <a:blip r:embed="rId2"/>
            <a:stretch>
              <a:fillRect l="-2879" t="-11325" r="-822" b="-12197"/>
            </a:stretch>
          </a:blipFill>
        </p:spPr>
        <p:txBody>
          <a:bodyPr/>
          <a:lstStyle/>
          <a:p>
            <a:endParaRPr lang="en-US"/>
          </a:p>
        </p:txBody>
      </p:sp>
      <p:sp>
        <p:nvSpPr>
          <p:cNvPr id="3" name="TextBox 3"/>
          <p:cNvSpPr txBox="1"/>
          <p:nvPr/>
        </p:nvSpPr>
        <p:spPr>
          <a:xfrm>
            <a:off x="2919930" y="976948"/>
            <a:ext cx="12448140" cy="806450"/>
          </a:xfrm>
          <a:prstGeom prst="rect">
            <a:avLst/>
          </a:prstGeom>
        </p:spPr>
        <p:txBody>
          <a:bodyPr lIns="0" tIns="0" rIns="0" bIns="0" rtlCol="0" anchor="t">
            <a:spAutoFit/>
          </a:bodyPr>
          <a:lstStyle/>
          <a:p>
            <a:pPr algn="ctr">
              <a:lnSpc>
                <a:spcPts val="6400"/>
              </a:lnSpc>
              <a:spcBef>
                <a:spcPct val="0"/>
              </a:spcBef>
            </a:pPr>
            <a:r>
              <a:rPr lang="en-US" sz="5000" b="1" spc="-125">
                <a:solidFill>
                  <a:srgbClr val="000000"/>
                </a:solidFill>
                <a:latin typeface="Noto Sans Bold"/>
                <a:ea typeface="Noto Sans Bold"/>
                <a:cs typeface="Noto Sans Bold"/>
                <a:sym typeface="Noto Sans Bold"/>
              </a:rPr>
              <a:t>QUY TRÌNH VẬN HÀNH DEVOPS VÀ CI/CD </a:t>
            </a:r>
          </a:p>
        </p:txBody>
      </p:sp>
      <p:sp>
        <p:nvSpPr>
          <p:cNvPr id="4" name="TextBox 4"/>
          <p:cNvSpPr txBox="1"/>
          <p:nvPr/>
        </p:nvSpPr>
        <p:spPr>
          <a:xfrm>
            <a:off x="1028700" y="2202498"/>
            <a:ext cx="16230600" cy="1753743"/>
          </a:xfrm>
          <a:prstGeom prst="rect">
            <a:avLst/>
          </a:prstGeom>
        </p:spPr>
        <p:txBody>
          <a:bodyPr lIns="0" tIns="0" rIns="0" bIns="0" rtlCol="0" anchor="t">
            <a:spAutoFit/>
          </a:bodyPr>
          <a:lstStyle/>
          <a:p>
            <a:pPr marL="582932" lvl="1" indent="-291466" algn="l">
              <a:lnSpc>
                <a:spcPts val="3456"/>
              </a:lnSpc>
              <a:spcBef>
                <a:spcPct val="0"/>
              </a:spcBef>
              <a:buFont typeface="Arial"/>
              <a:buChar char="•"/>
            </a:pPr>
            <a:r>
              <a:rPr lang="en-US" sz="2700" spc="-67">
                <a:solidFill>
                  <a:srgbClr val="000000"/>
                </a:solidFill>
                <a:latin typeface="Noto Sans"/>
                <a:ea typeface="Noto Sans"/>
                <a:cs typeface="Noto Sans"/>
                <a:sym typeface="Noto Sans"/>
              </a:rPr>
              <a:t>DevOps là một phương pháp phát triển và vận hành phần mềm tập trung vào việc tự động hóa và tích hợp các quy trình phát triển và vận hành. </a:t>
            </a:r>
          </a:p>
          <a:p>
            <a:pPr marL="582932" lvl="1" indent="-291466" algn="l">
              <a:lnSpc>
                <a:spcPts val="3456"/>
              </a:lnSpc>
              <a:spcBef>
                <a:spcPct val="0"/>
              </a:spcBef>
              <a:buFont typeface="Arial"/>
              <a:buChar char="•"/>
            </a:pPr>
            <a:r>
              <a:rPr lang="en-US" sz="2700" spc="-67">
                <a:solidFill>
                  <a:srgbClr val="000000"/>
                </a:solidFill>
                <a:latin typeface="Noto Sans"/>
                <a:ea typeface="Noto Sans"/>
                <a:cs typeface="Noto Sans"/>
                <a:sym typeface="Noto Sans"/>
              </a:rPr>
              <a:t>Mục tiêu của DevOps là tạo ra một môi trường nơi các nhóm phát triển và vận hành có thể cộng tác chặt chẽ để cung cấp phần mềm nhanh hơn, đáng tin cậy hơn và linh hoạt hơn.</a:t>
            </a:r>
          </a:p>
        </p:txBody>
      </p:sp>
      <p:sp>
        <p:nvSpPr>
          <p:cNvPr id="5" name="TextBox 5"/>
          <p:cNvSpPr txBox="1"/>
          <p:nvPr/>
        </p:nvSpPr>
        <p:spPr>
          <a:xfrm>
            <a:off x="10236021" y="4812105"/>
            <a:ext cx="7023279" cy="3944493"/>
          </a:xfrm>
          <a:prstGeom prst="rect">
            <a:avLst/>
          </a:prstGeom>
        </p:spPr>
        <p:txBody>
          <a:bodyPr lIns="0" tIns="0" rIns="0" bIns="0" rtlCol="0" anchor="t">
            <a:spAutoFit/>
          </a:bodyPr>
          <a:lstStyle/>
          <a:p>
            <a:pPr algn="just">
              <a:lnSpc>
                <a:spcPts val="3456"/>
              </a:lnSpc>
              <a:spcBef>
                <a:spcPct val="0"/>
              </a:spcBef>
            </a:pPr>
            <a:r>
              <a:rPr lang="en-US" sz="2700" b="1" spc="-67">
                <a:solidFill>
                  <a:srgbClr val="000000"/>
                </a:solidFill>
                <a:latin typeface="Noto Sans Bold"/>
                <a:ea typeface="Noto Sans Bold"/>
                <a:cs typeface="Noto Sans Bold"/>
                <a:sym typeface="Noto Sans Bold"/>
              </a:rPr>
              <a:t>CI/CD (Tích hợp &amp; Triển khai liên tục)</a:t>
            </a:r>
            <a:r>
              <a:rPr lang="en-US" sz="2700" spc="-67">
                <a:solidFill>
                  <a:srgbClr val="000000"/>
                </a:solidFill>
                <a:latin typeface="Noto Sans"/>
                <a:ea typeface="Noto Sans"/>
                <a:cs typeface="Noto Sans"/>
                <a:sym typeface="Noto Sans"/>
              </a:rPr>
              <a:t> là phương pháp DevOps tự động hóa quy trình xây dựng, kiểm thử và phát hành phần mềm, giúp rút ngắn chu kỳ phát triển, giảm thiểu lỗi và tăng tốc độ ra mắt tính năng mới. Quy trình này bao gồm: Tích hợp liên tục (CI) để tự động kiểm tra code và Triển khai/Chuyển giao liên tục (CD) để đẩy code lên môi trường production.</a:t>
            </a:r>
          </a:p>
        </p:txBody>
      </p:sp>
      <p:sp>
        <p:nvSpPr>
          <p:cNvPr id="6" name="TextBox 6"/>
          <p:cNvSpPr txBox="1"/>
          <p:nvPr/>
        </p:nvSpPr>
        <p:spPr>
          <a:xfrm>
            <a:off x="2873747" y="9185223"/>
            <a:ext cx="5548710" cy="367156"/>
          </a:xfrm>
          <a:prstGeom prst="rect">
            <a:avLst/>
          </a:prstGeom>
        </p:spPr>
        <p:txBody>
          <a:bodyPr lIns="0" tIns="0" rIns="0" bIns="0" rtlCol="0" anchor="t">
            <a:spAutoFit/>
          </a:bodyPr>
          <a:lstStyle/>
          <a:p>
            <a:pPr algn="ctr">
              <a:lnSpc>
                <a:spcPts val="2944"/>
              </a:lnSpc>
              <a:spcBef>
                <a:spcPct val="0"/>
              </a:spcBef>
            </a:pPr>
            <a:r>
              <a:rPr lang="en-US" sz="2300" i="1" spc="-57">
                <a:solidFill>
                  <a:srgbClr val="000000"/>
                </a:solidFill>
                <a:latin typeface="Noto Sans Italics"/>
                <a:ea typeface="Noto Sans Italics"/>
                <a:cs typeface="Noto Sans Italics"/>
                <a:sym typeface="Noto Sans Italics"/>
              </a:rPr>
              <a:t> Hình 3: Quy trình vận hành Devops và CI/CD </a:t>
            </a:r>
          </a:p>
        </p:txBody>
      </p:sp>
    </p:spTree>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5290083" y="1028700"/>
          <a:ext cx="7707834" cy="2389436"/>
        </p:xfrm>
        <a:graphic>
          <a:graphicData uri="http://schemas.openxmlformats.org/drawingml/2006/table">
            <a:tbl>
              <a:tblPr/>
              <a:tblGrid>
                <a:gridCol w="7707834">
                  <a:extLst>
                    <a:ext uri="{9D8B030D-6E8A-4147-A177-3AD203B41FA5}">
                      <a16:colId xmlns:a16="http://schemas.microsoft.com/office/drawing/2014/main" val="20000"/>
                    </a:ext>
                  </a:extLst>
                </a:gridCol>
              </a:tblGrid>
              <a:tr h="2389436">
                <a:tc>
                  <a:txBody>
                    <a:bodyPr/>
                    <a:lstStyle/>
                    <a:p>
                      <a:pPr algn="ctr">
                        <a:lnSpc>
                          <a:spcPts val="13720"/>
                        </a:lnSpc>
                        <a:defRPr/>
                      </a:pPr>
                      <a:r>
                        <a:rPr lang="en-US" sz="9800" b="1" spc="-784">
                          <a:solidFill>
                            <a:srgbClr val="383838"/>
                          </a:solidFill>
                          <a:latin typeface="Noto Sans Bold"/>
                          <a:ea typeface="Noto Sans Bold"/>
                          <a:cs typeface="Noto Sans Bold"/>
                          <a:sym typeface="Noto Sans Bold"/>
                        </a:rPr>
                        <a:t>Chương 2</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TextBox 3"/>
          <p:cNvSpPr txBox="1"/>
          <p:nvPr/>
        </p:nvSpPr>
        <p:spPr>
          <a:xfrm>
            <a:off x="4264255" y="5010150"/>
            <a:ext cx="9759490" cy="1243331"/>
          </a:xfrm>
          <a:prstGeom prst="rect">
            <a:avLst/>
          </a:prstGeom>
        </p:spPr>
        <p:txBody>
          <a:bodyPr lIns="0" tIns="0" rIns="0" bIns="0" rtlCol="0" anchor="t">
            <a:spAutoFit/>
          </a:bodyPr>
          <a:lstStyle/>
          <a:p>
            <a:pPr algn="ctr">
              <a:lnSpc>
                <a:spcPts val="10219"/>
              </a:lnSpc>
            </a:pPr>
            <a:r>
              <a:rPr lang="en-US" sz="7299" b="1">
                <a:solidFill>
                  <a:srgbClr val="000000"/>
                </a:solidFill>
                <a:latin typeface="Noto Sans Bold"/>
                <a:ea typeface="Noto Sans Bold"/>
                <a:cs typeface="Noto Sans Bold"/>
                <a:sym typeface="Noto Sans Bold"/>
              </a:rPr>
              <a:t>CƠ SỞ LÝ THUYẾT</a:t>
            </a:r>
          </a:p>
        </p:txBody>
      </p:sp>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5626563" y="1099655"/>
            <a:ext cx="659901" cy="643383"/>
          </a:xfrm>
          <a:custGeom>
            <a:avLst/>
            <a:gdLst/>
            <a:ahLst/>
            <a:cxnLst/>
            <a:rect l="l" t="t" r="r" b="b"/>
            <a:pathLst>
              <a:path w="659901" h="643383">
                <a:moveTo>
                  <a:pt x="0" y="0"/>
                </a:moveTo>
                <a:lnTo>
                  <a:pt x="659901" y="0"/>
                </a:lnTo>
                <a:lnTo>
                  <a:pt x="659901" y="643383"/>
                </a:lnTo>
                <a:lnTo>
                  <a:pt x="0" y="6433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4252750" y="3432897"/>
            <a:ext cx="9782500" cy="5825403"/>
          </a:xfrm>
          <a:custGeom>
            <a:avLst/>
            <a:gdLst/>
            <a:ahLst/>
            <a:cxnLst/>
            <a:rect l="l" t="t" r="r" b="b"/>
            <a:pathLst>
              <a:path w="9782500" h="5825403">
                <a:moveTo>
                  <a:pt x="0" y="0"/>
                </a:moveTo>
                <a:lnTo>
                  <a:pt x="9782500" y="0"/>
                </a:lnTo>
                <a:lnTo>
                  <a:pt x="9782500" y="5825403"/>
                </a:lnTo>
                <a:lnTo>
                  <a:pt x="0" y="5825403"/>
                </a:lnTo>
                <a:lnTo>
                  <a:pt x="0" y="0"/>
                </a:lnTo>
                <a:close/>
              </a:path>
            </a:pathLst>
          </a:custGeom>
          <a:blipFill>
            <a:blip r:embed="rId3"/>
            <a:stretch>
              <a:fillRect t="-5941" b="-5941"/>
            </a:stretch>
          </a:blipFill>
        </p:spPr>
        <p:txBody>
          <a:bodyPr/>
          <a:lstStyle/>
          <a:p>
            <a:endParaRPr lang="en-US"/>
          </a:p>
        </p:txBody>
      </p:sp>
      <p:sp>
        <p:nvSpPr>
          <p:cNvPr id="4" name="TextBox 4"/>
          <p:cNvSpPr txBox="1"/>
          <p:nvPr/>
        </p:nvSpPr>
        <p:spPr>
          <a:xfrm>
            <a:off x="1374881" y="597879"/>
            <a:ext cx="15884419" cy="823468"/>
          </a:xfrm>
          <a:prstGeom prst="rect">
            <a:avLst/>
          </a:prstGeom>
        </p:spPr>
        <p:txBody>
          <a:bodyPr lIns="0" tIns="0" rIns="0" bIns="0" rtlCol="0" anchor="t">
            <a:spAutoFit/>
          </a:bodyPr>
          <a:lstStyle/>
          <a:p>
            <a:pPr algn="l">
              <a:lnSpc>
                <a:spcPts val="6655"/>
              </a:lnSpc>
              <a:spcBef>
                <a:spcPct val="0"/>
              </a:spcBef>
            </a:pPr>
            <a:r>
              <a:rPr lang="en-US" sz="5199" b="1" spc="-129">
                <a:solidFill>
                  <a:srgbClr val="383838"/>
                </a:solidFill>
                <a:latin typeface="Noto Sans Bold"/>
                <a:ea typeface="Noto Sans Bold"/>
                <a:cs typeface="Noto Sans Bold"/>
                <a:sym typeface="Noto Sans Bold"/>
              </a:rPr>
              <a:t>Lý luận tổng quan về kiến trúc phần mềm</a:t>
            </a:r>
          </a:p>
        </p:txBody>
      </p:sp>
      <p:sp>
        <p:nvSpPr>
          <p:cNvPr id="5" name="TextBox 5"/>
          <p:cNvSpPr txBox="1"/>
          <p:nvPr/>
        </p:nvSpPr>
        <p:spPr>
          <a:xfrm>
            <a:off x="1201791" y="1989112"/>
            <a:ext cx="15884419" cy="1268095"/>
          </a:xfrm>
          <a:prstGeom prst="rect">
            <a:avLst/>
          </a:prstGeom>
        </p:spPr>
        <p:txBody>
          <a:bodyPr lIns="0" tIns="0" rIns="0" bIns="0" rtlCol="0" anchor="t">
            <a:spAutoFit/>
          </a:bodyPr>
          <a:lstStyle/>
          <a:p>
            <a:pPr algn="just">
              <a:lnSpc>
                <a:spcPts val="3421"/>
              </a:lnSpc>
              <a:spcBef>
                <a:spcPct val="0"/>
              </a:spcBef>
            </a:pPr>
            <a:r>
              <a:rPr lang="en-US" sz="2359">
                <a:solidFill>
                  <a:srgbClr val="383838"/>
                </a:solidFill>
                <a:latin typeface="Noto Sans"/>
                <a:ea typeface="Noto Sans"/>
                <a:cs typeface="Noto Sans"/>
                <a:sym typeface="Noto Sans"/>
              </a:rPr>
              <a:t>Kiến trúc phần mềm là cách tổ chức tổng thể các thành phần của hệ thống, bao gồm các mô-đun chức năng, luồng dữ liệu, cơ chế giao tiếp và cách triển khai thực tế. Một kiến trúc tốt không chỉ giúp hệ thống hoạt động ổn định mà còn tạo điều kiện thuận lợi cho việc mở rộng, bảo trì và nâng cấp trong tương lai.</a:t>
            </a:r>
          </a:p>
        </p:txBody>
      </p:sp>
      <p:sp>
        <p:nvSpPr>
          <p:cNvPr id="6" name="TextBox 6"/>
          <p:cNvSpPr txBox="1"/>
          <p:nvPr/>
        </p:nvSpPr>
        <p:spPr>
          <a:xfrm>
            <a:off x="6189170" y="9509125"/>
            <a:ext cx="6255841" cy="474344"/>
          </a:xfrm>
          <a:prstGeom prst="rect">
            <a:avLst/>
          </a:prstGeom>
        </p:spPr>
        <p:txBody>
          <a:bodyPr lIns="0" tIns="0" rIns="0" bIns="0" rtlCol="0" anchor="t">
            <a:spAutoFit/>
          </a:bodyPr>
          <a:lstStyle/>
          <a:p>
            <a:pPr algn="ctr">
              <a:lnSpc>
                <a:spcPts val="3840"/>
              </a:lnSpc>
              <a:spcBef>
                <a:spcPct val="0"/>
              </a:spcBef>
            </a:pPr>
            <a:r>
              <a:rPr lang="en-US" sz="3000" i="1" spc="-75">
                <a:solidFill>
                  <a:srgbClr val="383838"/>
                </a:solidFill>
                <a:latin typeface="Noto Sans Italics"/>
                <a:ea typeface="Noto Sans Italics"/>
                <a:cs typeface="Noto Sans Italics"/>
                <a:sym typeface="Noto Sans Italics"/>
              </a:rPr>
              <a:t> Hình 4: Kiến trúc phần mềm của đồ án</a:t>
            </a:r>
          </a:p>
        </p:txBody>
      </p:sp>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279193" y="468728"/>
            <a:ext cx="10846244"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Business Context</a:t>
            </a:r>
          </a:p>
        </p:txBody>
      </p:sp>
      <p:sp>
        <p:nvSpPr>
          <p:cNvPr id="4" name="TextBox 4"/>
          <p:cNvSpPr txBox="1"/>
          <p:nvPr/>
        </p:nvSpPr>
        <p:spPr>
          <a:xfrm>
            <a:off x="1355949" y="1262328"/>
            <a:ext cx="15778959" cy="6929172"/>
          </a:xfrm>
          <a:prstGeom prst="rect">
            <a:avLst/>
          </a:prstGeom>
        </p:spPr>
        <p:txBody>
          <a:bodyPr lIns="0" tIns="0" rIns="0" bIns="0" rtlCol="0" anchor="t">
            <a:spAutoFit/>
          </a:bodyPr>
          <a:lstStyle/>
          <a:p>
            <a:pPr algn="l">
              <a:lnSpc>
                <a:spcPts val="4233"/>
              </a:lnSpc>
            </a:pPr>
            <a:endParaRP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Hệ thống là nền tảng thương mại điện tử, đóng vai trò trung gian kết nối người mua và người bán.</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Người bán đăng ký tài khoản và đăng tải sản phẩm với các thông tin như tên, giá, số lượng, mô tả, hình ảnh.</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Người mua truy cập hệ thống để tìm kiếm, xem sản phẩm, thêm vào giỏ hàng và đặt hàng.</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Sau khi đặt hàng, hệ thống kiểm tra tính hợp lệ của đơn hàng, tính tổng tiền, phí vận chuyển và xử lý thanh toán.</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Khi đơn hàng được xác nhận, hệ thống thông báo cho người bán để chuẩn bị hàng và giao hàng.</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Hệ thống có nhiệm vụ quản lý dữ liệu người dùng, sản phẩm, đơn hàng và đồng bộ trạng thái giao dịch.</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Ngoài ra, hệ thống hỗ trợ thanh toán an toàn, gửi thông báo và lưu trữ lịch sử giao dịch.</a:t>
            </a:r>
          </a:p>
          <a:p>
            <a:pPr marL="714063" lvl="1" indent="-357032" algn="l">
              <a:lnSpc>
                <a:spcPts val="4233"/>
              </a:lnSpc>
              <a:buFont typeface="Arial"/>
              <a:buChar char="•"/>
            </a:pPr>
            <a:r>
              <a:rPr lang="en-US" sz="3307" spc="-82">
                <a:solidFill>
                  <a:srgbClr val="383838"/>
                </a:solidFill>
                <a:latin typeface="Decalotype"/>
                <a:ea typeface="Decalotype"/>
                <a:cs typeface="Decalotype"/>
                <a:sym typeface="Decalotype"/>
              </a:rPr>
              <a:t>Sau khi nhận hàng, người mua có thể đánh giá sản phẩm để hỗ trợ những khách hàng khác và nâng cao chất lượng dịch vụ.</a:t>
            </a:r>
          </a:p>
        </p:txBody>
      </p:sp>
    </p:spTree>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1535166" y="1521790"/>
            <a:ext cx="6790371" cy="8569252"/>
          </a:xfrm>
          <a:prstGeom prst="rect">
            <a:avLst/>
          </a:prstGeom>
        </p:spPr>
        <p:txBody>
          <a:bodyPr lIns="0" tIns="0" rIns="0" bIns="0" rtlCol="0" anchor="t">
            <a:spAutoFit/>
          </a:bodyPr>
          <a:lstStyle/>
          <a:p>
            <a:pPr algn="l">
              <a:lnSpc>
                <a:spcPts val="3822"/>
              </a:lnSpc>
            </a:pPr>
            <a:r>
              <a:rPr lang="en-US" sz="2986" spc="-74">
                <a:solidFill>
                  <a:srgbClr val="383838"/>
                </a:solidFill>
                <a:latin typeface="Decalotype"/>
                <a:ea typeface="Decalotype"/>
                <a:cs typeface="Decalotype"/>
                <a:sym typeface="Decalotype"/>
              </a:rPr>
              <a:t>Đối với người mua (Customer):</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Đăng ký, đăng nhập tài khoản.</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Tìm kiếm và xem thông tin sản phẩm.</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Thêm sản phẩm vào giỏ hàng.</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Đặt hàng và thanh toán.</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Theo dõi trạng thái đơn hàng.</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Đánh giá và nhận xét sản phẩm.</a:t>
            </a:r>
          </a:p>
          <a:p>
            <a:pPr algn="l">
              <a:lnSpc>
                <a:spcPts val="3822"/>
              </a:lnSpc>
            </a:pPr>
            <a:r>
              <a:rPr lang="en-US" sz="2986" spc="-74">
                <a:solidFill>
                  <a:srgbClr val="383838"/>
                </a:solidFill>
                <a:latin typeface="Decalotype"/>
                <a:ea typeface="Decalotype"/>
                <a:cs typeface="Decalotype"/>
                <a:sym typeface="Decalotype"/>
              </a:rPr>
              <a:t>Đối với người bán (Seller):</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Đăng ký tài khoản người bán.</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Đăng sản phẩm lên hệ thống.</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Quản lý thông tin sản phẩm.</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Nhận và xử lý đơn hàng.</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Theo dõi doanh thu và thống kê bán hàng.</a:t>
            </a:r>
          </a:p>
          <a:p>
            <a:pPr algn="l">
              <a:lnSpc>
                <a:spcPts val="3822"/>
              </a:lnSpc>
            </a:pPr>
            <a:r>
              <a:rPr lang="en-US" sz="2986" spc="-74">
                <a:solidFill>
                  <a:srgbClr val="383838"/>
                </a:solidFill>
                <a:latin typeface="Decalotype"/>
                <a:ea typeface="Decalotype"/>
                <a:cs typeface="Decalotype"/>
                <a:sym typeface="Decalotype"/>
              </a:rPr>
              <a:t>Đối với quản trị viên (Admin):</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Quản lý người dùng trong hệ thống.</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Kiểm duyệt sản phẩm.</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Quản lý đơn hàng và giao dịch.</a:t>
            </a:r>
          </a:p>
          <a:p>
            <a:pPr marL="644693" lvl="1" indent="-322346" algn="l">
              <a:lnSpc>
                <a:spcPts val="3822"/>
              </a:lnSpc>
              <a:buFont typeface="Arial"/>
              <a:buChar char="•"/>
            </a:pPr>
            <a:r>
              <a:rPr lang="en-US" sz="2986" spc="-74">
                <a:solidFill>
                  <a:srgbClr val="383838"/>
                </a:solidFill>
                <a:latin typeface="Decalotype"/>
                <a:ea typeface="Decalotype"/>
                <a:cs typeface="Decalotype"/>
                <a:sym typeface="Decalotype"/>
              </a:rPr>
              <a:t>Xem báo cáo, thống kê để hỗ trợ quản lý.</a:t>
            </a:r>
          </a:p>
        </p:txBody>
      </p:sp>
      <p:sp>
        <p:nvSpPr>
          <p:cNvPr id="4" name="Freeform 4"/>
          <p:cNvSpPr/>
          <p:nvPr/>
        </p:nvSpPr>
        <p:spPr>
          <a:xfrm>
            <a:off x="8325538" y="2477529"/>
            <a:ext cx="9694679" cy="6459080"/>
          </a:xfrm>
          <a:custGeom>
            <a:avLst/>
            <a:gdLst/>
            <a:ahLst/>
            <a:cxnLst/>
            <a:rect l="l" t="t" r="r" b="b"/>
            <a:pathLst>
              <a:path w="9694679" h="6459080">
                <a:moveTo>
                  <a:pt x="0" y="0"/>
                </a:moveTo>
                <a:lnTo>
                  <a:pt x="9694679" y="0"/>
                </a:lnTo>
                <a:lnTo>
                  <a:pt x="9694679" y="6459080"/>
                </a:lnTo>
                <a:lnTo>
                  <a:pt x="0" y="6459080"/>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279193" y="468728"/>
            <a:ext cx="10846244"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User story</a:t>
            </a:r>
          </a:p>
        </p:txBody>
      </p:sp>
      <p:sp>
        <p:nvSpPr>
          <p:cNvPr id="6" name="TextBox 6"/>
          <p:cNvSpPr txBox="1"/>
          <p:nvPr/>
        </p:nvSpPr>
        <p:spPr>
          <a:xfrm>
            <a:off x="10876828" y="9229725"/>
            <a:ext cx="4133156" cy="465761"/>
          </a:xfrm>
          <a:prstGeom prst="rect">
            <a:avLst/>
          </a:prstGeom>
        </p:spPr>
        <p:txBody>
          <a:bodyPr lIns="0" tIns="0" rIns="0" bIns="0" rtlCol="0" anchor="t">
            <a:spAutoFit/>
          </a:bodyPr>
          <a:lstStyle/>
          <a:p>
            <a:pPr algn="ctr">
              <a:lnSpc>
                <a:spcPts val="3721"/>
              </a:lnSpc>
              <a:spcBef>
                <a:spcPct val="0"/>
              </a:spcBef>
            </a:pPr>
            <a:r>
              <a:rPr lang="en-US" sz="2907" i="1" spc="-72">
                <a:solidFill>
                  <a:srgbClr val="383838"/>
                </a:solidFill>
                <a:latin typeface="Decalotype Italics"/>
                <a:ea typeface="Decalotype Italics"/>
                <a:cs typeface="Decalotype Italics"/>
                <a:sym typeface="Decalotype Italics"/>
              </a:rPr>
              <a:t>Hình 5 : User story của hệ thống </a:t>
            </a:r>
          </a:p>
        </p:txBody>
      </p:sp>
    </p:spTree>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3802057" y="3063240"/>
            <a:ext cx="11460150" cy="6315943"/>
          </a:xfrm>
          <a:custGeom>
            <a:avLst/>
            <a:gdLst/>
            <a:ahLst/>
            <a:cxnLst/>
            <a:rect l="l" t="t" r="r" b="b"/>
            <a:pathLst>
              <a:path w="11460150" h="6315943">
                <a:moveTo>
                  <a:pt x="0" y="0"/>
                </a:moveTo>
                <a:lnTo>
                  <a:pt x="11460150" y="0"/>
                </a:lnTo>
                <a:lnTo>
                  <a:pt x="11460150" y="6315944"/>
                </a:lnTo>
                <a:lnTo>
                  <a:pt x="0" y="6315944"/>
                </a:lnTo>
                <a:lnTo>
                  <a:pt x="0" y="0"/>
                </a:lnTo>
                <a:close/>
              </a:path>
            </a:pathLst>
          </a:custGeom>
          <a:blipFill>
            <a:blip r:embed="rId2"/>
            <a:stretch>
              <a:fillRect t="-13076" b="-781"/>
            </a:stretch>
          </a:blipFill>
        </p:spPr>
        <p:txBody>
          <a:bodyPr/>
          <a:lstStyle/>
          <a:p>
            <a:endParaRPr lang="en-US"/>
          </a:p>
        </p:txBody>
      </p:sp>
      <p:sp>
        <p:nvSpPr>
          <p:cNvPr id="3" name="TextBox 3"/>
          <p:cNvSpPr txBox="1"/>
          <p:nvPr/>
        </p:nvSpPr>
        <p:spPr>
          <a:xfrm>
            <a:off x="4213413" y="-47625"/>
            <a:ext cx="9144000" cy="806450"/>
          </a:xfrm>
          <a:prstGeom prst="rect">
            <a:avLst/>
          </a:prstGeom>
        </p:spPr>
        <p:txBody>
          <a:bodyPr lIns="0" tIns="0" rIns="0" bIns="0" rtlCol="0" anchor="t">
            <a:spAutoFit/>
          </a:bodyPr>
          <a:lstStyle/>
          <a:p>
            <a:pPr algn="ctr">
              <a:lnSpc>
                <a:spcPts val="6400"/>
              </a:lnSpc>
              <a:spcBef>
                <a:spcPct val="0"/>
              </a:spcBef>
            </a:pPr>
            <a:r>
              <a:rPr lang="en-US" sz="5000" b="1" spc="-125">
                <a:solidFill>
                  <a:srgbClr val="000000"/>
                </a:solidFill>
                <a:latin typeface="Noto Sans Bold"/>
                <a:ea typeface="Noto Sans Bold"/>
                <a:cs typeface="Noto Sans Bold"/>
                <a:sym typeface="Noto Sans Bold"/>
              </a:rPr>
              <a:t>SƠ ĐỒ KIẾN TRÚC HỆ THỐNG</a:t>
            </a:r>
          </a:p>
        </p:txBody>
      </p:sp>
      <p:sp>
        <p:nvSpPr>
          <p:cNvPr id="4" name="TextBox 4"/>
          <p:cNvSpPr txBox="1"/>
          <p:nvPr/>
        </p:nvSpPr>
        <p:spPr>
          <a:xfrm>
            <a:off x="6971842" y="9626834"/>
            <a:ext cx="5120580" cy="474344"/>
          </a:xfrm>
          <a:prstGeom prst="rect">
            <a:avLst/>
          </a:prstGeom>
        </p:spPr>
        <p:txBody>
          <a:bodyPr lIns="0" tIns="0" rIns="0" bIns="0" rtlCol="0" anchor="t">
            <a:spAutoFit/>
          </a:bodyPr>
          <a:lstStyle/>
          <a:p>
            <a:pPr algn="ctr">
              <a:lnSpc>
                <a:spcPts val="3840"/>
              </a:lnSpc>
              <a:spcBef>
                <a:spcPct val="0"/>
              </a:spcBef>
            </a:pPr>
            <a:r>
              <a:rPr lang="en-US" sz="3000" i="1" spc="-75">
                <a:solidFill>
                  <a:srgbClr val="000000"/>
                </a:solidFill>
                <a:latin typeface="Noto Sans Italics"/>
                <a:ea typeface="Noto Sans Italics"/>
                <a:cs typeface="Noto Sans Italics"/>
                <a:sym typeface="Noto Sans Italics"/>
              </a:rPr>
              <a:t>Hình 6: Sơ đồ kiến trúc hệ thống</a:t>
            </a:r>
          </a:p>
        </p:txBody>
      </p:sp>
      <p:sp>
        <p:nvSpPr>
          <p:cNvPr id="5" name="TextBox 5"/>
          <p:cNvSpPr txBox="1"/>
          <p:nvPr/>
        </p:nvSpPr>
        <p:spPr>
          <a:xfrm>
            <a:off x="1601977" y="1593533"/>
            <a:ext cx="12569152" cy="1312545"/>
          </a:xfrm>
          <a:prstGeom prst="rect">
            <a:avLst/>
          </a:prstGeom>
        </p:spPr>
        <p:txBody>
          <a:bodyPr lIns="0" tIns="0" rIns="0" bIns="0" rtlCol="0" anchor="t">
            <a:spAutoFit/>
          </a:bodyPr>
          <a:lstStyle/>
          <a:p>
            <a:pPr marL="531111" lvl="1" indent="-265555" algn="just">
              <a:lnSpc>
                <a:spcPts val="3566"/>
              </a:lnSpc>
              <a:buFont typeface="Arial"/>
              <a:buChar char="•"/>
            </a:pPr>
            <a:r>
              <a:rPr lang="en-US" sz="2459">
                <a:solidFill>
                  <a:srgbClr val="383838"/>
                </a:solidFill>
                <a:latin typeface="Noto Sans"/>
                <a:ea typeface="Noto Sans"/>
                <a:cs typeface="Noto Sans"/>
                <a:sym typeface="Noto Sans"/>
              </a:rPr>
              <a:t>Phù hợp với hệ thống thương mại điện tử có nhiều chức năng.</a:t>
            </a:r>
          </a:p>
          <a:p>
            <a:pPr marL="531111" lvl="1" indent="-265555" algn="just">
              <a:lnSpc>
                <a:spcPts val="3566"/>
              </a:lnSpc>
              <a:buFont typeface="Arial"/>
              <a:buChar char="•"/>
            </a:pPr>
            <a:r>
              <a:rPr lang="en-US" sz="2459">
                <a:solidFill>
                  <a:srgbClr val="383838"/>
                </a:solidFill>
                <a:latin typeface="Noto Sans"/>
                <a:ea typeface="Noto Sans"/>
                <a:cs typeface="Noto Sans"/>
                <a:sym typeface="Noto Sans"/>
              </a:rPr>
              <a:t>Dễ mở rộng theo từng nghiệp vụ.</a:t>
            </a:r>
          </a:p>
          <a:p>
            <a:pPr marL="531111" lvl="1" indent="-265555" algn="just">
              <a:lnSpc>
                <a:spcPts val="3566"/>
              </a:lnSpc>
              <a:buFont typeface="Arial"/>
              <a:buChar char="•"/>
            </a:pPr>
            <a:r>
              <a:rPr lang="en-US" sz="2459">
                <a:solidFill>
                  <a:srgbClr val="383838"/>
                </a:solidFill>
                <a:latin typeface="Noto Sans"/>
                <a:ea typeface="Noto Sans"/>
                <a:cs typeface="Noto Sans"/>
                <a:sym typeface="Noto Sans"/>
              </a:rPr>
              <a:t>Tăng khả năng bảo trì và phát triển hệ thống trong tương lai.</a:t>
            </a:r>
          </a:p>
        </p:txBody>
      </p:sp>
      <p:sp>
        <p:nvSpPr>
          <p:cNvPr id="6" name="TextBox 6"/>
          <p:cNvSpPr txBox="1"/>
          <p:nvPr/>
        </p:nvSpPr>
        <p:spPr>
          <a:xfrm>
            <a:off x="1601977" y="1009650"/>
            <a:ext cx="13660231" cy="474345"/>
          </a:xfrm>
          <a:prstGeom prst="rect">
            <a:avLst/>
          </a:prstGeom>
        </p:spPr>
        <p:txBody>
          <a:bodyPr lIns="0" tIns="0" rIns="0" bIns="0" rtlCol="0" anchor="t">
            <a:spAutoFit/>
          </a:bodyPr>
          <a:lstStyle/>
          <a:p>
            <a:pPr algn="just">
              <a:lnSpc>
                <a:spcPts val="3840"/>
              </a:lnSpc>
              <a:spcBef>
                <a:spcPct val="0"/>
              </a:spcBef>
            </a:pPr>
            <a:r>
              <a:rPr lang="en-US" sz="3000" b="1" spc="-75">
                <a:solidFill>
                  <a:srgbClr val="383838"/>
                </a:solidFill>
                <a:latin typeface="Noto Sans Bold"/>
                <a:ea typeface="Noto Sans Bold"/>
                <a:cs typeface="Noto Sans Bold"/>
                <a:sym typeface="Noto Sans Bold"/>
              </a:rPr>
              <a:t>Tại sao lại sử dụng kiến trúc microservices?</a:t>
            </a:r>
          </a:p>
        </p:txBody>
      </p:sp>
    </p:spTree>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131822" y="2512901"/>
            <a:ext cx="14673135" cy="5743154"/>
          </a:xfrm>
          <a:custGeom>
            <a:avLst/>
            <a:gdLst/>
            <a:ahLst/>
            <a:cxnLst/>
            <a:rect l="l" t="t" r="r" b="b"/>
            <a:pathLst>
              <a:path w="14673135" h="5743154">
                <a:moveTo>
                  <a:pt x="0" y="0"/>
                </a:moveTo>
                <a:lnTo>
                  <a:pt x="14673135" y="0"/>
                </a:lnTo>
                <a:lnTo>
                  <a:pt x="14673135" y="5743155"/>
                </a:lnTo>
                <a:lnTo>
                  <a:pt x="0" y="5743155"/>
                </a:lnTo>
                <a:lnTo>
                  <a:pt x="0" y="0"/>
                </a:lnTo>
                <a:close/>
              </a:path>
            </a:pathLst>
          </a:custGeom>
          <a:blipFill>
            <a:blip r:embed="rId3"/>
            <a:stretch>
              <a:fillRect r="-1393"/>
            </a:stretch>
          </a:blipFill>
        </p:spPr>
        <p:txBody>
          <a:bodyPr/>
          <a:lstStyle/>
          <a:p>
            <a:endParaRPr lang="en-US"/>
          </a:p>
        </p:txBody>
      </p:sp>
      <p:sp>
        <p:nvSpPr>
          <p:cNvPr id="4" name="TextBox 4"/>
          <p:cNvSpPr txBox="1"/>
          <p:nvPr/>
        </p:nvSpPr>
        <p:spPr>
          <a:xfrm>
            <a:off x="1028700" y="990600"/>
            <a:ext cx="15648032" cy="823468"/>
          </a:xfrm>
          <a:prstGeom prst="rect">
            <a:avLst/>
          </a:prstGeom>
        </p:spPr>
        <p:txBody>
          <a:bodyPr lIns="0" tIns="0" rIns="0" bIns="0" rtlCol="0" anchor="t">
            <a:spAutoFit/>
          </a:bodyPr>
          <a:lstStyle/>
          <a:p>
            <a:pPr algn="ctr">
              <a:lnSpc>
                <a:spcPts val="6655"/>
              </a:lnSpc>
              <a:spcBef>
                <a:spcPct val="0"/>
              </a:spcBef>
            </a:pPr>
            <a:r>
              <a:rPr lang="en-US" sz="5199" b="1" spc="-129">
                <a:solidFill>
                  <a:srgbClr val="383838"/>
                </a:solidFill>
                <a:latin typeface="Noto Sans Bold"/>
                <a:ea typeface="Noto Sans Bold"/>
                <a:cs typeface="Noto Sans Bold"/>
                <a:sym typeface="Noto Sans Bold"/>
              </a:rPr>
              <a:t>CẤU TRÚC HỆ THỐNG</a:t>
            </a:r>
          </a:p>
        </p:txBody>
      </p:sp>
      <p:sp>
        <p:nvSpPr>
          <p:cNvPr id="5" name="TextBox 5"/>
          <p:cNvSpPr txBox="1"/>
          <p:nvPr/>
        </p:nvSpPr>
        <p:spPr>
          <a:xfrm>
            <a:off x="7428446" y="8654351"/>
            <a:ext cx="4793159" cy="545465"/>
          </a:xfrm>
          <a:prstGeom prst="rect">
            <a:avLst/>
          </a:prstGeom>
        </p:spPr>
        <p:txBody>
          <a:bodyPr lIns="0" tIns="0" rIns="0" bIns="0" rtlCol="0" anchor="t">
            <a:spAutoFit/>
          </a:bodyPr>
          <a:lstStyle/>
          <a:p>
            <a:pPr algn="ctr">
              <a:lnSpc>
                <a:spcPts val="4480"/>
              </a:lnSpc>
              <a:spcBef>
                <a:spcPct val="0"/>
              </a:spcBef>
            </a:pPr>
            <a:r>
              <a:rPr lang="en-US" sz="3500" i="1" spc="-87">
                <a:solidFill>
                  <a:srgbClr val="383838"/>
                </a:solidFill>
                <a:latin typeface="Noto Sans Italics"/>
                <a:ea typeface="Noto Sans Italics"/>
                <a:cs typeface="Noto Sans Italics"/>
                <a:sym typeface="Noto Sans Italics"/>
              </a:rPr>
              <a:t>Hình 7: Cấu trúc hệ thống</a:t>
            </a:r>
          </a:p>
        </p:txBody>
      </p:sp>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3418880" y="1624807"/>
            <a:ext cx="11450240" cy="7633493"/>
          </a:xfrm>
          <a:custGeom>
            <a:avLst/>
            <a:gdLst/>
            <a:ahLst/>
            <a:cxnLst/>
            <a:rect l="l" t="t" r="r" b="b"/>
            <a:pathLst>
              <a:path w="11450240" h="7633493">
                <a:moveTo>
                  <a:pt x="0" y="0"/>
                </a:moveTo>
                <a:lnTo>
                  <a:pt x="11450240" y="0"/>
                </a:lnTo>
                <a:lnTo>
                  <a:pt x="11450240" y="7633493"/>
                </a:lnTo>
                <a:lnTo>
                  <a:pt x="0" y="763349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429351" y="588428"/>
            <a:ext cx="5912205"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Triển khai hệ thống</a:t>
            </a:r>
          </a:p>
        </p:txBody>
      </p:sp>
      <p:sp>
        <p:nvSpPr>
          <p:cNvPr id="5" name="TextBox 5"/>
          <p:cNvSpPr txBox="1"/>
          <p:nvPr/>
        </p:nvSpPr>
        <p:spPr>
          <a:xfrm>
            <a:off x="7952711" y="9570466"/>
            <a:ext cx="3027759" cy="321564"/>
          </a:xfrm>
          <a:prstGeom prst="rect">
            <a:avLst/>
          </a:prstGeom>
        </p:spPr>
        <p:txBody>
          <a:bodyPr lIns="0" tIns="0" rIns="0" bIns="0" rtlCol="0" anchor="t">
            <a:spAutoFit/>
          </a:bodyPr>
          <a:lstStyle/>
          <a:p>
            <a:pPr algn="ctr">
              <a:lnSpc>
                <a:spcPts val="2688"/>
              </a:lnSpc>
              <a:spcBef>
                <a:spcPct val="0"/>
              </a:spcBef>
            </a:pPr>
            <a:r>
              <a:rPr lang="en-US" sz="2100" i="1" spc="-52">
                <a:solidFill>
                  <a:srgbClr val="383838"/>
                </a:solidFill>
                <a:latin typeface="Noto Sans Italics"/>
                <a:ea typeface="Noto Sans Italics"/>
                <a:cs typeface="Noto Sans Italics"/>
                <a:sym typeface="Noto Sans Italics"/>
              </a:rPr>
              <a:t>Hình 8: Triển khai hệ thống</a:t>
            </a:r>
          </a:p>
        </p:txBody>
      </p:sp>
    </p:spTree>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9144000" y="0"/>
            <a:ext cx="7535921" cy="9258300"/>
          </a:xfrm>
          <a:custGeom>
            <a:avLst/>
            <a:gdLst/>
            <a:ahLst/>
            <a:cxnLst/>
            <a:rect l="l" t="t" r="r" b="b"/>
            <a:pathLst>
              <a:path w="7535921" h="9258300">
                <a:moveTo>
                  <a:pt x="0" y="0"/>
                </a:moveTo>
                <a:lnTo>
                  <a:pt x="7535921" y="0"/>
                </a:lnTo>
                <a:lnTo>
                  <a:pt x="7535921" y="9258300"/>
                </a:lnTo>
                <a:lnTo>
                  <a:pt x="0" y="9258300"/>
                </a:lnTo>
                <a:lnTo>
                  <a:pt x="0" y="0"/>
                </a:lnTo>
                <a:close/>
              </a:path>
            </a:pathLst>
          </a:custGeom>
          <a:blipFill>
            <a:blip r:embed="rId3"/>
            <a:stretch>
              <a:fillRect t="-854" b="-854"/>
            </a:stretch>
          </a:blipFill>
        </p:spPr>
        <p:txBody>
          <a:bodyPr/>
          <a:lstStyle/>
          <a:p>
            <a:endParaRPr lang="en-US"/>
          </a:p>
        </p:txBody>
      </p:sp>
      <p:sp>
        <p:nvSpPr>
          <p:cNvPr id="4" name="TextBox 4"/>
          <p:cNvSpPr txBox="1"/>
          <p:nvPr/>
        </p:nvSpPr>
        <p:spPr>
          <a:xfrm>
            <a:off x="-2601432" y="-47625"/>
            <a:ext cx="13821250" cy="832919"/>
          </a:xfrm>
          <a:prstGeom prst="rect">
            <a:avLst/>
          </a:prstGeom>
        </p:spPr>
        <p:txBody>
          <a:bodyPr lIns="0" tIns="0" rIns="0" bIns="0" rtlCol="0" anchor="t">
            <a:spAutoFit/>
          </a:bodyPr>
          <a:lstStyle/>
          <a:p>
            <a:pPr algn="ctr">
              <a:lnSpc>
                <a:spcPts val="6665"/>
              </a:lnSpc>
              <a:spcBef>
                <a:spcPct val="0"/>
              </a:spcBef>
            </a:pPr>
            <a:r>
              <a:rPr lang="en-US" sz="5207" b="1" spc="-130">
                <a:solidFill>
                  <a:srgbClr val="383838"/>
                </a:solidFill>
                <a:latin typeface="Decalotype Bold"/>
                <a:ea typeface="Decalotype Bold"/>
                <a:cs typeface="Decalotype Bold"/>
                <a:sym typeface="Decalotype Bold"/>
              </a:rPr>
              <a:t>Kiến trúc triển khai hệ thống</a:t>
            </a:r>
          </a:p>
        </p:txBody>
      </p:sp>
      <p:sp>
        <p:nvSpPr>
          <p:cNvPr id="5" name="TextBox 5"/>
          <p:cNvSpPr txBox="1"/>
          <p:nvPr/>
        </p:nvSpPr>
        <p:spPr>
          <a:xfrm>
            <a:off x="1437617" y="1213804"/>
            <a:ext cx="7477225" cy="8535670"/>
          </a:xfrm>
          <a:prstGeom prst="rect">
            <a:avLst/>
          </a:prstGeom>
        </p:spPr>
        <p:txBody>
          <a:bodyPr lIns="0" tIns="0" rIns="0" bIns="0" rtlCol="0" anchor="t">
            <a:spAutoFit/>
          </a:bodyPr>
          <a:lstStyle/>
          <a:p>
            <a:pPr algn="l">
              <a:lnSpc>
                <a:spcPts val="2986"/>
              </a:lnSpc>
              <a:spcBef>
                <a:spcPct val="0"/>
              </a:spcBef>
            </a:pPr>
            <a:r>
              <a:rPr lang="en-US" sz="2059">
                <a:solidFill>
                  <a:srgbClr val="383838"/>
                </a:solidFill>
                <a:latin typeface="Decalotype"/>
                <a:ea typeface="Decalotype"/>
                <a:cs typeface="Decalotype"/>
                <a:sym typeface="Decalotype"/>
              </a:rPr>
              <a:t>Hệ thống được xây dựng theo mô hình tách Frontend – Backend kết hợp Microservices, giúp mở rộng và bảo trì dễ dàng.</a:t>
            </a:r>
          </a:p>
          <a:p>
            <a:pPr algn="l">
              <a:lnSpc>
                <a:spcPts val="2986"/>
              </a:lnSpc>
              <a:spcBef>
                <a:spcPct val="0"/>
              </a:spcBef>
            </a:pPr>
            <a:r>
              <a:rPr lang="en-US" sz="2059">
                <a:solidFill>
                  <a:srgbClr val="383838"/>
                </a:solidFill>
                <a:latin typeface="Decalotype"/>
                <a:ea typeface="Decalotype"/>
                <a:cs typeface="Decalotype"/>
                <a:sym typeface="Decalotype"/>
              </a:rPr>
              <a:t>Frontend:</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Xây dựng bằng Next.js</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Deploy trên Vercel (tự động build &amp; cập nhật)</a:t>
            </a:r>
          </a:p>
          <a:p>
            <a:pPr algn="l">
              <a:lnSpc>
                <a:spcPts val="2986"/>
              </a:lnSpc>
              <a:spcBef>
                <a:spcPct val="0"/>
              </a:spcBef>
            </a:pPr>
            <a:r>
              <a:rPr lang="en-US" sz="2059">
                <a:solidFill>
                  <a:srgbClr val="383838"/>
                </a:solidFill>
                <a:latin typeface="Decalotype"/>
                <a:ea typeface="Decalotype"/>
                <a:cs typeface="Decalotype"/>
                <a:sym typeface="Decalotype"/>
              </a:rPr>
              <a:t>Backend:</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Gồm nhiều microservice (NestJS, Node.js)</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Triển khai bằng Docker Compose</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Các service hoạt động độc lập, giao tiếp qua API</a:t>
            </a:r>
          </a:p>
          <a:p>
            <a:pPr algn="l">
              <a:lnSpc>
                <a:spcPts val="2986"/>
              </a:lnSpc>
              <a:spcBef>
                <a:spcPct val="0"/>
              </a:spcBef>
            </a:pPr>
            <a:r>
              <a:rPr lang="en-US" sz="2059">
                <a:solidFill>
                  <a:srgbClr val="383838"/>
                </a:solidFill>
                <a:latin typeface="Decalotype"/>
                <a:ea typeface="Decalotype"/>
                <a:cs typeface="Decalotype"/>
                <a:sym typeface="Decalotype"/>
              </a:rPr>
              <a:t>API Gateway:</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Trung gian giữa client và microservices</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Thực hiện định tuyến request đến đúng service</a:t>
            </a:r>
          </a:p>
          <a:p>
            <a:pPr algn="l">
              <a:lnSpc>
                <a:spcPts val="2986"/>
              </a:lnSpc>
              <a:spcBef>
                <a:spcPct val="0"/>
              </a:spcBef>
            </a:pPr>
            <a:r>
              <a:rPr lang="en-US" sz="2059">
                <a:solidFill>
                  <a:srgbClr val="383838"/>
                </a:solidFill>
                <a:latin typeface="Decalotype"/>
                <a:ea typeface="Decalotype"/>
                <a:cs typeface="Decalotype"/>
                <a:sym typeface="Decalotype"/>
              </a:rPr>
              <a:t>Database:</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Sử dụng PostgreSQL + TypeORM</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Lưu trữ: sản phẩm, người dùng, đơn hàng, tồn kho</a:t>
            </a:r>
          </a:p>
          <a:p>
            <a:pPr algn="l">
              <a:lnSpc>
                <a:spcPts val="2986"/>
              </a:lnSpc>
              <a:spcBef>
                <a:spcPct val="0"/>
              </a:spcBef>
            </a:pPr>
            <a:r>
              <a:rPr lang="en-US" sz="2059">
                <a:solidFill>
                  <a:srgbClr val="383838"/>
                </a:solidFill>
                <a:latin typeface="Decalotype"/>
                <a:ea typeface="Decalotype"/>
                <a:cs typeface="Decalotype"/>
                <a:sym typeface="Decalotype"/>
              </a:rPr>
              <a:t>Luồng hoạt động:</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User truy cập website (Vercel)</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Frontend gửi request → API Gateway</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Gateway chuyển đến microservice phù hợp</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Service xử lý &amp; truy vấn database</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Trả kết quả → Gateway → Frontend</a:t>
            </a:r>
          </a:p>
          <a:p>
            <a:pPr algn="l">
              <a:lnSpc>
                <a:spcPts val="2986"/>
              </a:lnSpc>
              <a:spcBef>
                <a:spcPct val="0"/>
              </a:spcBef>
            </a:pPr>
            <a:r>
              <a:rPr lang="en-US" sz="2059">
                <a:solidFill>
                  <a:srgbClr val="383838"/>
                </a:solidFill>
                <a:latin typeface="Decalotype"/>
                <a:ea typeface="Decalotype"/>
                <a:cs typeface="Decalotype"/>
                <a:sym typeface="Decalotype"/>
              </a:rPr>
              <a:t>Công cụ hỗ trợ:</a:t>
            </a:r>
          </a:p>
          <a:p>
            <a:pPr marL="444753" lvl="1" indent="-222376" algn="l">
              <a:lnSpc>
                <a:spcPts val="2986"/>
              </a:lnSpc>
              <a:buFont typeface="Arial"/>
              <a:buChar char="•"/>
            </a:pPr>
            <a:r>
              <a:rPr lang="en-US" sz="2059">
                <a:solidFill>
                  <a:srgbClr val="383838"/>
                </a:solidFill>
                <a:latin typeface="Decalotype"/>
                <a:ea typeface="Decalotype"/>
                <a:cs typeface="Decalotype"/>
                <a:sym typeface="Decalotype"/>
              </a:rPr>
              <a:t>Postman để test API</a:t>
            </a:r>
          </a:p>
        </p:txBody>
      </p:sp>
      <p:sp>
        <p:nvSpPr>
          <p:cNvPr id="6" name="TextBox 6"/>
          <p:cNvSpPr txBox="1"/>
          <p:nvPr/>
        </p:nvSpPr>
        <p:spPr>
          <a:xfrm>
            <a:off x="9269036" y="9570466"/>
            <a:ext cx="7535921" cy="321564"/>
          </a:xfrm>
          <a:prstGeom prst="rect">
            <a:avLst/>
          </a:prstGeom>
        </p:spPr>
        <p:txBody>
          <a:bodyPr lIns="0" tIns="0" rIns="0" bIns="0" rtlCol="0" anchor="t">
            <a:spAutoFit/>
          </a:bodyPr>
          <a:lstStyle/>
          <a:p>
            <a:pPr algn="ctr">
              <a:lnSpc>
                <a:spcPts val="2687"/>
              </a:lnSpc>
              <a:spcBef>
                <a:spcPct val="0"/>
              </a:spcBef>
            </a:pPr>
            <a:r>
              <a:rPr lang="en-US" sz="2099" i="1" spc="-52">
                <a:solidFill>
                  <a:srgbClr val="383838"/>
                </a:solidFill>
                <a:latin typeface="Noto Sans Italics"/>
                <a:ea typeface="Noto Sans Italics"/>
                <a:cs typeface="Noto Sans Italics"/>
                <a:sym typeface="Noto Sans Italics"/>
              </a:rPr>
              <a:t> Hình 9: Kiến trúc triển khai hệ thống</a:t>
            </a:r>
          </a:p>
        </p:txBody>
      </p:sp>
    </p:spTree>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352301" y="2855657"/>
            <a:ext cx="8621049" cy="5747366"/>
          </a:xfrm>
          <a:custGeom>
            <a:avLst/>
            <a:gdLst/>
            <a:ahLst/>
            <a:cxnLst/>
            <a:rect l="l" t="t" r="r" b="b"/>
            <a:pathLst>
              <a:path w="8621049" h="5747366">
                <a:moveTo>
                  <a:pt x="0" y="0"/>
                </a:moveTo>
                <a:lnTo>
                  <a:pt x="8621049" y="0"/>
                </a:lnTo>
                <a:lnTo>
                  <a:pt x="8621049" y="5747366"/>
                </a:lnTo>
                <a:lnTo>
                  <a:pt x="0" y="574736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990600"/>
            <a:ext cx="8449921" cy="823394"/>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Noto Sans Bold"/>
                <a:ea typeface="Noto Sans Bold"/>
                <a:cs typeface="Noto Sans Bold"/>
                <a:sym typeface="Noto Sans Bold"/>
              </a:rPr>
              <a:t>Công nghệ áp dụng</a:t>
            </a:r>
          </a:p>
        </p:txBody>
      </p:sp>
      <p:sp>
        <p:nvSpPr>
          <p:cNvPr id="5" name="TextBox 5"/>
          <p:cNvSpPr txBox="1"/>
          <p:nvPr/>
        </p:nvSpPr>
        <p:spPr>
          <a:xfrm>
            <a:off x="1352301" y="2086037"/>
            <a:ext cx="2956768" cy="474345"/>
          </a:xfrm>
          <a:prstGeom prst="rect">
            <a:avLst/>
          </a:prstGeom>
        </p:spPr>
        <p:txBody>
          <a:bodyPr lIns="0" tIns="0" rIns="0" bIns="0" rtlCol="0" anchor="t">
            <a:spAutoFit/>
          </a:bodyPr>
          <a:lstStyle/>
          <a:p>
            <a:pPr algn="ctr">
              <a:lnSpc>
                <a:spcPts val="3840"/>
              </a:lnSpc>
              <a:spcBef>
                <a:spcPct val="0"/>
              </a:spcBef>
            </a:pPr>
            <a:r>
              <a:rPr lang="en-US" sz="3000" b="1" spc="-75">
                <a:solidFill>
                  <a:srgbClr val="383838"/>
                </a:solidFill>
                <a:latin typeface="Noto Sans Bold"/>
                <a:ea typeface="Noto Sans Bold"/>
                <a:cs typeface="Noto Sans Bold"/>
                <a:sym typeface="Noto Sans Bold"/>
              </a:rPr>
              <a:t>Về cơ sở dữ liệu:</a:t>
            </a:r>
          </a:p>
        </p:txBody>
      </p:sp>
      <p:sp>
        <p:nvSpPr>
          <p:cNvPr id="6" name="TextBox 6"/>
          <p:cNvSpPr txBox="1"/>
          <p:nvPr/>
        </p:nvSpPr>
        <p:spPr>
          <a:xfrm>
            <a:off x="10993289" y="2304159"/>
            <a:ext cx="6141619" cy="6403900"/>
          </a:xfrm>
          <a:prstGeom prst="rect">
            <a:avLst/>
          </a:prstGeom>
        </p:spPr>
        <p:txBody>
          <a:bodyPr lIns="0" tIns="0" rIns="0" bIns="0" rtlCol="0" anchor="t">
            <a:spAutoFit/>
          </a:bodyPr>
          <a:lstStyle/>
          <a:p>
            <a:pPr algn="l">
              <a:lnSpc>
                <a:spcPts val="3209"/>
              </a:lnSpc>
            </a:pPr>
            <a:r>
              <a:rPr lang="en-US" sz="2507" spc="-62">
                <a:solidFill>
                  <a:srgbClr val="383838"/>
                </a:solidFill>
                <a:latin typeface="Decalotype"/>
                <a:ea typeface="Decalotype"/>
                <a:cs typeface="Decalotype"/>
                <a:sym typeface="Decalotype"/>
              </a:rPr>
              <a:t>PostgreSQL</a:t>
            </a:r>
          </a:p>
          <a:p>
            <a:pPr algn="l">
              <a:lnSpc>
                <a:spcPts val="3209"/>
              </a:lnSpc>
            </a:pPr>
            <a:r>
              <a:rPr lang="en-US" sz="2507" spc="-62">
                <a:solidFill>
                  <a:srgbClr val="383838"/>
                </a:solidFill>
                <a:latin typeface="Decalotype"/>
                <a:ea typeface="Decalotype"/>
                <a:cs typeface="Decalotype"/>
                <a:sym typeface="Decalotype"/>
              </a:rPr>
              <a:t>→ Dùng cho dữ liệu quan trọng</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Độ tin cậy cao (ACID)</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Xử lý giao dịch tốt</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Phù hợp: user, đơn hàng, thanh toán</a:t>
            </a:r>
          </a:p>
          <a:p>
            <a:pPr algn="l">
              <a:lnSpc>
                <a:spcPts val="3209"/>
              </a:lnSpc>
            </a:pPr>
            <a:r>
              <a:rPr lang="en-US" sz="2507" spc="-62">
                <a:solidFill>
                  <a:srgbClr val="383838"/>
                </a:solidFill>
                <a:latin typeface="Decalotype"/>
                <a:ea typeface="Decalotype"/>
                <a:cs typeface="Decalotype"/>
                <a:sym typeface="Decalotype"/>
              </a:rPr>
              <a:t>🔹 MongoDB</a:t>
            </a:r>
          </a:p>
          <a:p>
            <a:pPr algn="l">
              <a:lnSpc>
                <a:spcPts val="3209"/>
              </a:lnSpc>
            </a:pPr>
            <a:r>
              <a:rPr lang="en-US" sz="2507" spc="-62">
                <a:solidFill>
                  <a:srgbClr val="383838"/>
                </a:solidFill>
                <a:latin typeface="Decalotype"/>
                <a:ea typeface="Decalotype"/>
                <a:cs typeface="Decalotype"/>
                <a:sym typeface="Decalotype"/>
              </a:rPr>
              <a:t>→ Dùng cho dữ liệu linh hoạt, lớn</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Không cần schema (dễ thay đổi)</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Ghi nhanh, scale tốt</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Phù hợp: log, AI data, tracking</a:t>
            </a:r>
          </a:p>
          <a:p>
            <a:pPr algn="l">
              <a:lnSpc>
                <a:spcPts val="3209"/>
              </a:lnSpc>
            </a:pPr>
            <a:r>
              <a:rPr lang="en-US" sz="2507" spc="-62">
                <a:solidFill>
                  <a:srgbClr val="383838"/>
                </a:solidFill>
                <a:latin typeface="Decalotype"/>
                <a:ea typeface="Decalotype"/>
                <a:cs typeface="Decalotype"/>
                <a:sym typeface="Decalotype"/>
              </a:rPr>
              <a:t>🔹 MySQL</a:t>
            </a:r>
          </a:p>
          <a:p>
            <a:pPr algn="l">
              <a:lnSpc>
                <a:spcPts val="3209"/>
              </a:lnSpc>
            </a:pPr>
            <a:r>
              <a:rPr lang="en-US" sz="2507" spc="-62">
                <a:solidFill>
                  <a:srgbClr val="383838"/>
                </a:solidFill>
                <a:latin typeface="Decalotype"/>
                <a:ea typeface="Decalotype"/>
                <a:cs typeface="Decalotype"/>
                <a:sym typeface="Decalotype"/>
              </a:rPr>
              <a:t>→ Dùng cho service đọc nhiều</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Dễ dùng, nhẹ</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Tối ưu truy vấn đọc</a:t>
            </a:r>
          </a:p>
          <a:p>
            <a:pPr marL="541348" lvl="1" indent="-270674" algn="l">
              <a:lnSpc>
                <a:spcPts val="3209"/>
              </a:lnSpc>
              <a:buFont typeface="Arial"/>
              <a:buChar char="•"/>
            </a:pPr>
            <a:r>
              <a:rPr lang="en-US" sz="2507" spc="-62">
                <a:solidFill>
                  <a:srgbClr val="383838"/>
                </a:solidFill>
                <a:latin typeface="Decalotype"/>
                <a:ea typeface="Decalotype"/>
                <a:cs typeface="Decalotype"/>
                <a:sym typeface="Decalotype"/>
              </a:rPr>
              <a:t>Phù hợp: sản phẩm, nội dung</a:t>
            </a:r>
          </a:p>
          <a:p>
            <a:pPr algn="l">
              <a:lnSpc>
                <a:spcPts val="3209"/>
              </a:lnSpc>
              <a:spcBef>
                <a:spcPct val="0"/>
              </a:spcBef>
            </a:pPr>
            <a:endParaRPr lang="en-US" sz="2507" spc="-62">
              <a:solidFill>
                <a:srgbClr val="383838"/>
              </a:solidFill>
              <a:latin typeface="Decalotype"/>
              <a:ea typeface="Decalotype"/>
              <a:cs typeface="Decalotype"/>
              <a:sym typeface="Decalotype"/>
            </a:endParaRPr>
          </a:p>
        </p:txBody>
      </p:sp>
      <p:sp>
        <p:nvSpPr>
          <p:cNvPr id="7" name="TextBox 7"/>
          <p:cNvSpPr txBox="1"/>
          <p:nvPr/>
        </p:nvSpPr>
        <p:spPr>
          <a:xfrm>
            <a:off x="4263345" y="8888773"/>
            <a:ext cx="3509055" cy="377860"/>
          </a:xfrm>
          <a:prstGeom prst="rect">
            <a:avLst/>
          </a:prstGeom>
        </p:spPr>
        <p:txBody>
          <a:bodyPr wrap="square" lIns="0" tIns="0" rIns="0" bIns="0" rtlCol="0" anchor="t">
            <a:spAutoFit/>
          </a:bodyPr>
          <a:lstStyle/>
          <a:p>
            <a:pPr algn="ctr">
              <a:lnSpc>
                <a:spcPts val="3081"/>
              </a:lnSpc>
              <a:spcBef>
                <a:spcPct val="0"/>
              </a:spcBef>
            </a:pPr>
            <a:r>
              <a:rPr lang="en-US" sz="2407" i="1" spc="-60" dirty="0" err="1">
                <a:solidFill>
                  <a:srgbClr val="383838"/>
                </a:solidFill>
                <a:latin typeface="Noto Sans Italics"/>
                <a:ea typeface="Noto Sans Italics"/>
                <a:cs typeface="Noto Sans Italics"/>
                <a:sym typeface="Noto Sans Italics"/>
              </a:rPr>
              <a:t>Hình</a:t>
            </a:r>
            <a:r>
              <a:rPr lang="en-US" sz="2407" i="1" spc="-60" dirty="0">
                <a:solidFill>
                  <a:srgbClr val="383838"/>
                </a:solidFill>
                <a:latin typeface="Noto Sans Italics"/>
                <a:ea typeface="Noto Sans Italics"/>
                <a:cs typeface="Noto Sans Italics"/>
                <a:sym typeface="Noto Sans Italics"/>
              </a:rPr>
              <a:t> 10: </a:t>
            </a:r>
            <a:r>
              <a:rPr lang="en-US" sz="2407" i="1" spc="-60" dirty="0" err="1">
                <a:solidFill>
                  <a:srgbClr val="383838"/>
                </a:solidFill>
                <a:latin typeface="Noto Sans Italics"/>
                <a:ea typeface="Noto Sans Italics"/>
                <a:cs typeface="Noto Sans Italics"/>
                <a:sym typeface="Noto Sans Italics"/>
              </a:rPr>
              <a:t>Cơ</a:t>
            </a:r>
            <a:r>
              <a:rPr lang="en-US" sz="2407" i="1" spc="-60" dirty="0">
                <a:solidFill>
                  <a:srgbClr val="383838"/>
                </a:solidFill>
                <a:latin typeface="Noto Sans Italics"/>
                <a:ea typeface="Noto Sans Italics"/>
                <a:cs typeface="Noto Sans Italics"/>
                <a:sym typeface="Noto Sans Italics"/>
              </a:rPr>
              <a:t> </a:t>
            </a:r>
            <a:r>
              <a:rPr lang="en-US" sz="2407" i="1" spc="-60" dirty="0" err="1">
                <a:solidFill>
                  <a:srgbClr val="383838"/>
                </a:solidFill>
                <a:latin typeface="Noto Sans Italics"/>
                <a:ea typeface="Noto Sans Italics"/>
                <a:cs typeface="Noto Sans Italics"/>
                <a:sym typeface="Noto Sans Italics"/>
              </a:rPr>
              <a:t>sở</a:t>
            </a:r>
            <a:r>
              <a:rPr lang="en-US" sz="2407" i="1" spc="-60" dirty="0">
                <a:solidFill>
                  <a:srgbClr val="383838"/>
                </a:solidFill>
                <a:latin typeface="Noto Sans Italics"/>
                <a:ea typeface="Noto Sans Italics"/>
                <a:cs typeface="Noto Sans Italics"/>
                <a:sym typeface="Noto Sans Italics"/>
              </a:rPr>
              <a:t> </a:t>
            </a:r>
            <a:r>
              <a:rPr lang="en-US" sz="2407" i="1" spc="-60" dirty="0" err="1">
                <a:solidFill>
                  <a:srgbClr val="383838"/>
                </a:solidFill>
                <a:latin typeface="Noto Sans Italics"/>
                <a:ea typeface="Noto Sans Italics"/>
                <a:cs typeface="Noto Sans Italics"/>
                <a:sym typeface="Noto Sans Italics"/>
              </a:rPr>
              <a:t>dữ</a:t>
            </a:r>
            <a:r>
              <a:rPr lang="en-US" sz="2407" i="1" spc="-60" dirty="0">
                <a:solidFill>
                  <a:srgbClr val="383838"/>
                </a:solidFill>
                <a:latin typeface="Noto Sans Italics"/>
                <a:ea typeface="Noto Sans Italics"/>
                <a:cs typeface="Noto Sans Italics"/>
                <a:sym typeface="Noto Sans Italics"/>
              </a:rPr>
              <a:t> </a:t>
            </a:r>
            <a:r>
              <a:rPr lang="en-US" sz="2407" i="1" spc="-60" dirty="0" err="1">
                <a:solidFill>
                  <a:srgbClr val="383838"/>
                </a:solidFill>
                <a:latin typeface="Noto Sans Italics"/>
                <a:ea typeface="Noto Sans Italics"/>
                <a:cs typeface="Noto Sans Italics"/>
                <a:sym typeface="Noto Sans Italics"/>
              </a:rPr>
              <a:t>liệu</a:t>
            </a:r>
            <a:endParaRPr lang="en-US" sz="2407" i="1" spc="-60" dirty="0">
              <a:solidFill>
                <a:srgbClr val="383838"/>
              </a:solidFill>
              <a:latin typeface="Noto Sans Italics"/>
              <a:ea typeface="Noto Sans Italics"/>
              <a:cs typeface="Noto Sans Italics"/>
              <a:sym typeface="Noto Sans Italics"/>
            </a:endParaRPr>
          </a:p>
        </p:txBody>
      </p:sp>
    </p:spTree>
  </p:cSld>
  <p:clrMapOvr>
    <a:masterClrMapping/>
  </p:clrMapOvr>
  <p:transition>
    <p:push/>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8097250" y="2341598"/>
          <a:ext cx="8707707" cy="5090055"/>
        </p:xfrm>
        <a:graphic>
          <a:graphicData uri="http://schemas.openxmlformats.org/drawingml/2006/table">
            <a:tbl>
              <a:tblPr/>
              <a:tblGrid>
                <a:gridCol w="1760193">
                  <a:extLst>
                    <a:ext uri="{9D8B030D-6E8A-4147-A177-3AD203B41FA5}">
                      <a16:colId xmlns:a16="http://schemas.microsoft.com/office/drawing/2014/main" val="20000"/>
                    </a:ext>
                  </a:extLst>
                </a:gridCol>
                <a:gridCol w="6947514">
                  <a:extLst>
                    <a:ext uri="{9D8B030D-6E8A-4147-A177-3AD203B41FA5}">
                      <a16:colId xmlns:a16="http://schemas.microsoft.com/office/drawing/2014/main" val="20001"/>
                    </a:ext>
                  </a:extLst>
                </a:gridCol>
              </a:tblGrid>
              <a:tr h="5090055">
                <a:tc>
                  <a:txBody>
                    <a:bodyPr/>
                    <a:lstStyle/>
                    <a:p>
                      <a:pPr algn="ctr">
                        <a:lnSpc>
                          <a:spcPts val="3220"/>
                        </a:lnSpc>
                        <a:defRPr/>
                      </a:pPr>
                      <a:r>
                        <a:rPr lang="en-US" sz="2300" b="1">
                          <a:solidFill>
                            <a:srgbClr val="383838"/>
                          </a:solidFill>
                          <a:latin typeface="Noto Sans Bold"/>
                          <a:ea typeface="Noto Sans Bold"/>
                          <a:cs typeface="Noto Sans Bold"/>
                          <a:sym typeface="Noto Sans Bold"/>
                        </a:rPr>
                        <a:t>Front-end</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tc>
                  <a:txBody>
                    <a:bodyPr/>
                    <a:lstStyle/>
                    <a:p>
                      <a:pPr marL="539749" lvl="1" indent="-269875" algn="just">
                        <a:lnSpc>
                          <a:spcPts val="3499"/>
                        </a:lnSpc>
                        <a:buFont typeface="Arial"/>
                        <a:buChar char="•"/>
                        <a:defRPr/>
                      </a:pPr>
                      <a:r>
                        <a:rPr lang="en-US" sz="2499">
                          <a:solidFill>
                            <a:srgbClr val="383838"/>
                          </a:solidFill>
                          <a:latin typeface="Noto Sans"/>
                          <a:ea typeface="Noto Sans"/>
                          <a:cs typeface="Noto Sans"/>
                          <a:sym typeface="Noto Sans"/>
                        </a:rPr>
                        <a:t>Sử dụng Next.js để xây dựng frontend (hỗ trợ SSR, tối ưu hiệu năng)</a:t>
                      </a:r>
                      <a:endParaRPr lang="en-US" sz="1100"/>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Áp dụng React (component-based) → dễ tái sử dụng &amp; bảo trì</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Dùng TypeScript → kiểm soát kiểu dữ liệu, giảm lỗi</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Thiết kế UI bằng Tailwind CSS → phát triển nhanh</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Kết hợp Ant Design → cung cấp sẵn các component giao diện</a:t>
                      </a:r>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Freeform 3"/>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031186" y="2326590"/>
            <a:ext cx="6588763" cy="5105063"/>
          </a:xfrm>
          <a:custGeom>
            <a:avLst/>
            <a:gdLst/>
            <a:ahLst/>
            <a:cxnLst/>
            <a:rect l="l" t="t" r="r" b="b"/>
            <a:pathLst>
              <a:path w="6588763" h="5105063">
                <a:moveTo>
                  <a:pt x="0" y="0"/>
                </a:moveTo>
                <a:lnTo>
                  <a:pt x="6588762" y="0"/>
                </a:lnTo>
                <a:lnTo>
                  <a:pt x="6588762" y="5105063"/>
                </a:lnTo>
                <a:lnTo>
                  <a:pt x="0" y="5105063"/>
                </a:lnTo>
                <a:lnTo>
                  <a:pt x="0" y="0"/>
                </a:lnTo>
                <a:close/>
              </a:path>
            </a:pathLst>
          </a:custGeom>
          <a:blipFill>
            <a:blip r:embed="rId3"/>
            <a:stretch>
              <a:fillRect l="-428"/>
            </a:stretch>
          </a:blipFill>
        </p:spPr>
        <p:txBody>
          <a:bodyPr/>
          <a:lstStyle/>
          <a:p>
            <a:endParaRPr lang="en-US"/>
          </a:p>
        </p:txBody>
      </p:sp>
      <p:sp>
        <p:nvSpPr>
          <p:cNvPr id="5" name="TextBox 5"/>
          <p:cNvSpPr txBox="1"/>
          <p:nvPr/>
        </p:nvSpPr>
        <p:spPr>
          <a:xfrm>
            <a:off x="-3174794" y="7936478"/>
            <a:ext cx="15000722" cy="375591"/>
          </a:xfrm>
          <a:prstGeom prst="rect">
            <a:avLst/>
          </a:prstGeom>
        </p:spPr>
        <p:txBody>
          <a:bodyPr lIns="0" tIns="0" rIns="0" bIns="0" rtlCol="0" anchor="t">
            <a:spAutoFit/>
          </a:bodyPr>
          <a:lstStyle/>
          <a:p>
            <a:pPr algn="ctr">
              <a:lnSpc>
                <a:spcPts val="3081"/>
              </a:lnSpc>
              <a:spcBef>
                <a:spcPct val="0"/>
              </a:spcBef>
            </a:pPr>
            <a:r>
              <a:rPr lang="en-US" sz="2407" i="1" spc="-60">
                <a:solidFill>
                  <a:srgbClr val="383838"/>
                </a:solidFill>
                <a:latin typeface="Noto Sans Italics"/>
                <a:ea typeface="Noto Sans Italics"/>
                <a:cs typeface="Noto Sans Italics"/>
                <a:sym typeface="Noto Sans Italics"/>
              </a:rPr>
              <a:t>Hình 11: Công nghệ Next.js cho front - end</a:t>
            </a:r>
          </a:p>
        </p:txBody>
      </p:sp>
      <p:sp>
        <p:nvSpPr>
          <p:cNvPr id="6" name="TextBox 6"/>
          <p:cNvSpPr txBox="1"/>
          <p:nvPr/>
        </p:nvSpPr>
        <p:spPr>
          <a:xfrm>
            <a:off x="419361" y="242458"/>
            <a:ext cx="8449921" cy="823394"/>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Noto Sans Bold"/>
                <a:ea typeface="Noto Sans Bold"/>
                <a:cs typeface="Noto Sans Bold"/>
                <a:sym typeface="Noto Sans Bold"/>
              </a:rPr>
              <a:t>Công nghệ áp dụng</a:t>
            </a:r>
          </a:p>
        </p:txBody>
      </p:sp>
      <p:sp>
        <p:nvSpPr>
          <p:cNvPr id="7" name="TextBox 7"/>
          <p:cNvSpPr txBox="1"/>
          <p:nvPr/>
        </p:nvSpPr>
        <p:spPr>
          <a:xfrm>
            <a:off x="999319" y="1337895"/>
            <a:ext cx="2444055" cy="474345"/>
          </a:xfrm>
          <a:prstGeom prst="rect">
            <a:avLst/>
          </a:prstGeom>
        </p:spPr>
        <p:txBody>
          <a:bodyPr lIns="0" tIns="0" rIns="0" bIns="0" rtlCol="0" anchor="t">
            <a:spAutoFit/>
          </a:bodyPr>
          <a:lstStyle/>
          <a:p>
            <a:pPr algn="ctr">
              <a:lnSpc>
                <a:spcPts val="3840"/>
              </a:lnSpc>
              <a:spcBef>
                <a:spcPct val="0"/>
              </a:spcBef>
            </a:pPr>
            <a:r>
              <a:rPr lang="en-US" sz="3000" b="1" spc="-75">
                <a:solidFill>
                  <a:srgbClr val="383838"/>
                </a:solidFill>
                <a:latin typeface="Noto Sans Bold"/>
                <a:ea typeface="Noto Sans Bold"/>
                <a:cs typeface="Noto Sans Bold"/>
                <a:sym typeface="Noto Sans Bold"/>
              </a:rPr>
              <a:t>Về front - end</a:t>
            </a:r>
          </a:p>
        </p:txBody>
      </p:sp>
    </p:spTree>
  </p:cSld>
  <p:clrMapOvr>
    <a:masterClrMapping/>
  </p:clrMapOvr>
  <p:transition>
    <p:push/>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8445811" y="2581275"/>
          <a:ext cx="8183917" cy="5124450"/>
        </p:xfrm>
        <a:graphic>
          <a:graphicData uri="http://schemas.openxmlformats.org/drawingml/2006/table">
            <a:tbl>
              <a:tblPr/>
              <a:tblGrid>
                <a:gridCol w="1760317">
                  <a:extLst>
                    <a:ext uri="{9D8B030D-6E8A-4147-A177-3AD203B41FA5}">
                      <a16:colId xmlns:a16="http://schemas.microsoft.com/office/drawing/2014/main" val="20000"/>
                    </a:ext>
                  </a:extLst>
                </a:gridCol>
                <a:gridCol w="6423600">
                  <a:extLst>
                    <a:ext uri="{9D8B030D-6E8A-4147-A177-3AD203B41FA5}">
                      <a16:colId xmlns:a16="http://schemas.microsoft.com/office/drawing/2014/main" val="20001"/>
                    </a:ext>
                  </a:extLst>
                </a:gridCol>
              </a:tblGrid>
              <a:tr h="5124450">
                <a:tc>
                  <a:txBody>
                    <a:bodyPr/>
                    <a:lstStyle/>
                    <a:p>
                      <a:pPr algn="ctr">
                        <a:lnSpc>
                          <a:spcPts val="3220"/>
                        </a:lnSpc>
                        <a:defRPr/>
                      </a:pPr>
                      <a:r>
                        <a:rPr lang="en-US" sz="2300" b="1">
                          <a:solidFill>
                            <a:srgbClr val="383838"/>
                          </a:solidFill>
                          <a:latin typeface="Noto Sans Bold"/>
                          <a:ea typeface="Noto Sans Bold"/>
                          <a:cs typeface="Noto Sans Bold"/>
                          <a:sym typeface="Noto Sans Bold"/>
                        </a:rPr>
                        <a:t>Back-end</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tc>
                  <a:txBody>
                    <a:bodyPr/>
                    <a:lstStyle/>
                    <a:p>
                      <a:pPr marL="539749" lvl="1" indent="-269875" algn="just">
                        <a:lnSpc>
                          <a:spcPts val="3499"/>
                        </a:lnSpc>
                        <a:buFont typeface="Arial"/>
                        <a:buChar char="•"/>
                        <a:defRPr/>
                      </a:pPr>
                      <a:r>
                        <a:rPr lang="en-US" sz="2499">
                          <a:solidFill>
                            <a:srgbClr val="383838"/>
                          </a:solidFill>
                          <a:latin typeface="Noto Sans"/>
                          <a:ea typeface="Noto Sans"/>
                          <a:cs typeface="Noto Sans"/>
                          <a:sym typeface="Noto Sans"/>
                        </a:rPr>
                        <a:t>Backend sử dụng Node.js + NestJS (TypeScript)</a:t>
                      </a:r>
                      <a:endParaRPr lang="en-US" sz="1100"/>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Áp dụng kiến trúc Module - Controller - Service → dễ quản lý &amp; mở rộng</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Hỗ trợ nhiều mô hình: REST API, GraphQL, WebSocket, Microservices</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Hệ thống chia thành các microservice (product, user, auth, cart, order, payment, inventory)</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Các service độc lập → dễ bảo trì &amp; mở rộng từng phần</a:t>
                      </a:r>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Freeform 3"/>
          <p:cNvSpPr/>
          <p:nvPr/>
        </p:nvSpPr>
        <p:spPr>
          <a:xfrm>
            <a:off x="560299" y="2581275"/>
            <a:ext cx="7321340" cy="5124450"/>
          </a:xfrm>
          <a:custGeom>
            <a:avLst/>
            <a:gdLst/>
            <a:ahLst/>
            <a:cxnLst/>
            <a:rect l="l" t="t" r="r" b="b"/>
            <a:pathLst>
              <a:path w="7321340" h="5124450">
                <a:moveTo>
                  <a:pt x="0" y="0"/>
                </a:moveTo>
                <a:lnTo>
                  <a:pt x="7321340" y="0"/>
                </a:lnTo>
                <a:lnTo>
                  <a:pt x="7321340" y="5124450"/>
                </a:lnTo>
                <a:lnTo>
                  <a:pt x="0" y="5124450"/>
                </a:lnTo>
                <a:lnTo>
                  <a:pt x="0" y="0"/>
                </a:lnTo>
                <a:close/>
              </a:path>
            </a:pathLst>
          </a:custGeom>
          <a:blipFill>
            <a:blip r:embed="rId2"/>
            <a:stretch>
              <a:fillRect l="-3801" r="-3428"/>
            </a:stretch>
          </a:blipFill>
        </p:spPr>
        <p:txBody>
          <a:bodyPr/>
          <a:lstStyle/>
          <a:p>
            <a:endParaRPr lang="en-US"/>
          </a:p>
        </p:txBody>
      </p:sp>
      <p:sp>
        <p:nvSpPr>
          <p:cNvPr id="4" name="TextBox 4"/>
          <p:cNvSpPr txBox="1"/>
          <p:nvPr/>
        </p:nvSpPr>
        <p:spPr>
          <a:xfrm>
            <a:off x="560299" y="526266"/>
            <a:ext cx="7885513" cy="823394"/>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Noto Sans Bold"/>
                <a:ea typeface="Noto Sans Bold"/>
                <a:cs typeface="Noto Sans Bold"/>
                <a:sym typeface="Noto Sans Bold"/>
              </a:rPr>
              <a:t>Công nghệ áp dụng</a:t>
            </a:r>
          </a:p>
        </p:txBody>
      </p:sp>
      <p:sp>
        <p:nvSpPr>
          <p:cNvPr id="5" name="TextBox 5"/>
          <p:cNvSpPr txBox="1"/>
          <p:nvPr/>
        </p:nvSpPr>
        <p:spPr>
          <a:xfrm>
            <a:off x="1808720" y="8176734"/>
            <a:ext cx="5388670" cy="375591"/>
          </a:xfrm>
          <a:prstGeom prst="rect">
            <a:avLst/>
          </a:prstGeom>
        </p:spPr>
        <p:txBody>
          <a:bodyPr lIns="0" tIns="0" rIns="0" bIns="0" rtlCol="0" anchor="t">
            <a:spAutoFit/>
          </a:bodyPr>
          <a:lstStyle/>
          <a:p>
            <a:pPr algn="ctr">
              <a:lnSpc>
                <a:spcPts val="3081"/>
              </a:lnSpc>
              <a:spcBef>
                <a:spcPct val="0"/>
              </a:spcBef>
            </a:pPr>
            <a:r>
              <a:rPr lang="en-US" sz="2407" i="1" spc="-60">
                <a:solidFill>
                  <a:srgbClr val="383838"/>
                </a:solidFill>
                <a:latin typeface="Noto Sans Italics"/>
                <a:ea typeface="Noto Sans Italics"/>
                <a:cs typeface="Noto Sans Italics"/>
                <a:sym typeface="Noto Sans Italics"/>
              </a:rPr>
              <a:t>Hình 12: Công nghệ Nest.js cho back - end</a:t>
            </a:r>
          </a:p>
        </p:txBody>
      </p:sp>
      <p:sp>
        <p:nvSpPr>
          <p:cNvPr id="6" name="TextBox 6"/>
          <p:cNvSpPr txBox="1"/>
          <p:nvPr/>
        </p:nvSpPr>
        <p:spPr>
          <a:xfrm>
            <a:off x="1011783" y="1630680"/>
            <a:ext cx="2477889" cy="474345"/>
          </a:xfrm>
          <a:prstGeom prst="rect">
            <a:avLst/>
          </a:prstGeom>
        </p:spPr>
        <p:txBody>
          <a:bodyPr lIns="0" tIns="0" rIns="0" bIns="0" rtlCol="0" anchor="t">
            <a:spAutoFit/>
          </a:bodyPr>
          <a:lstStyle/>
          <a:p>
            <a:pPr algn="ctr">
              <a:lnSpc>
                <a:spcPts val="3840"/>
              </a:lnSpc>
              <a:spcBef>
                <a:spcPct val="0"/>
              </a:spcBef>
            </a:pPr>
            <a:r>
              <a:rPr lang="en-US" sz="3000" b="1" spc="-75">
                <a:solidFill>
                  <a:srgbClr val="383838"/>
                </a:solidFill>
                <a:latin typeface="Noto Sans Bold"/>
                <a:ea typeface="Noto Sans Bold"/>
                <a:cs typeface="Noto Sans Bold"/>
                <a:sym typeface="Noto Sans Bold"/>
              </a:rPr>
              <a:t>Về back  - end</a:t>
            </a:r>
          </a:p>
        </p:txBody>
      </p:sp>
    </p:spTree>
  </p:cSld>
  <p:clrMapOvr>
    <a:masterClrMapping/>
  </p:clrMapOvr>
  <p:transition>
    <p:push/>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2051888"/>
          <a:ext cx="7888764" cy="7755890"/>
        </p:xfrm>
        <a:graphic>
          <a:graphicData uri="http://schemas.openxmlformats.org/drawingml/2006/table">
            <a:tbl>
              <a:tblPr/>
              <a:tblGrid>
                <a:gridCol w="1760393">
                  <a:extLst>
                    <a:ext uri="{9D8B030D-6E8A-4147-A177-3AD203B41FA5}">
                      <a16:colId xmlns:a16="http://schemas.microsoft.com/office/drawing/2014/main" val="20000"/>
                    </a:ext>
                  </a:extLst>
                </a:gridCol>
                <a:gridCol w="6128371">
                  <a:extLst>
                    <a:ext uri="{9D8B030D-6E8A-4147-A177-3AD203B41FA5}">
                      <a16:colId xmlns:a16="http://schemas.microsoft.com/office/drawing/2014/main" val="20001"/>
                    </a:ext>
                  </a:extLst>
                </a:gridCol>
              </a:tblGrid>
              <a:tr h="7753350">
                <a:tc>
                  <a:txBody>
                    <a:bodyPr/>
                    <a:lstStyle/>
                    <a:p>
                      <a:pPr algn="ctr">
                        <a:lnSpc>
                          <a:spcPts val="3220"/>
                        </a:lnSpc>
                        <a:defRPr/>
                      </a:pPr>
                      <a:r>
                        <a:rPr lang="en-US" sz="2300" b="1">
                          <a:solidFill>
                            <a:srgbClr val="383838"/>
                          </a:solidFill>
                          <a:latin typeface="Noto Sans Bold"/>
                          <a:ea typeface="Noto Sans Bold"/>
                          <a:cs typeface="Noto Sans Bold"/>
                          <a:sym typeface="Noto Sans Bold"/>
                        </a:rPr>
                        <a:t>CI/CD</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tc>
                  <a:txBody>
                    <a:bodyPr/>
                    <a:lstStyle/>
                    <a:p>
                      <a:pPr algn="just">
                        <a:lnSpc>
                          <a:spcPts val="3499"/>
                        </a:lnSpc>
                        <a:defRPr/>
                      </a:pPr>
                      <a:r>
                        <a:rPr lang="en-US" sz="2499">
                          <a:solidFill>
                            <a:srgbClr val="383838"/>
                          </a:solidFill>
                          <a:latin typeface="Noto Sans"/>
                          <a:ea typeface="Noto Sans"/>
                          <a:cs typeface="Noto Sans"/>
                          <a:sym typeface="Noto Sans"/>
                        </a:rPr>
                        <a:t>Sử dụng Postman cho CI/CD. </a:t>
                      </a:r>
                      <a:endParaRPr lang="en-US" sz="1100"/>
                    </a:p>
                    <a:p>
                      <a:pPr algn="just">
                        <a:lnSpc>
                          <a:spcPts val="3499"/>
                        </a:lnSpc>
                      </a:pPr>
                      <a:r>
                        <a:rPr lang="en-US" sz="2499">
                          <a:solidFill>
                            <a:srgbClr val="383838"/>
                          </a:solidFill>
                          <a:latin typeface="Noto Sans"/>
                          <a:ea typeface="Noto Sans"/>
                          <a:cs typeface="Noto Sans"/>
                          <a:sym typeface="Noto Sans"/>
                        </a:rPr>
                        <a:t>Vai trò của Postman:</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Kiểm tra độc lập các API (GET, POST, PUT, DELETE) trước khi tích hợp front-end.</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Lưu trữ và quản lý các endpoint dễ dàng qua Collection.</a:t>
                      </a:r>
                    </a:p>
                    <a:p>
                      <a:pPr algn="just">
                        <a:lnSpc>
                          <a:spcPts val="3499"/>
                        </a:lnSpc>
                      </a:pPr>
                      <a:r>
                        <a:rPr lang="en-US" sz="2499">
                          <a:solidFill>
                            <a:srgbClr val="383838"/>
                          </a:solidFill>
                          <a:latin typeface="Noto Sans"/>
                          <a:ea typeface="Noto Sans"/>
                          <a:cs typeface="Noto Sans"/>
                          <a:sym typeface="Noto Sans"/>
                        </a:rPr>
                        <a:t>Tính năng nổi bật:</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Test Scripts: Hỗ trợ viết kịch bản kiểm thử tự động.</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Quản lý môi trường: Chuyển đổi linh hoạt giữa các môi trường (Local, Dev, Prod...).</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Collection Runner: Chạy kiểm thử hàng loạt API cùng lúc.</a:t>
                      </a:r>
                    </a:p>
                    <a:p>
                      <a:pPr marL="539749" lvl="1" indent="-269875" algn="just">
                        <a:lnSpc>
                          <a:spcPts val="3499"/>
                        </a:lnSpc>
                        <a:buFont typeface="Arial"/>
                        <a:buChar char="•"/>
                      </a:pPr>
                      <a:r>
                        <a:rPr lang="en-US" sz="2499">
                          <a:solidFill>
                            <a:srgbClr val="383838"/>
                          </a:solidFill>
                          <a:latin typeface="Noto Sans"/>
                          <a:ea typeface="Noto Sans"/>
                          <a:cs typeface="Noto Sans"/>
                          <a:sym typeface="Noto Sans"/>
                        </a:rPr>
                        <a:t>Dữ liệu động: Nhập dữ liệu test từ file ngoại vi (CSV, JSON).</a:t>
                      </a:r>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Freeform 3"/>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9795761" y="2333091"/>
            <a:ext cx="6599322" cy="6603518"/>
          </a:xfrm>
          <a:custGeom>
            <a:avLst/>
            <a:gdLst/>
            <a:ahLst/>
            <a:cxnLst/>
            <a:rect l="l" t="t" r="r" b="b"/>
            <a:pathLst>
              <a:path w="6599322" h="6603518">
                <a:moveTo>
                  <a:pt x="0" y="0"/>
                </a:moveTo>
                <a:lnTo>
                  <a:pt x="6599322" y="0"/>
                </a:lnTo>
                <a:lnTo>
                  <a:pt x="6599322" y="6603518"/>
                </a:lnTo>
                <a:lnTo>
                  <a:pt x="0" y="6603518"/>
                </a:lnTo>
                <a:lnTo>
                  <a:pt x="0" y="0"/>
                </a:lnTo>
                <a:close/>
              </a:path>
            </a:pathLst>
          </a:custGeom>
          <a:blipFill>
            <a:blip r:embed="rId3"/>
            <a:stretch>
              <a:fillRect l="-8104" r="-8104"/>
            </a:stretch>
          </a:blipFill>
        </p:spPr>
        <p:txBody>
          <a:bodyPr/>
          <a:lstStyle/>
          <a:p>
            <a:endParaRPr lang="en-US"/>
          </a:p>
        </p:txBody>
      </p:sp>
      <p:sp>
        <p:nvSpPr>
          <p:cNvPr id="5" name="TextBox 5"/>
          <p:cNvSpPr txBox="1"/>
          <p:nvPr/>
        </p:nvSpPr>
        <p:spPr>
          <a:xfrm>
            <a:off x="706109" y="222250"/>
            <a:ext cx="7479117" cy="806450"/>
          </a:xfrm>
          <a:prstGeom prst="rect">
            <a:avLst/>
          </a:prstGeom>
        </p:spPr>
        <p:txBody>
          <a:bodyPr lIns="0" tIns="0" rIns="0" bIns="0" rtlCol="0" anchor="t">
            <a:spAutoFit/>
          </a:bodyPr>
          <a:lstStyle/>
          <a:p>
            <a:pPr algn="l">
              <a:lnSpc>
                <a:spcPts val="6400"/>
              </a:lnSpc>
              <a:spcBef>
                <a:spcPct val="0"/>
              </a:spcBef>
            </a:pPr>
            <a:r>
              <a:rPr lang="en-US" sz="5000" b="1" spc="-125">
                <a:solidFill>
                  <a:srgbClr val="383838"/>
                </a:solidFill>
                <a:latin typeface="Noto Sans Bold"/>
                <a:ea typeface="Noto Sans Bold"/>
                <a:cs typeface="Noto Sans Bold"/>
                <a:sym typeface="Noto Sans Bold"/>
              </a:rPr>
              <a:t>Công nghệ áp dụng</a:t>
            </a:r>
          </a:p>
        </p:txBody>
      </p:sp>
      <p:sp>
        <p:nvSpPr>
          <p:cNvPr id="6" name="TextBox 6"/>
          <p:cNvSpPr txBox="1"/>
          <p:nvPr/>
        </p:nvSpPr>
        <p:spPr>
          <a:xfrm>
            <a:off x="11258853" y="9258427"/>
            <a:ext cx="4449862" cy="321564"/>
          </a:xfrm>
          <a:prstGeom prst="rect">
            <a:avLst/>
          </a:prstGeom>
        </p:spPr>
        <p:txBody>
          <a:bodyPr lIns="0" tIns="0" rIns="0" bIns="0" rtlCol="0" anchor="t">
            <a:spAutoFit/>
          </a:bodyPr>
          <a:lstStyle/>
          <a:p>
            <a:pPr algn="ctr">
              <a:lnSpc>
                <a:spcPts val="2687"/>
              </a:lnSpc>
              <a:spcBef>
                <a:spcPct val="0"/>
              </a:spcBef>
            </a:pPr>
            <a:r>
              <a:rPr lang="en-US" sz="2099" i="1" spc="-52">
                <a:solidFill>
                  <a:srgbClr val="383838"/>
                </a:solidFill>
                <a:latin typeface="Noto Sans Italics"/>
                <a:ea typeface="Noto Sans Italics"/>
                <a:cs typeface="Noto Sans Italics"/>
                <a:sym typeface="Noto Sans Italics"/>
              </a:rPr>
              <a:t>Hình 13: Công nghệ Postman cho CI/CD</a:t>
            </a:r>
          </a:p>
        </p:txBody>
      </p:sp>
      <p:sp>
        <p:nvSpPr>
          <p:cNvPr id="7" name="TextBox 7"/>
          <p:cNvSpPr txBox="1"/>
          <p:nvPr/>
        </p:nvSpPr>
        <p:spPr>
          <a:xfrm>
            <a:off x="1483271" y="1293597"/>
            <a:ext cx="1568748" cy="474345"/>
          </a:xfrm>
          <a:prstGeom prst="rect">
            <a:avLst/>
          </a:prstGeom>
        </p:spPr>
        <p:txBody>
          <a:bodyPr lIns="0" tIns="0" rIns="0" bIns="0" rtlCol="0" anchor="t">
            <a:spAutoFit/>
          </a:bodyPr>
          <a:lstStyle/>
          <a:p>
            <a:pPr algn="ctr">
              <a:lnSpc>
                <a:spcPts val="3840"/>
              </a:lnSpc>
              <a:spcBef>
                <a:spcPct val="0"/>
              </a:spcBef>
            </a:pPr>
            <a:r>
              <a:rPr lang="en-US" sz="3000" b="1" spc="-75">
                <a:solidFill>
                  <a:srgbClr val="383838"/>
                </a:solidFill>
                <a:latin typeface="Noto Sans Bold"/>
                <a:ea typeface="Noto Sans Bold"/>
                <a:cs typeface="Noto Sans Bold"/>
                <a:sym typeface="Noto Sans Bold"/>
              </a:rPr>
              <a:t>Về CI/CD</a:t>
            </a:r>
          </a:p>
        </p:txBody>
      </p:sp>
    </p:spTree>
  </p:cSld>
  <p:clrMapOvr>
    <a:masterClrMapping/>
  </p:clrMapOvr>
  <p:transition>
    <p:push/>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2392934"/>
          <a:ext cx="8718420" cy="6543675"/>
        </p:xfrm>
        <a:graphic>
          <a:graphicData uri="http://schemas.openxmlformats.org/drawingml/2006/table">
            <a:tbl>
              <a:tblPr/>
              <a:tblGrid>
                <a:gridCol w="1835442">
                  <a:extLst>
                    <a:ext uri="{9D8B030D-6E8A-4147-A177-3AD203B41FA5}">
                      <a16:colId xmlns:a16="http://schemas.microsoft.com/office/drawing/2014/main" val="20000"/>
                    </a:ext>
                  </a:extLst>
                </a:gridCol>
                <a:gridCol w="6882978">
                  <a:extLst>
                    <a:ext uri="{9D8B030D-6E8A-4147-A177-3AD203B41FA5}">
                      <a16:colId xmlns:a16="http://schemas.microsoft.com/office/drawing/2014/main" val="20001"/>
                    </a:ext>
                  </a:extLst>
                </a:gridCol>
              </a:tblGrid>
              <a:tr h="6543675">
                <a:tc>
                  <a:txBody>
                    <a:bodyPr/>
                    <a:lstStyle/>
                    <a:p>
                      <a:pPr algn="l">
                        <a:lnSpc>
                          <a:spcPts val="3220"/>
                        </a:lnSpc>
                        <a:defRPr/>
                      </a:pPr>
                      <a:r>
                        <a:rPr lang="en-US" sz="2300" b="1">
                          <a:solidFill>
                            <a:srgbClr val="383838"/>
                          </a:solidFill>
                          <a:latin typeface="Noto Sans Bold"/>
                          <a:ea typeface="Noto Sans Bold"/>
                          <a:cs typeface="Noto Sans Bold"/>
                          <a:sym typeface="Noto Sans Bold"/>
                        </a:rPr>
                        <a:t>Cloudinary</a:t>
                      </a:r>
                      <a:endParaRPr lang="en-US" sz="1100"/>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tc>
                  <a:txBody>
                    <a:bodyPr/>
                    <a:lstStyle/>
                    <a:p>
                      <a:pPr algn="just">
                        <a:lnSpc>
                          <a:spcPts val="3079"/>
                        </a:lnSpc>
                        <a:defRPr/>
                      </a:pPr>
                      <a:r>
                        <a:rPr lang="en-US" sz="2199">
                          <a:solidFill>
                            <a:srgbClr val="383838"/>
                          </a:solidFill>
                          <a:latin typeface="Noto Sans"/>
                          <a:ea typeface="Noto Sans"/>
                          <a:cs typeface="Noto Sans"/>
                          <a:sym typeface="Noto Sans"/>
                        </a:rPr>
                        <a:t>Cloudinary là dịch vụ SaaS giúp lưu trữ và quản lý hình ảnh/video trên đám mây. Thay vì lưu file trực tiếp trong database hoặc server, bạn upload lên Cloudinary và dùng URL để hiển thị.</a:t>
                      </a:r>
                      <a:endParaRPr lang="en-US" sz="1100"/>
                    </a:p>
                    <a:p>
                      <a:pPr algn="just">
                        <a:lnSpc>
                          <a:spcPts val="3079"/>
                        </a:lnSpc>
                      </a:pPr>
                      <a:r>
                        <a:rPr lang="en-US" sz="2199">
                          <a:solidFill>
                            <a:srgbClr val="383838"/>
                          </a:solidFill>
                          <a:latin typeface="Noto Sans"/>
                          <a:ea typeface="Noto Sans"/>
                          <a:cs typeface="Noto Sans"/>
                          <a:sym typeface="Noto Sans"/>
                        </a:rPr>
                        <a:t>Tính năng chính:</a:t>
                      </a:r>
                    </a:p>
                    <a:p>
                      <a:pPr marL="474976" lvl="1" indent="-237488" algn="just">
                        <a:lnSpc>
                          <a:spcPts val="3079"/>
                        </a:lnSpc>
                        <a:buFont typeface="Arial"/>
                        <a:buChar char="•"/>
                      </a:pPr>
                      <a:r>
                        <a:rPr lang="en-US" sz="2199">
                          <a:solidFill>
                            <a:srgbClr val="383838"/>
                          </a:solidFill>
                          <a:latin typeface="Noto Sans"/>
                          <a:ea typeface="Noto Sans"/>
                          <a:cs typeface="Noto Sans"/>
                          <a:sym typeface="Noto Sans"/>
                        </a:rPr>
                        <a:t>Lưu trữ an toàn, quản lý tập trung</a:t>
                      </a:r>
                    </a:p>
                    <a:p>
                      <a:pPr marL="474976" lvl="1" indent="-237488" algn="just">
                        <a:lnSpc>
                          <a:spcPts val="3079"/>
                        </a:lnSpc>
                        <a:buFont typeface="Arial"/>
                        <a:buChar char="•"/>
                      </a:pPr>
                      <a:r>
                        <a:rPr lang="en-US" sz="2199">
                          <a:solidFill>
                            <a:srgbClr val="383838"/>
                          </a:solidFill>
                          <a:latin typeface="Noto Sans"/>
                          <a:ea typeface="Noto Sans"/>
                          <a:cs typeface="Noto Sans"/>
                          <a:sym typeface="Noto Sans"/>
                        </a:rPr>
                        <a:t>Xử lý ảnh/video động qua URL (resize, crop, watermark...)</a:t>
                      </a:r>
                    </a:p>
                    <a:p>
                      <a:pPr marL="474976" lvl="1" indent="-237488" algn="just">
                        <a:lnSpc>
                          <a:spcPts val="3079"/>
                        </a:lnSpc>
                        <a:buFont typeface="Arial"/>
                        <a:buChar char="•"/>
                      </a:pPr>
                      <a:r>
                        <a:rPr lang="en-US" sz="2199">
                          <a:solidFill>
                            <a:srgbClr val="383838"/>
                          </a:solidFill>
                          <a:latin typeface="Noto Sans"/>
                          <a:ea typeface="Noto Sans"/>
                          <a:cs typeface="Noto Sans"/>
                          <a:sym typeface="Noto Sans"/>
                        </a:rPr>
                        <a:t>Tối ưu dung lượng, tăng tốc tải trang</a:t>
                      </a:r>
                    </a:p>
                    <a:p>
                      <a:pPr marL="474976" lvl="1" indent="-237488" algn="just">
                        <a:lnSpc>
                          <a:spcPts val="3079"/>
                        </a:lnSpc>
                        <a:buFont typeface="Arial"/>
                        <a:buChar char="•"/>
                      </a:pPr>
                      <a:r>
                        <a:rPr lang="en-US" sz="2199">
                          <a:solidFill>
                            <a:srgbClr val="383838"/>
                          </a:solidFill>
                          <a:latin typeface="Noto Sans"/>
                          <a:ea typeface="Noto Sans"/>
                          <a:cs typeface="Noto Sans"/>
                          <a:sym typeface="Noto Sans"/>
                        </a:rPr>
                        <a:t>Tích hợp CDN giúp truy cập nhanh toàn cầu</a:t>
                      </a:r>
                    </a:p>
                    <a:p>
                      <a:pPr algn="just">
                        <a:lnSpc>
                          <a:spcPts val="3079"/>
                        </a:lnSpc>
                      </a:pPr>
                      <a:r>
                        <a:rPr lang="en-US" sz="2199">
                          <a:solidFill>
                            <a:srgbClr val="383838"/>
                          </a:solidFill>
                          <a:latin typeface="Noto Sans"/>
                          <a:ea typeface="Noto Sans"/>
                          <a:cs typeface="Noto Sans"/>
                          <a:sym typeface="Noto Sans"/>
                        </a:rPr>
                        <a:t>Ưu điểm:</a:t>
                      </a:r>
                    </a:p>
                    <a:p>
                      <a:pPr marL="474976" lvl="1" indent="-237488" algn="just">
                        <a:lnSpc>
                          <a:spcPts val="3079"/>
                        </a:lnSpc>
                        <a:buFont typeface="Arial"/>
                        <a:buChar char="•"/>
                      </a:pPr>
                      <a:r>
                        <a:rPr lang="en-US" sz="2199">
                          <a:solidFill>
                            <a:srgbClr val="383838"/>
                          </a:solidFill>
                          <a:latin typeface="Noto Sans"/>
                          <a:ea typeface="Noto Sans"/>
                          <a:cs typeface="Noto Sans"/>
                          <a:sym typeface="Noto Sans"/>
                        </a:rPr>
                        <a:t>Giảm tải cho server (không cần xử lý/lưu file)</a:t>
                      </a:r>
                    </a:p>
                    <a:p>
                      <a:pPr marL="474976" lvl="1" indent="-237488" algn="just">
                        <a:lnSpc>
                          <a:spcPts val="3079"/>
                        </a:lnSpc>
                        <a:buFont typeface="Arial"/>
                        <a:buChar char="•"/>
                      </a:pPr>
                      <a:r>
                        <a:rPr lang="en-US" sz="2199">
                          <a:solidFill>
                            <a:srgbClr val="383838"/>
                          </a:solidFill>
                          <a:latin typeface="Noto Sans"/>
                          <a:ea typeface="Noto Sans"/>
                          <a:cs typeface="Noto Sans"/>
                          <a:sym typeface="Noto Sans"/>
                        </a:rPr>
                        <a:t>Dễ tích hợp với nhiều ngôn ngữ</a:t>
                      </a:r>
                    </a:p>
                    <a:p>
                      <a:pPr marL="474976" lvl="1" indent="-237488" algn="just">
                        <a:lnSpc>
                          <a:spcPts val="3079"/>
                        </a:lnSpc>
                        <a:buFont typeface="Arial"/>
                        <a:buChar char="•"/>
                      </a:pPr>
                      <a:r>
                        <a:rPr lang="en-US" sz="2199">
                          <a:solidFill>
                            <a:srgbClr val="383838"/>
                          </a:solidFill>
                          <a:latin typeface="Noto Sans"/>
                          <a:ea typeface="Noto Sans"/>
                          <a:cs typeface="Noto Sans"/>
                          <a:sym typeface="Noto Sans"/>
                        </a:rPr>
                        <a:t>Có hỗ trợ AI (nhận diện, cắt ảnh, gắn tag...)</a:t>
                      </a:r>
                    </a:p>
                    <a:p>
                      <a:pPr marL="474976" lvl="1" indent="-237488" algn="just">
                        <a:lnSpc>
                          <a:spcPts val="3079"/>
                        </a:lnSpc>
                        <a:buFont typeface="Arial"/>
                        <a:buChar char="•"/>
                      </a:pPr>
                      <a:r>
                        <a:rPr lang="en-US" sz="2199">
                          <a:solidFill>
                            <a:srgbClr val="383838"/>
                          </a:solidFill>
                          <a:latin typeface="Noto Sans"/>
                          <a:ea typeface="Noto Sans"/>
                          <a:cs typeface="Noto Sans"/>
                          <a:sym typeface="Noto Sans"/>
                        </a:rPr>
                        <a:t>Phù hợp kiến trúc Docker, Microservices (nhẹ, dễ scale)</a:t>
                      </a:r>
                    </a:p>
                  </a:txBody>
                  <a:tcPr marL="114300" marR="114300" marT="114300" marB="114300" anchor="ctr">
                    <a:lnL w="9525" cap="flat" cmpd="sng" algn="ctr">
                      <a:solidFill>
                        <a:srgbClr val="737373"/>
                      </a:solidFill>
                      <a:prstDash val="solid"/>
                      <a:round/>
                      <a:headEnd type="none" w="med" len="med"/>
                      <a:tailEnd type="none" w="med" len="med"/>
                    </a:lnL>
                    <a:lnR w="9525" cap="flat" cmpd="sng" algn="ctr">
                      <a:solidFill>
                        <a:srgbClr val="737373"/>
                      </a:solidFill>
                      <a:prstDash val="solid"/>
                      <a:round/>
                      <a:headEnd type="none" w="med" len="med"/>
                      <a:tailEnd type="none" w="med" len="med"/>
                    </a:lnR>
                    <a:lnT w="9525" cap="flat" cmpd="sng" algn="ctr">
                      <a:solidFill>
                        <a:srgbClr val="737373"/>
                      </a:solidFill>
                      <a:prstDash val="solid"/>
                      <a:round/>
                      <a:headEnd type="none" w="med" len="med"/>
                      <a:tailEnd type="none" w="med" len="med"/>
                    </a:lnT>
                    <a:lnB w="9525" cap="flat" cmpd="sng" algn="ctr">
                      <a:solidFill>
                        <a:srgbClr val="737373"/>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Freeform 3"/>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0272807" y="2589063"/>
            <a:ext cx="6986493" cy="5108873"/>
          </a:xfrm>
          <a:custGeom>
            <a:avLst/>
            <a:gdLst/>
            <a:ahLst/>
            <a:cxnLst/>
            <a:rect l="l" t="t" r="r" b="b"/>
            <a:pathLst>
              <a:path w="6986493" h="5108873">
                <a:moveTo>
                  <a:pt x="0" y="0"/>
                </a:moveTo>
                <a:lnTo>
                  <a:pt x="6986493" y="0"/>
                </a:lnTo>
                <a:lnTo>
                  <a:pt x="6986493" y="5108874"/>
                </a:lnTo>
                <a:lnTo>
                  <a:pt x="0" y="5108874"/>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565907" y="222325"/>
            <a:ext cx="8115300" cy="806375"/>
          </a:xfrm>
          <a:prstGeom prst="rect">
            <a:avLst/>
          </a:prstGeom>
        </p:spPr>
        <p:txBody>
          <a:bodyPr lIns="0" tIns="0" rIns="0" bIns="0" rtlCol="0" anchor="t">
            <a:spAutoFit/>
          </a:bodyPr>
          <a:lstStyle/>
          <a:p>
            <a:pPr algn="l">
              <a:lnSpc>
                <a:spcPts val="6409"/>
              </a:lnSpc>
              <a:spcBef>
                <a:spcPct val="0"/>
              </a:spcBef>
            </a:pPr>
            <a:r>
              <a:rPr lang="en-US" sz="5007" b="1" spc="-125">
                <a:solidFill>
                  <a:srgbClr val="383838"/>
                </a:solidFill>
                <a:latin typeface="Noto Sans Bold"/>
                <a:ea typeface="Noto Sans Bold"/>
                <a:cs typeface="Noto Sans Bold"/>
                <a:sym typeface="Noto Sans Bold"/>
              </a:rPr>
              <a:t>Công nghệ áp dụng</a:t>
            </a:r>
          </a:p>
        </p:txBody>
      </p:sp>
      <p:sp>
        <p:nvSpPr>
          <p:cNvPr id="6" name="TextBox 6"/>
          <p:cNvSpPr txBox="1"/>
          <p:nvPr/>
        </p:nvSpPr>
        <p:spPr>
          <a:xfrm>
            <a:off x="10470255" y="8129440"/>
            <a:ext cx="6591598" cy="366141"/>
          </a:xfrm>
          <a:prstGeom prst="rect">
            <a:avLst/>
          </a:prstGeom>
        </p:spPr>
        <p:txBody>
          <a:bodyPr lIns="0" tIns="0" rIns="0" bIns="0" rtlCol="0" anchor="t">
            <a:spAutoFit/>
          </a:bodyPr>
          <a:lstStyle/>
          <a:p>
            <a:pPr algn="ctr">
              <a:lnSpc>
                <a:spcPts val="3072"/>
              </a:lnSpc>
              <a:spcBef>
                <a:spcPct val="0"/>
              </a:spcBef>
            </a:pPr>
            <a:r>
              <a:rPr lang="en-US" sz="2400" i="1" spc="-60">
                <a:solidFill>
                  <a:srgbClr val="383838"/>
                </a:solidFill>
                <a:latin typeface="Noto Sans Italics"/>
                <a:ea typeface="Noto Sans Italics"/>
                <a:cs typeface="Noto Sans Italics"/>
                <a:sym typeface="Noto Sans Italics"/>
              </a:rPr>
              <a:t>Hình 14: Cloudinary cho việc lưu trữ hình ảnh/video</a:t>
            </a:r>
          </a:p>
        </p:txBody>
      </p:sp>
      <p:sp>
        <p:nvSpPr>
          <p:cNvPr id="7" name="TextBox 7"/>
          <p:cNvSpPr txBox="1"/>
          <p:nvPr/>
        </p:nvSpPr>
        <p:spPr>
          <a:xfrm>
            <a:off x="1028700" y="1389025"/>
            <a:ext cx="7189714" cy="474345"/>
          </a:xfrm>
          <a:prstGeom prst="rect">
            <a:avLst/>
          </a:prstGeom>
        </p:spPr>
        <p:txBody>
          <a:bodyPr lIns="0" tIns="0" rIns="0" bIns="0" rtlCol="0" anchor="t">
            <a:spAutoFit/>
          </a:bodyPr>
          <a:lstStyle/>
          <a:p>
            <a:pPr algn="ctr">
              <a:lnSpc>
                <a:spcPts val="3840"/>
              </a:lnSpc>
              <a:spcBef>
                <a:spcPct val="0"/>
              </a:spcBef>
            </a:pPr>
            <a:r>
              <a:rPr lang="en-US" sz="3000" b="1" spc="-75">
                <a:solidFill>
                  <a:srgbClr val="383838"/>
                </a:solidFill>
                <a:latin typeface="Noto Sans Bold"/>
                <a:ea typeface="Noto Sans Bold"/>
                <a:cs typeface="Noto Sans Bold"/>
                <a:sym typeface="Noto Sans Bold"/>
              </a:rPr>
              <a:t>Về việc lưu trữ hình ảnh/video</a:t>
            </a:r>
          </a:p>
        </p:txBody>
      </p:sp>
    </p:spTree>
  </p:cSld>
  <p:clrMapOvr>
    <a:masterClrMapping/>
  </p:clrMapOvr>
  <p:transition>
    <p:push/>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599399" y="6866949"/>
            <a:ext cx="659901" cy="643383"/>
          </a:xfrm>
          <a:custGeom>
            <a:avLst/>
            <a:gdLst/>
            <a:ahLst/>
            <a:cxnLst/>
            <a:rect l="l" t="t" r="r" b="b"/>
            <a:pathLst>
              <a:path w="659901" h="643383">
                <a:moveTo>
                  <a:pt x="0" y="0"/>
                </a:moveTo>
                <a:lnTo>
                  <a:pt x="659901" y="0"/>
                </a:lnTo>
                <a:lnTo>
                  <a:pt x="659901" y="643383"/>
                </a:lnTo>
                <a:lnTo>
                  <a:pt x="0" y="6433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0" y="981075"/>
            <a:ext cx="11360409" cy="832919"/>
          </a:xfrm>
          <a:prstGeom prst="rect">
            <a:avLst/>
          </a:prstGeom>
        </p:spPr>
        <p:txBody>
          <a:bodyPr lIns="0" tIns="0" rIns="0" bIns="0" rtlCol="0" anchor="t">
            <a:spAutoFit/>
          </a:bodyPr>
          <a:lstStyle/>
          <a:p>
            <a:pPr algn="ctr">
              <a:lnSpc>
                <a:spcPts val="6665"/>
              </a:lnSpc>
              <a:spcBef>
                <a:spcPct val="0"/>
              </a:spcBef>
            </a:pPr>
            <a:r>
              <a:rPr lang="en-US" sz="5207" b="1" spc="-130">
                <a:solidFill>
                  <a:srgbClr val="383838"/>
                </a:solidFill>
                <a:latin typeface="Decalotype Bold"/>
                <a:ea typeface="Decalotype Bold"/>
                <a:cs typeface="Decalotype Bold"/>
                <a:sym typeface="Decalotype Bold"/>
              </a:rPr>
              <a:t>Kiến trúc Nodejs và Micro-service</a:t>
            </a:r>
          </a:p>
        </p:txBody>
      </p:sp>
      <p:sp>
        <p:nvSpPr>
          <p:cNvPr id="4" name="AutoShape 4"/>
          <p:cNvSpPr/>
          <p:nvPr/>
        </p:nvSpPr>
        <p:spPr>
          <a:xfrm flipV="1">
            <a:off x="900314" y="2925254"/>
            <a:ext cx="15851548" cy="0"/>
          </a:xfrm>
          <a:prstGeom prst="line">
            <a:avLst/>
          </a:prstGeom>
          <a:ln w="9525" cap="flat">
            <a:solidFill>
              <a:srgbClr val="737373"/>
            </a:solidFill>
            <a:prstDash val="solid"/>
            <a:headEnd type="none" w="sm" len="sm"/>
            <a:tailEnd type="none" w="sm" len="sm"/>
          </a:ln>
        </p:spPr>
        <p:txBody>
          <a:bodyPr/>
          <a:lstStyle/>
          <a:p>
            <a:endParaRPr lang="en-US"/>
          </a:p>
        </p:txBody>
      </p:sp>
      <p:grpSp>
        <p:nvGrpSpPr>
          <p:cNvPr id="5" name="Group 5"/>
          <p:cNvGrpSpPr/>
          <p:nvPr/>
        </p:nvGrpSpPr>
        <p:grpSpPr>
          <a:xfrm>
            <a:off x="900314" y="2776668"/>
            <a:ext cx="297173" cy="29717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838"/>
            </a:solidFill>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21"/>
                </a:lnSpc>
              </a:pPr>
              <a:endParaRPr/>
            </a:p>
          </p:txBody>
        </p:sp>
      </p:grpSp>
      <p:grpSp>
        <p:nvGrpSpPr>
          <p:cNvPr id="8" name="Group 8"/>
          <p:cNvGrpSpPr/>
          <p:nvPr/>
        </p:nvGrpSpPr>
        <p:grpSpPr>
          <a:xfrm>
            <a:off x="6786816" y="2776668"/>
            <a:ext cx="297173" cy="29717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838"/>
            </a:solidFill>
          </p:spPr>
          <p:txBody>
            <a:bodyPr/>
            <a:lstStyle/>
            <a:p>
              <a:endParaRPr lang="en-US"/>
            </a:p>
          </p:txBody>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21"/>
                </a:lnSpc>
              </a:pPr>
              <a:endParaRPr/>
            </a:p>
          </p:txBody>
        </p:sp>
      </p:grpSp>
      <p:grpSp>
        <p:nvGrpSpPr>
          <p:cNvPr id="11" name="Group 11"/>
          <p:cNvGrpSpPr/>
          <p:nvPr/>
        </p:nvGrpSpPr>
        <p:grpSpPr>
          <a:xfrm>
            <a:off x="12469684" y="2776668"/>
            <a:ext cx="297173" cy="29717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838"/>
            </a:solidFill>
          </p:spPr>
          <p:txBody>
            <a:bodyPr/>
            <a:lstStyle/>
            <a:p>
              <a:endParaRPr lang="en-US"/>
            </a:p>
          </p:txBody>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621"/>
                </a:lnSpc>
              </a:pPr>
              <a:endParaRPr/>
            </a:p>
          </p:txBody>
        </p:sp>
      </p:grpSp>
      <p:sp>
        <p:nvSpPr>
          <p:cNvPr id="14" name="TextBox 14"/>
          <p:cNvSpPr txBox="1"/>
          <p:nvPr/>
        </p:nvSpPr>
        <p:spPr>
          <a:xfrm>
            <a:off x="900314" y="3348454"/>
            <a:ext cx="2778873" cy="438277"/>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Decalotype Ultra-Bold"/>
                <a:ea typeface="Decalotype Ultra-Bold"/>
                <a:cs typeface="Decalotype Ultra-Bold"/>
                <a:sym typeface="Decalotype Ultra-Bold"/>
              </a:rPr>
              <a:t>Node.js</a:t>
            </a:r>
          </a:p>
        </p:txBody>
      </p:sp>
      <p:sp>
        <p:nvSpPr>
          <p:cNvPr id="15" name="TextBox 15"/>
          <p:cNvSpPr txBox="1"/>
          <p:nvPr/>
        </p:nvSpPr>
        <p:spPr>
          <a:xfrm>
            <a:off x="1048900" y="4015331"/>
            <a:ext cx="4393960" cy="1779270"/>
          </a:xfrm>
          <a:prstGeom prst="rect">
            <a:avLst/>
          </a:prstGeom>
        </p:spPr>
        <p:txBody>
          <a:bodyPr lIns="0" tIns="0" rIns="0" bIns="0" rtlCol="0" anchor="t">
            <a:spAutoFit/>
          </a:bodyPr>
          <a:lstStyle/>
          <a:p>
            <a:pPr marL="531111" lvl="1" indent="-265555" algn="l">
              <a:lnSpc>
                <a:spcPts val="3566"/>
              </a:lnSpc>
              <a:buFont typeface="Arial"/>
              <a:buChar char="•"/>
            </a:pPr>
            <a:r>
              <a:rPr lang="en-US" sz="2459">
                <a:solidFill>
                  <a:srgbClr val="383838"/>
                </a:solidFill>
                <a:latin typeface="Decalotype"/>
                <a:ea typeface="Decalotype"/>
                <a:cs typeface="Decalotype"/>
                <a:sym typeface="Decalotype"/>
              </a:rPr>
              <a:t>Mô hình asynchronous + event-driven</a:t>
            </a:r>
          </a:p>
          <a:p>
            <a:pPr marL="531111" lvl="1" indent="-265555" algn="l">
              <a:lnSpc>
                <a:spcPts val="3566"/>
              </a:lnSpc>
              <a:buFont typeface="Arial"/>
              <a:buChar char="•"/>
            </a:pPr>
            <a:r>
              <a:rPr lang="en-US" sz="2459">
                <a:solidFill>
                  <a:srgbClr val="383838"/>
                </a:solidFill>
                <a:latin typeface="Decalotype"/>
                <a:ea typeface="Decalotype"/>
                <a:cs typeface="Decalotype"/>
                <a:sym typeface="Decalotype"/>
              </a:rPr>
              <a:t>Xử lý nhiều request hiệu quả</a:t>
            </a:r>
          </a:p>
          <a:p>
            <a:pPr marL="0" lvl="0" indent="0" algn="l">
              <a:lnSpc>
                <a:spcPts val="3566"/>
              </a:lnSpc>
              <a:spcBef>
                <a:spcPct val="0"/>
              </a:spcBef>
            </a:pPr>
            <a:endParaRPr lang="en-US" sz="2459">
              <a:solidFill>
                <a:srgbClr val="383838"/>
              </a:solidFill>
              <a:latin typeface="Decalotype"/>
              <a:ea typeface="Decalotype"/>
              <a:cs typeface="Decalotype"/>
              <a:sym typeface="Decalotype"/>
            </a:endParaRPr>
          </a:p>
        </p:txBody>
      </p:sp>
      <p:sp>
        <p:nvSpPr>
          <p:cNvPr id="16" name="TextBox 16"/>
          <p:cNvSpPr txBox="1"/>
          <p:nvPr/>
        </p:nvSpPr>
        <p:spPr>
          <a:xfrm>
            <a:off x="6709645" y="3348454"/>
            <a:ext cx="2778873" cy="438277"/>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Decalotype Ultra-Bold"/>
                <a:ea typeface="Decalotype Ultra-Bold"/>
                <a:cs typeface="Decalotype Ultra-Bold"/>
                <a:sym typeface="Decalotype Ultra-Bold"/>
              </a:rPr>
              <a:t>Sử dụng NestJS</a:t>
            </a:r>
          </a:p>
        </p:txBody>
      </p:sp>
      <p:sp>
        <p:nvSpPr>
          <p:cNvPr id="17" name="TextBox 17"/>
          <p:cNvSpPr txBox="1"/>
          <p:nvPr/>
        </p:nvSpPr>
        <p:spPr>
          <a:xfrm>
            <a:off x="6904602" y="4015331"/>
            <a:ext cx="4067680" cy="1331595"/>
          </a:xfrm>
          <a:prstGeom prst="rect">
            <a:avLst/>
          </a:prstGeom>
        </p:spPr>
        <p:txBody>
          <a:bodyPr lIns="0" tIns="0" rIns="0" bIns="0" rtlCol="0" anchor="t">
            <a:spAutoFit/>
          </a:bodyPr>
          <a:lstStyle/>
          <a:p>
            <a:pPr marL="531111" lvl="1" indent="-265555" algn="l">
              <a:lnSpc>
                <a:spcPts val="3566"/>
              </a:lnSpc>
              <a:buFont typeface="Arial"/>
              <a:buChar char="•"/>
            </a:pPr>
            <a:r>
              <a:rPr lang="en-US" sz="2459">
                <a:solidFill>
                  <a:srgbClr val="383838"/>
                </a:solidFill>
                <a:latin typeface="Decalotype"/>
                <a:ea typeface="Decalotype"/>
                <a:cs typeface="Decalotype"/>
                <a:sym typeface="Decalotype"/>
              </a:rPr>
              <a:t>Cấu trúc module rõ ràng</a:t>
            </a:r>
          </a:p>
          <a:p>
            <a:pPr marL="531111" lvl="1" indent="-265555" algn="l">
              <a:lnSpc>
                <a:spcPts val="3566"/>
              </a:lnSpc>
              <a:buFont typeface="Arial"/>
              <a:buChar char="•"/>
            </a:pPr>
            <a:r>
              <a:rPr lang="en-US" sz="2459">
                <a:solidFill>
                  <a:srgbClr val="383838"/>
                </a:solidFill>
                <a:latin typeface="Decalotype"/>
                <a:ea typeface="Decalotype"/>
                <a:cs typeface="Decalotype"/>
                <a:sym typeface="Decalotype"/>
              </a:rPr>
              <a:t>Hỗ trợ dependency injection</a:t>
            </a:r>
          </a:p>
          <a:p>
            <a:pPr marL="0" lvl="0" indent="0" algn="l">
              <a:lnSpc>
                <a:spcPts val="3566"/>
              </a:lnSpc>
              <a:spcBef>
                <a:spcPct val="0"/>
              </a:spcBef>
            </a:pPr>
            <a:endParaRPr lang="en-US" sz="2459">
              <a:solidFill>
                <a:srgbClr val="383838"/>
              </a:solidFill>
              <a:latin typeface="Decalotype"/>
              <a:ea typeface="Decalotype"/>
              <a:cs typeface="Decalotype"/>
              <a:sym typeface="Decalotype"/>
            </a:endParaRPr>
          </a:p>
        </p:txBody>
      </p:sp>
      <p:sp>
        <p:nvSpPr>
          <p:cNvPr id="18" name="TextBox 18"/>
          <p:cNvSpPr txBox="1"/>
          <p:nvPr/>
        </p:nvSpPr>
        <p:spPr>
          <a:xfrm>
            <a:off x="12517468" y="3348454"/>
            <a:ext cx="3603273" cy="438277"/>
          </a:xfrm>
          <a:prstGeom prst="rect">
            <a:avLst/>
          </a:prstGeom>
        </p:spPr>
        <p:txBody>
          <a:bodyPr lIns="0" tIns="0" rIns="0" bIns="0" rtlCol="0" anchor="t">
            <a:spAutoFit/>
          </a:bodyPr>
          <a:lstStyle/>
          <a:p>
            <a:pPr marL="0" lvl="0" indent="0" algn="l">
              <a:lnSpc>
                <a:spcPts val="3583"/>
              </a:lnSpc>
            </a:pPr>
            <a:r>
              <a:rPr lang="en-US" sz="2799" b="1" spc="-69">
                <a:solidFill>
                  <a:srgbClr val="383838"/>
                </a:solidFill>
                <a:latin typeface="Decalotype Ultra-Bold"/>
                <a:ea typeface="Decalotype Ultra-Bold"/>
                <a:cs typeface="Decalotype Ultra-Bold"/>
                <a:sym typeface="Decalotype Ultra-Bold"/>
              </a:rPr>
              <a:t>Kiến trúc Microservices</a:t>
            </a:r>
          </a:p>
        </p:txBody>
      </p:sp>
      <p:sp>
        <p:nvSpPr>
          <p:cNvPr id="19" name="TextBox 19"/>
          <p:cNvSpPr txBox="1"/>
          <p:nvPr/>
        </p:nvSpPr>
        <p:spPr>
          <a:xfrm>
            <a:off x="12618271" y="4015331"/>
            <a:ext cx="4512643" cy="2674620"/>
          </a:xfrm>
          <a:prstGeom prst="rect">
            <a:avLst/>
          </a:prstGeom>
        </p:spPr>
        <p:txBody>
          <a:bodyPr lIns="0" tIns="0" rIns="0" bIns="0" rtlCol="0" anchor="t">
            <a:spAutoFit/>
          </a:bodyPr>
          <a:lstStyle/>
          <a:p>
            <a:pPr marL="531111" lvl="1" indent="-265555" algn="l">
              <a:lnSpc>
                <a:spcPts val="3566"/>
              </a:lnSpc>
              <a:buFont typeface="Arial"/>
              <a:buChar char="•"/>
            </a:pPr>
            <a:r>
              <a:rPr lang="en-US" sz="2459">
                <a:solidFill>
                  <a:srgbClr val="383838"/>
                </a:solidFill>
                <a:latin typeface="Decalotype"/>
                <a:ea typeface="Decalotype"/>
                <a:cs typeface="Decalotype"/>
                <a:sym typeface="Decalotype"/>
              </a:rPr>
              <a:t>Chia hệ thống thành nhiều service nhỏ: Product, User, Auth, Cart, Order...</a:t>
            </a:r>
          </a:p>
          <a:p>
            <a:pPr marL="531111" lvl="1" indent="-265555" algn="l">
              <a:lnSpc>
                <a:spcPts val="3566"/>
              </a:lnSpc>
              <a:buFont typeface="Arial"/>
              <a:buChar char="•"/>
            </a:pPr>
            <a:r>
              <a:rPr lang="en-US" sz="2459">
                <a:solidFill>
                  <a:srgbClr val="383838"/>
                </a:solidFill>
                <a:latin typeface="Decalotype"/>
                <a:ea typeface="Decalotype"/>
                <a:cs typeface="Decalotype"/>
                <a:sym typeface="Decalotype"/>
              </a:rPr>
              <a:t>Mỗi service độc lập, giao tiếp qua API</a:t>
            </a:r>
          </a:p>
          <a:p>
            <a:pPr marL="0" lvl="0" indent="0" algn="l">
              <a:lnSpc>
                <a:spcPts val="3566"/>
              </a:lnSpc>
              <a:spcBef>
                <a:spcPct val="0"/>
              </a:spcBef>
            </a:pPr>
            <a:endParaRPr lang="en-US" sz="2459">
              <a:solidFill>
                <a:srgbClr val="383838"/>
              </a:solidFill>
              <a:latin typeface="Decalotype"/>
              <a:ea typeface="Decalotype"/>
              <a:cs typeface="Decalotype"/>
              <a:sym typeface="Decalotype"/>
            </a:endParaRPr>
          </a:p>
        </p:txBody>
      </p:sp>
    </p:spTree>
  </p:cSld>
  <p:clrMapOvr>
    <a:masterClrMapping/>
  </p:clrMapOvr>
  <p:transition>
    <p:push/>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8859738" y="1932572"/>
            <a:ext cx="8954460" cy="5674889"/>
          </a:xfrm>
          <a:custGeom>
            <a:avLst/>
            <a:gdLst/>
            <a:ahLst/>
            <a:cxnLst/>
            <a:rect l="l" t="t" r="r" b="b"/>
            <a:pathLst>
              <a:path w="8954460" h="5674889">
                <a:moveTo>
                  <a:pt x="0" y="0"/>
                </a:moveTo>
                <a:lnTo>
                  <a:pt x="8954460" y="0"/>
                </a:lnTo>
                <a:lnTo>
                  <a:pt x="8954460" y="5674889"/>
                </a:lnTo>
                <a:lnTo>
                  <a:pt x="0" y="5674889"/>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877398" y="195781"/>
            <a:ext cx="4191025"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API Gateway</a:t>
            </a:r>
          </a:p>
        </p:txBody>
      </p:sp>
      <p:sp>
        <p:nvSpPr>
          <p:cNvPr id="5" name="TextBox 5"/>
          <p:cNvSpPr txBox="1"/>
          <p:nvPr/>
        </p:nvSpPr>
        <p:spPr>
          <a:xfrm>
            <a:off x="1270241" y="2249866"/>
            <a:ext cx="7047777" cy="5046346"/>
          </a:xfrm>
          <a:prstGeom prst="rect">
            <a:avLst/>
          </a:prstGeom>
        </p:spPr>
        <p:txBody>
          <a:bodyPr lIns="0" tIns="0" rIns="0" bIns="0" rtlCol="0" anchor="t">
            <a:spAutoFit/>
          </a:bodyPr>
          <a:lstStyle/>
          <a:p>
            <a:pPr algn="just">
              <a:lnSpc>
                <a:spcPts val="4436"/>
              </a:lnSpc>
              <a:spcBef>
                <a:spcPct val="0"/>
              </a:spcBef>
            </a:pPr>
            <a:r>
              <a:rPr lang="en-US" sz="3059">
                <a:solidFill>
                  <a:srgbClr val="383838"/>
                </a:solidFill>
                <a:latin typeface="Decalotype"/>
                <a:ea typeface="Decalotype"/>
                <a:cs typeface="Decalotype"/>
                <a:sym typeface="Decalotype"/>
              </a:rPr>
              <a:t>API Gateway là trung gian giữa client và các microservice. Client gửi request đến gateway, sau đó gateway chuyển đến service phù hợp.</a:t>
            </a:r>
          </a:p>
          <a:p>
            <a:pPr algn="just">
              <a:lnSpc>
                <a:spcPts val="4436"/>
              </a:lnSpc>
              <a:spcBef>
                <a:spcPct val="0"/>
              </a:spcBef>
            </a:pPr>
            <a:r>
              <a:rPr lang="en-US" sz="3059">
                <a:solidFill>
                  <a:srgbClr val="383838"/>
                </a:solidFill>
                <a:latin typeface="Decalotype"/>
                <a:ea typeface="Decalotype"/>
                <a:cs typeface="Decalotype"/>
                <a:sym typeface="Decalotype"/>
              </a:rPr>
              <a:t>Trong hệ thống, gateway dùng NestJS, xử lý:</a:t>
            </a:r>
          </a:p>
          <a:p>
            <a:pPr marL="660648" lvl="1" indent="-330324" algn="just">
              <a:lnSpc>
                <a:spcPts val="4436"/>
              </a:lnSpc>
              <a:buFont typeface="Arial"/>
              <a:buChar char="•"/>
            </a:pPr>
            <a:r>
              <a:rPr lang="en-US" sz="3059">
                <a:solidFill>
                  <a:srgbClr val="383838"/>
                </a:solidFill>
                <a:latin typeface="Decalotype"/>
                <a:ea typeface="Decalotype"/>
                <a:cs typeface="Decalotype"/>
                <a:sym typeface="Decalotype"/>
              </a:rPr>
              <a:t>Xác thực (JWT)</a:t>
            </a:r>
          </a:p>
          <a:p>
            <a:pPr marL="660648" lvl="1" indent="-330324" algn="just">
              <a:lnSpc>
                <a:spcPts val="4436"/>
              </a:lnSpc>
              <a:buFont typeface="Arial"/>
              <a:buChar char="•"/>
            </a:pPr>
            <a:r>
              <a:rPr lang="en-US" sz="3059">
                <a:solidFill>
                  <a:srgbClr val="383838"/>
                </a:solidFill>
                <a:latin typeface="Decalotype"/>
                <a:ea typeface="Decalotype"/>
                <a:cs typeface="Decalotype"/>
                <a:sym typeface="Decalotype"/>
              </a:rPr>
              <a:t>Phân quyền</a:t>
            </a:r>
          </a:p>
          <a:p>
            <a:pPr marL="660648" lvl="1" indent="-330324" algn="just">
              <a:lnSpc>
                <a:spcPts val="4436"/>
              </a:lnSpc>
              <a:buFont typeface="Arial"/>
              <a:buChar char="•"/>
            </a:pPr>
            <a:r>
              <a:rPr lang="en-US" sz="3059">
                <a:solidFill>
                  <a:srgbClr val="383838"/>
                </a:solidFill>
                <a:latin typeface="Decalotype"/>
                <a:ea typeface="Decalotype"/>
                <a:cs typeface="Decalotype"/>
                <a:sym typeface="Decalotype"/>
              </a:rPr>
              <a:t>Điều phối request</a:t>
            </a:r>
          </a:p>
          <a:p>
            <a:pPr algn="just">
              <a:lnSpc>
                <a:spcPts val="4436"/>
              </a:lnSpc>
              <a:spcBef>
                <a:spcPct val="0"/>
              </a:spcBef>
            </a:pPr>
            <a:r>
              <a:rPr lang="en-US" sz="3059">
                <a:solidFill>
                  <a:srgbClr val="383838"/>
                </a:solidFill>
                <a:latin typeface="Decalotype"/>
                <a:ea typeface="Decalotype"/>
                <a:cs typeface="Decalotype"/>
                <a:sym typeface="Decalotype"/>
              </a:rPr>
              <a:t>Lợi ích: đơn giản hóa client, tăng bảo mật, ẩn cấu trúc hệ thống.</a:t>
            </a:r>
          </a:p>
        </p:txBody>
      </p:sp>
      <p:sp>
        <p:nvSpPr>
          <p:cNvPr id="6" name="TextBox 6"/>
          <p:cNvSpPr txBox="1"/>
          <p:nvPr/>
        </p:nvSpPr>
        <p:spPr>
          <a:xfrm>
            <a:off x="12388135" y="8130897"/>
            <a:ext cx="3613865" cy="377860"/>
          </a:xfrm>
          <a:prstGeom prst="rect">
            <a:avLst/>
          </a:prstGeom>
        </p:spPr>
        <p:txBody>
          <a:bodyPr wrap="square" lIns="0" tIns="0" rIns="0" bIns="0" rtlCol="0" anchor="t">
            <a:spAutoFit/>
          </a:bodyPr>
          <a:lstStyle/>
          <a:p>
            <a:pPr algn="ctr">
              <a:lnSpc>
                <a:spcPts val="3081"/>
              </a:lnSpc>
              <a:spcBef>
                <a:spcPct val="0"/>
              </a:spcBef>
            </a:pPr>
            <a:r>
              <a:rPr lang="en-US" sz="2407" i="1" spc="-60" dirty="0">
                <a:solidFill>
                  <a:srgbClr val="383838"/>
                </a:solidFill>
                <a:latin typeface="Noto Sans Italics"/>
                <a:ea typeface="Noto Sans Italics"/>
                <a:cs typeface="Noto Sans Italics"/>
                <a:sym typeface="Noto Sans Italics"/>
              </a:rPr>
              <a:t> </a:t>
            </a:r>
            <a:r>
              <a:rPr lang="en-US" sz="2407" i="1" spc="-60" dirty="0" err="1">
                <a:solidFill>
                  <a:srgbClr val="383838"/>
                </a:solidFill>
                <a:latin typeface="Noto Sans Italics"/>
                <a:ea typeface="Noto Sans Italics"/>
                <a:cs typeface="Noto Sans Italics"/>
                <a:sym typeface="Noto Sans Italics"/>
              </a:rPr>
              <a:t>Hình</a:t>
            </a:r>
            <a:r>
              <a:rPr lang="en-US" sz="2407" i="1" spc="-60" dirty="0">
                <a:solidFill>
                  <a:srgbClr val="383838"/>
                </a:solidFill>
                <a:latin typeface="Noto Sans Italics"/>
                <a:ea typeface="Noto Sans Italics"/>
                <a:cs typeface="Noto Sans Italics"/>
                <a:sym typeface="Noto Sans Italics"/>
              </a:rPr>
              <a:t> 15 : API Gateway</a:t>
            </a:r>
          </a:p>
        </p:txBody>
      </p:sp>
    </p:spTree>
  </p:cSld>
  <p:clrMapOvr>
    <a:masterClrMapping/>
  </p:clrMapOvr>
  <p:transition>
    <p:push/>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572182" y="4450312"/>
            <a:ext cx="13143635" cy="4486296"/>
          </a:xfrm>
          <a:custGeom>
            <a:avLst/>
            <a:gdLst/>
            <a:ahLst/>
            <a:cxnLst/>
            <a:rect l="l" t="t" r="r" b="b"/>
            <a:pathLst>
              <a:path w="13143635" h="4486296">
                <a:moveTo>
                  <a:pt x="0" y="0"/>
                </a:moveTo>
                <a:lnTo>
                  <a:pt x="13143636" y="0"/>
                </a:lnTo>
                <a:lnTo>
                  <a:pt x="13143636" y="4486297"/>
                </a:lnTo>
                <a:lnTo>
                  <a:pt x="0" y="448629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350880" y="195781"/>
            <a:ext cx="13821250" cy="1671119"/>
          </a:xfrm>
          <a:prstGeom prst="rect">
            <a:avLst/>
          </a:prstGeom>
        </p:spPr>
        <p:txBody>
          <a:bodyPr lIns="0" tIns="0" rIns="0" bIns="0" rtlCol="0" anchor="t">
            <a:spAutoFit/>
          </a:bodyPr>
          <a:lstStyle/>
          <a:p>
            <a:pPr algn="l">
              <a:lnSpc>
                <a:spcPts val="6665"/>
              </a:lnSpc>
            </a:pPr>
            <a:r>
              <a:rPr lang="en-US" sz="5207" b="1" spc="-130">
                <a:solidFill>
                  <a:srgbClr val="383838"/>
                </a:solidFill>
                <a:latin typeface="Decalotype Bold"/>
                <a:ea typeface="Decalotype Bold"/>
                <a:cs typeface="Decalotype Bold"/>
                <a:sym typeface="Decalotype Bold"/>
              </a:rPr>
              <a:t>Định hướng tích hợp hệ thống AI Agent</a:t>
            </a:r>
          </a:p>
          <a:p>
            <a:pPr algn="l">
              <a:lnSpc>
                <a:spcPts val="6665"/>
              </a:lnSpc>
              <a:spcBef>
                <a:spcPct val="0"/>
              </a:spcBef>
            </a:pPr>
            <a:endParaRPr lang="en-US" sz="5207" b="1" spc="-130">
              <a:solidFill>
                <a:srgbClr val="383838"/>
              </a:solidFill>
              <a:latin typeface="Decalotype Bold"/>
              <a:ea typeface="Decalotype Bold"/>
              <a:cs typeface="Decalotype Bold"/>
              <a:sym typeface="Decalotype Bold"/>
            </a:endParaRPr>
          </a:p>
        </p:txBody>
      </p:sp>
      <p:sp>
        <p:nvSpPr>
          <p:cNvPr id="5" name="TextBox 5"/>
          <p:cNvSpPr txBox="1"/>
          <p:nvPr/>
        </p:nvSpPr>
        <p:spPr>
          <a:xfrm>
            <a:off x="1028700" y="1366029"/>
            <a:ext cx="15131075" cy="2415159"/>
          </a:xfrm>
          <a:prstGeom prst="rect">
            <a:avLst/>
          </a:prstGeom>
        </p:spPr>
        <p:txBody>
          <a:bodyPr lIns="0" tIns="0" rIns="0" bIns="0" rtlCol="0" anchor="t">
            <a:spAutoFit/>
          </a:bodyPr>
          <a:lstStyle/>
          <a:p>
            <a:pPr algn="l">
              <a:lnSpc>
                <a:spcPts val="4818"/>
              </a:lnSpc>
            </a:pPr>
            <a:r>
              <a:rPr lang="en-US" sz="3300" b="1" spc="-82">
                <a:solidFill>
                  <a:srgbClr val="383838"/>
                </a:solidFill>
                <a:latin typeface="Decalotype Bold"/>
                <a:ea typeface="Decalotype Bold"/>
                <a:cs typeface="Decalotype Bold"/>
                <a:sym typeface="Decalotype Bold"/>
              </a:rPr>
              <a:t>AI Agent được tích hợp vào website bán quần áo nhằm tăng tính thông minh, hỗ trợ người dùng và cá nhân hóa trải nghiệm mua sắm. AI Agent không hoạt động độc lập mà được kết hợp với n8n, trong đó n8n đóng vai trò điều phối workflow, còn AI Agent đảm nhiệm xử lý ngữ cảnh, sinh phản hồi, gợi ý sản phẩm và hỗ trợ phân tích dữ liệu.</a:t>
            </a:r>
          </a:p>
        </p:txBody>
      </p:sp>
      <p:sp>
        <p:nvSpPr>
          <p:cNvPr id="6" name="TextBox 6"/>
          <p:cNvSpPr txBox="1"/>
          <p:nvPr/>
        </p:nvSpPr>
        <p:spPr>
          <a:xfrm>
            <a:off x="7638584" y="9364129"/>
            <a:ext cx="5086816" cy="390813"/>
          </a:xfrm>
          <a:prstGeom prst="rect">
            <a:avLst/>
          </a:prstGeom>
        </p:spPr>
        <p:txBody>
          <a:bodyPr wrap="square" lIns="0" tIns="0" rIns="0" bIns="0" rtlCol="0" anchor="t">
            <a:spAutoFit/>
          </a:bodyPr>
          <a:lstStyle/>
          <a:p>
            <a:pPr algn="ctr">
              <a:lnSpc>
                <a:spcPts val="3209"/>
              </a:lnSpc>
              <a:spcBef>
                <a:spcPct val="0"/>
              </a:spcBef>
            </a:pPr>
            <a:r>
              <a:rPr lang="en-US" sz="2507" i="1" spc="-62" dirty="0">
                <a:solidFill>
                  <a:srgbClr val="383838"/>
                </a:solidFill>
                <a:latin typeface="Noto Sans Italics"/>
                <a:ea typeface="Noto Sans Italics"/>
                <a:cs typeface="Noto Sans Italics"/>
                <a:sym typeface="Noto Sans Italics"/>
              </a:rPr>
              <a:t> </a:t>
            </a:r>
            <a:r>
              <a:rPr lang="en-US" sz="2507" i="1" spc="-62" dirty="0" err="1">
                <a:solidFill>
                  <a:srgbClr val="383838"/>
                </a:solidFill>
                <a:latin typeface="Noto Sans Italics"/>
                <a:ea typeface="Noto Sans Italics"/>
                <a:cs typeface="Noto Sans Italics"/>
                <a:sym typeface="Noto Sans Italics"/>
              </a:rPr>
              <a:t>Hình</a:t>
            </a:r>
            <a:r>
              <a:rPr lang="en-US" sz="2507" i="1" spc="-62" dirty="0">
                <a:solidFill>
                  <a:srgbClr val="383838"/>
                </a:solidFill>
                <a:latin typeface="Noto Sans Italics"/>
                <a:ea typeface="Noto Sans Italics"/>
                <a:cs typeface="Noto Sans Italics"/>
                <a:sym typeface="Noto Sans Italics"/>
              </a:rPr>
              <a:t> 16 : Các module AI Agent</a:t>
            </a:r>
          </a:p>
        </p:txBody>
      </p:sp>
    </p:spTree>
  </p:cSld>
  <p:clrMapOvr>
    <a:masterClrMapping/>
  </p:clrMapOvr>
  <p:transition>
    <p:push/>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350880" y="195781"/>
            <a:ext cx="17937120" cy="832919"/>
          </a:xfrm>
          <a:prstGeom prst="rect">
            <a:avLst/>
          </a:prstGeom>
        </p:spPr>
        <p:txBody>
          <a:bodyPr lIns="0" tIns="0" rIns="0" bIns="0" rtlCol="0" anchor="t">
            <a:spAutoFit/>
          </a:bodyPr>
          <a:lstStyle/>
          <a:p>
            <a:pPr algn="ctr">
              <a:lnSpc>
                <a:spcPts val="6665"/>
              </a:lnSpc>
              <a:spcBef>
                <a:spcPct val="0"/>
              </a:spcBef>
            </a:pPr>
            <a:r>
              <a:rPr lang="en-US" sz="5207" b="1" spc="-130">
                <a:solidFill>
                  <a:srgbClr val="383838"/>
                </a:solidFill>
                <a:latin typeface="Decalotype Bold"/>
                <a:ea typeface="Decalotype Bold"/>
                <a:cs typeface="Decalotype Bold"/>
                <a:sym typeface="Decalotype Bold"/>
              </a:rPr>
              <a:t>Định hướng tích hợp hệ thống tự động hóa n8n kết hợp AI Agent</a:t>
            </a:r>
          </a:p>
        </p:txBody>
      </p:sp>
      <p:sp>
        <p:nvSpPr>
          <p:cNvPr id="4" name="TextBox 4"/>
          <p:cNvSpPr txBox="1"/>
          <p:nvPr/>
        </p:nvSpPr>
        <p:spPr>
          <a:xfrm>
            <a:off x="1978120" y="1394403"/>
            <a:ext cx="14331759" cy="6070906"/>
          </a:xfrm>
          <a:prstGeom prst="rect">
            <a:avLst/>
          </a:prstGeom>
        </p:spPr>
        <p:txBody>
          <a:bodyPr lIns="0" tIns="0" rIns="0" bIns="0" rtlCol="0" anchor="t">
            <a:spAutoFit/>
          </a:bodyPr>
          <a:lstStyle/>
          <a:p>
            <a:pPr marL="735653" lvl="1" indent="-367826" algn="l">
              <a:lnSpc>
                <a:spcPts val="4361"/>
              </a:lnSpc>
              <a:buFont typeface="Arial"/>
              <a:buChar char="•"/>
            </a:pPr>
            <a:r>
              <a:rPr lang="en-US" sz="3407" b="1" spc="-85">
                <a:solidFill>
                  <a:srgbClr val="383838"/>
                </a:solidFill>
                <a:latin typeface="Decalotype Bold"/>
                <a:ea typeface="Decalotype Bold"/>
                <a:cs typeface="Decalotype Bold"/>
                <a:sym typeface="Decalotype Bold"/>
              </a:rPr>
              <a:t>Hệ thống thương mại điện tử tích hợp n8n (nền tảng tự động hóa) và AI Agent để nâng cao trải nghiệm người dùng và tối ưu vận hành.</a:t>
            </a:r>
          </a:p>
          <a:p>
            <a:pPr marL="735653" lvl="1" indent="-367826" algn="l">
              <a:lnSpc>
                <a:spcPts val="4361"/>
              </a:lnSpc>
              <a:buFont typeface="Arial"/>
              <a:buChar char="•"/>
            </a:pPr>
            <a:r>
              <a:rPr lang="en-US" sz="3407" b="1" spc="-85">
                <a:solidFill>
                  <a:srgbClr val="383838"/>
                </a:solidFill>
                <a:latin typeface="Decalotype Bold"/>
                <a:ea typeface="Decalotype Bold"/>
                <a:cs typeface="Decalotype Bold"/>
                <a:sym typeface="Decalotype Bold"/>
              </a:rPr>
              <a:t>Cơ chế hoạt động: n8n đóng vai trò là trung tâm điều phối. Khi có request từ người dùng (qua API Gateway), n8n sẽ gọi các Microservices (Sản phẩm, Tồn kho, Giỏ hàng...) để thu thập dữ liệu, sau đó chuyển ngữ cảnh cho AI Agent xử lý và trả kết quả cuối cùng.</a:t>
            </a:r>
          </a:p>
          <a:p>
            <a:pPr marL="735653" lvl="1" indent="-367826" algn="l">
              <a:lnSpc>
                <a:spcPts val="4361"/>
              </a:lnSpc>
              <a:buFont typeface="Arial"/>
              <a:buChar char="•"/>
            </a:pPr>
            <a:r>
              <a:rPr lang="en-US" sz="3407" b="1" spc="-85">
                <a:solidFill>
                  <a:srgbClr val="383838"/>
                </a:solidFill>
                <a:latin typeface="Decalotype Bold"/>
                <a:ea typeface="Decalotype Bold"/>
                <a:cs typeface="Decalotype Bold"/>
                <a:sym typeface="Decalotype Bold"/>
              </a:rPr>
              <a:t>Tính năng chính: Hỗ trợ Chatbot tư vấn thời trang, gợi ý phối đồ, nhắc nhở giỏ hàng bỏ quên, tự động hóa thông báo đơn hàng/tồn kho và phân tích dữ liệu hành vi.</a:t>
            </a:r>
          </a:p>
          <a:p>
            <a:pPr marL="735653" lvl="1" indent="-367826" algn="l">
              <a:lnSpc>
                <a:spcPts val="4361"/>
              </a:lnSpc>
              <a:buFont typeface="Arial"/>
              <a:buChar char="•"/>
            </a:pPr>
            <a:r>
              <a:rPr lang="en-US" sz="3407" b="1" spc="-85">
                <a:solidFill>
                  <a:srgbClr val="383838"/>
                </a:solidFill>
                <a:latin typeface="Decalotype Bold"/>
                <a:ea typeface="Decalotype Bold"/>
                <a:cs typeface="Decalotype Bold"/>
                <a:sym typeface="Decalotype Bold"/>
              </a:rPr>
              <a:t>Lợi ích: Cho phép phát triển các tính năng thông minh một cách linh hoạt nhưng vẫn giữ nguyên sự độc lập và rõ ràng của kiến trúc Microservices hiện tại.</a:t>
            </a:r>
          </a:p>
        </p:txBody>
      </p:sp>
    </p:spTree>
  </p:cSld>
  <p:clrMapOvr>
    <a:masterClrMapping/>
  </p:clrMapOvr>
  <p:transition>
    <p:push/>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872512" y="1523790"/>
            <a:ext cx="12091860" cy="8056202"/>
          </a:xfrm>
          <a:custGeom>
            <a:avLst/>
            <a:gdLst/>
            <a:ahLst/>
            <a:cxnLst/>
            <a:rect l="l" t="t" r="r" b="b"/>
            <a:pathLst>
              <a:path w="12091860" h="8056202">
                <a:moveTo>
                  <a:pt x="0" y="0"/>
                </a:moveTo>
                <a:lnTo>
                  <a:pt x="12091860" y="0"/>
                </a:lnTo>
                <a:lnTo>
                  <a:pt x="12091860" y="8056201"/>
                </a:lnTo>
                <a:lnTo>
                  <a:pt x="0" y="805620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279193" y="468728"/>
            <a:ext cx="10846244"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 Kiến trúc tích hợp AI Agent</a:t>
            </a:r>
          </a:p>
        </p:txBody>
      </p:sp>
      <p:sp>
        <p:nvSpPr>
          <p:cNvPr id="5" name="TextBox 5"/>
          <p:cNvSpPr txBox="1"/>
          <p:nvPr/>
        </p:nvSpPr>
        <p:spPr>
          <a:xfrm>
            <a:off x="6707534" y="9770491"/>
            <a:ext cx="6398865" cy="483850"/>
          </a:xfrm>
          <a:prstGeom prst="rect">
            <a:avLst/>
          </a:prstGeom>
        </p:spPr>
        <p:txBody>
          <a:bodyPr wrap="square" lIns="0" tIns="0" rIns="0" bIns="0" rtlCol="0" anchor="t">
            <a:spAutoFit/>
          </a:bodyPr>
          <a:lstStyle/>
          <a:p>
            <a:pPr algn="ctr">
              <a:lnSpc>
                <a:spcPts val="3977"/>
              </a:lnSpc>
              <a:spcBef>
                <a:spcPct val="0"/>
              </a:spcBef>
            </a:pPr>
            <a:r>
              <a:rPr lang="en-US" sz="3107" i="1" spc="-77" dirty="0">
                <a:solidFill>
                  <a:srgbClr val="383838"/>
                </a:solidFill>
                <a:latin typeface="Decalotype Italics"/>
                <a:ea typeface="Decalotype Italics"/>
                <a:cs typeface="Decalotype Italics"/>
                <a:sym typeface="Decalotype Italics"/>
              </a:rPr>
              <a:t> </a:t>
            </a:r>
            <a:r>
              <a:rPr lang="en-US" sz="3107" i="1" spc="-77" dirty="0" err="1">
                <a:solidFill>
                  <a:srgbClr val="383838"/>
                </a:solidFill>
                <a:latin typeface="Decalotype Italics"/>
                <a:ea typeface="Decalotype Italics"/>
                <a:cs typeface="Decalotype Italics"/>
                <a:sym typeface="Decalotype Italics"/>
              </a:rPr>
              <a:t>Hình</a:t>
            </a:r>
            <a:r>
              <a:rPr lang="en-US" sz="3107" i="1" spc="-77" dirty="0">
                <a:solidFill>
                  <a:srgbClr val="383838"/>
                </a:solidFill>
                <a:latin typeface="Decalotype Italics"/>
                <a:ea typeface="Decalotype Italics"/>
                <a:cs typeface="Decalotype Italics"/>
                <a:sym typeface="Decalotype Italics"/>
              </a:rPr>
              <a:t> 16:  </a:t>
            </a:r>
            <a:r>
              <a:rPr lang="en-US" sz="3107" i="1" spc="-77" dirty="0" err="1">
                <a:solidFill>
                  <a:srgbClr val="383838"/>
                </a:solidFill>
                <a:latin typeface="Decalotype Italics"/>
                <a:ea typeface="Decalotype Italics"/>
                <a:cs typeface="Decalotype Italics"/>
                <a:sym typeface="Decalotype Italics"/>
              </a:rPr>
              <a:t>Kiến</a:t>
            </a:r>
            <a:r>
              <a:rPr lang="en-US" sz="3107" i="1" spc="-77" dirty="0">
                <a:solidFill>
                  <a:srgbClr val="383838"/>
                </a:solidFill>
                <a:latin typeface="Decalotype Italics"/>
                <a:ea typeface="Decalotype Italics"/>
                <a:cs typeface="Decalotype Italics"/>
                <a:sym typeface="Decalotype Italics"/>
              </a:rPr>
              <a:t> </a:t>
            </a:r>
            <a:r>
              <a:rPr lang="en-US" sz="3107" i="1" spc="-77" dirty="0" err="1">
                <a:solidFill>
                  <a:srgbClr val="383838"/>
                </a:solidFill>
                <a:latin typeface="Decalotype Italics"/>
                <a:ea typeface="Decalotype Italics"/>
                <a:cs typeface="Decalotype Italics"/>
                <a:sym typeface="Decalotype Italics"/>
              </a:rPr>
              <a:t>trúc</a:t>
            </a:r>
            <a:r>
              <a:rPr lang="en-US" sz="3107" i="1" spc="-77" dirty="0">
                <a:solidFill>
                  <a:srgbClr val="383838"/>
                </a:solidFill>
                <a:latin typeface="Decalotype Italics"/>
                <a:ea typeface="Decalotype Italics"/>
                <a:cs typeface="Decalotype Italics"/>
                <a:sym typeface="Decalotype Italics"/>
              </a:rPr>
              <a:t> </a:t>
            </a:r>
            <a:r>
              <a:rPr lang="en-US" sz="3107" i="1" spc="-77" dirty="0" err="1">
                <a:solidFill>
                  <a:srgbClr val="383838"/>
                </a:solidFill>
                <a:latin typeface="Decalotype Italics"/>
                <a:ea typeface="Decalotype Italics"/>
                <a:cs typeface="Decalotype Italics"/>
                <a:sym typeface="Decalotype Italics"/>
              </a:rPr>
              <a:t>tích</a:t>
            </a:r>
            <a:r>
              <a:rPr lang="en-US" sz="3107" i="1" spc="-77" dirty="0">
                <a:solidFill>
                  <a:srgbClr val="383838"/>
                </a:solidFill>
                <a:latin typeface="Decalotype Italics"/>
                <a:ea typeface="Decalotype Italics"/>
                <a:cs typeface="Decalotype Italics"/>
                <a:sym typeface="Decalotype Italics"/>
              </a:rPr>
              <a:t> </a:t>
            </a:r>
            <a:r>
              <a:rPr lang="en-US" sz="3107" i="1" spc="-77" dirty="0" err="1">
                <a:solidFill>
                  <a:srgbClr val="383838"/>
                </a:solidFill>
                <a:latin typeface="Decalotype Italics"/>
                <a:ea typeface="Decalotype Italics"/>
                <a:cs typeface="Decalotype Italics"/>
                <a:sym typeface="Decalotype Italics"/>
              </a:rPr>
              <a:t>hợp</a:t>
            </a:r>
            <a:r>
              <a:rPr lang="en-US" sz="3107" i="1" spc="-77" dirty="0">
                <a:solidFill>
                  <a:srgbClr val="383838"/>
                </a:solidFill>
                <a:latin typeface="Decalotype Italics"/>
                <a:ea typeface="Decalotype Italics"/>
                <a:cs typeface="Decalotype Italics"/>
                <a:sym typeface="Decalotype Italics"/>
              </a:rPr>
              <a:t> AI Agent</a:t>
            </a:r>
          </a:p>
        </p:txBody>
      </p:sp>
    </p:spTree>
  </p:cSld>
  <p:clrMapOvr>
    <a:masterClrMapping/>
  </p:clrMapOvr>
  <p:transition>
    <p:push/>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3192163" y="1520540"/>
            <a:ext cx="10908360" cy="8059451"/>
          </a:xfrm>
          <a:custGeom>
            <a:avLst/>
            <a:gdLst/>
            <a:ahLst/>
            <a:cxnLst/>
            <a:rect l="l" t="t" r="r" b="b"/>
            <a:pathLst>
              <a:path w="10908360" h="8059451">
                <a:moveTo>
                  <a:pt x="0" y="0"/>
                </a:moveTo>
                <a:lnTo>
                  <a:pt x="10908360" y="0"/>
                </a:lnTo>
                <a:lnTo>
                  <a:pt x="10908360" y="8059451"/>
                </a:lnTo>
                <a:lnTo>
                  <a:pt x="0" y="8059451"/>
                </a:lnTo>
                <a:lnTo>
                  <a:pt x="0" y="0"/>
                </a:lnTo>
                <a:close/>
              </a:path>
            </a:pathLst>
          </a:custGeom>
          <a:blipFill>
            <a:blip r:embed="rId3"/>
            <a:stretch>
              <a:fillRect b="-1511"/>
            </a:stretch>
          </a:blipFill>
        </p:spPr>
        <p:txBody>
          <a:bodyPr/>
          <a:lstStyle/>
          <a:p>
            <a:endParaRPr lang="en-US"/>
          </a:p>
        </p:txBody>
      </p:sp>
      <p:sp>
        <p:nvSpPr>
          <p:cNvPr id="4" name="TextBox 4"/>
          <p:cNvSpPr txBox="1"/>
          <p:nvPr/>
        </p:nvSpPr>
        <p:spPr>
          <a:xfrm>
            <a:off x="279193" y="468728"/>
            <a:ext cx="10846244" cy="1671119"/>
          </a:xfrm>
          <a:prstGeom prst="rect">
            <a:avLst/>
          </a:prstGeom>
        </p:spPr>
        <p:txBody>
          <a:bodyPr lIns="0" tIns="0" rIns="0" bIns="0" rtlCol="0" anchor="t">
            <a:spAutoFit/>
          </a:bodyPr>
          <a:lstStyle/>
          <a:p>
            <a:pPr algn="l">
              <a:lnSpc>
                <a:spcPts val="6665"/>
              </a:lnSpc>
            </a:pPr>
            <a:r>
              <a:rPr lang="en-US" sz="5207" b="1" spc="-130">
                <a:solidFill>
                  <a:srgbClr val="383838"/>
                </a:solidFill>
                <a:latin typeface="Decalotype Bold"/>
                <a:ea typeface="Decalotype Bold"/>
                <a:cs typeface="Decalotype Bold"/>
                <a:sym typeface="Decalotype Bold"/>
              </a:rPr>
              <a:t>Luồng xử lý AI Agent cá thể hóa</a:t>
            </a:r>
          </a:p>
          <a:p>
            <a:pPr algn="l">
              <a:lnSpc>
                <a:spcPts val="6665"/>
              </a:lnSpc>
              <a:spcBef>
                <a:spcPct val="0"/>
              </a:spcBef>
            </a:pPr>
            <a:endParaRPr lang="en-US" sz="5207" b="1" spc="-130">
              <a:solidFill>
                <a:srgbClr val="383838"/>
              </a:solidFill>
              <a:latin typeface="Decalotype Bold"/>
              <a:ea typeface="Decalotype Bold"/>
              <a:cs typeface="Decalotype Bold"/>
              <a:sym typeface="Decalotype Bold"/>
            </a:endParaRPr>
          </a:p>
        </p:txBody>
      </p:sp>
      <p:sp>
        <p:nvSpPr>
          <p:cNvPr id="5" name="TextBox 5"/>
          <p:cNvSpPr txBox="1"/>
          <p:nvPr/>
        </p:nvSpPr>
        <p:spPr>
          <a:xfrm>
            <a:off x="5702315" y="9732085"/>
            <a:ext cx="6207919" cy="554915"/>
          </a:xfrm>
          <a:prstGeom prst="rect">
            <a:avLst/>
          </a:prstGeom>
        </p:spPr>
        <p:txBody>
          <a:bodyPr lIns="0" tIns="0" rIns="0" bIns="0" rtlCol="0" anchor="t">
            <a:spAutoFit/>
          </a:bodyPr>
          <a:lstStyle/>
          <a:p>
            <a:pPr algn="ctr">
              <a:lnSpc>
                <a:spcPts val="4489"/>
              </a:lnSpc>
              <a:spcBef>
                <a:spcPct val="0"/>
              </a:spcBef>
            </a:pPr>
            <a:r>
              <a:rPr lang="en-US" sz="3507" spc="-87">
                <a:solidFill>
                  <a:srgbClr val="383838"/>
                </a:solidFill>
                <a:latin typeface="Decalotype"/>
                <a:ea typeface="Decalotype"/>
                <a:cs typeface="Decalotype"/>
                <a:sym typeface="Decalotype"/>
              </a:rPr>
              <a:t> Hình 17: Luồng xử lý AI Agent cá thể hóa</a:t>
            </a:r>
          </a:p>
        </p:txBody>
      </p:sp>
    </p:spTree>
  </p:cSld>
  <p:clrMapOvr>
    <a:masterClrMapping/>
  </p:clrMapOvr>
  <p:transition>
    <p:push/>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FEEE8"/>
        </a:solidFill>
        <a:effectLst/>
      </p:bgPr>
    </p:bg>
    <p:spTree>
      <p:nvGrpSpPr>
        <p:cNvPr id="1" name=""/>
        <p:cNvGrpSpPr/>
        <p:nvPr/>
      </p:nvGrpSpPr>
      <p:grpSpPr>
        <a:xfrm>
          <a:off x="0" y="0"/>
          <a:ext cx="0" cy="0"/>
          <a:chOff x="0" y="0"/>
          <a:chExt cx="0" cy="0"/>
        </a:xfrm>
      </p:grpSpPr>
      <p:sp>
        <p:nvSpPr>
          <p:cNvPr id="2" name="Freeform 2"/>
          <p:cNvSpPr/>
          <p:nvPr/>
        </p:nvSpPr>
        <p:spPr>
          <a:xfrm>
            <a:off x="16804957" y="8936609"/>
            <a:ext cx="659901" cy="643383"/>
          </a:xfrm>
          <a:custGeom>
            <a:avLst/>
            <a:gdLst/>
            <a:ahLst/>
            <a:cxnLst/>
            <a:rect l="l" t="t" r="r" b="b"/>
            <a:pathLst>
              <a:path w="659901" h="643383">
                <a:moveTo>
                  <a:pt x="0" y="0"/>
                </a:moveTo>
                <a:lnTo>
                  <a:pt x="659901" y="0"/>
                </a:lnTo>
                <a:lnTo>
                  <a:pt x="659901" y="643382"/>
                </a:lnTo>
                <a:lnTo>
                  <a:pt x="0" y="643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3443067" y="1451156"/>
            <a:ext cx="10838447" cy="8128835"/>
          </a:xfrm>
          <a:custGeom>
            <a:avLst/>
            <a:gdLst/>
            <a:ahLst/>
            <a:cxnLst/>
            <a:rect l="l" t="t" r="r" b="b"/>
            <a:pathLst>
              <a:path w="10838447" h="8128835">
                <a:moveTo>
                  <a:pt x="0" y="0"/>
                </a:moveTo>
                <a:lnTo>
                  <a:pt x="10838447" y="0"/>
                </a:lnTo>
                <a:lnTo>
                  <a:pt x="10838447" y="8128835"/>
                </a:lnTo>
                <a:lnTo>
                  <a:pt x="0" y="8128835"/>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279193" y="468728"/>
            <a:ext cx="12817633" cy="832919"/>
          </a:xfrm>
          <a:prstGeom prst="rect">
            <a:avLst/>
          </a:prstGeom>
        </p:spPr>
        <p:txBody>
          <a:bodyPr lIns="0" tIns="0" rIns="0" bIns="0" rtlCol="0" anchor="t">
            <a:spAutoFit/>
          </a:bodyPr>
          <a:lstStyle/>
          <a:p>
            <a:pPr algn="l">
              <a:lnSpc>
                <a:spcPts val="6665"/>
              </a:lnSpc>
              <a:spcBef>
                <a:spcPct val="0"/>
              </a:spcBef>
            </a:pPr>
            <a:r>
              <a:rPr lang="en-US" sz="5207" b="1" spc="-130">
                <a:solidFill>
                  <a:srgbClr val="383838"/>
                </a:solidFill>
                <a:latin typeface="Decalotype Bold"/>
                <a:ea typeface="Decalotype Bold"/>
                <a:cs typeface="Decalotype Bold"/>
                <a:sym typeface="Decalotype Bold"/>
              </a:rPr>
              <a:t>Ví dụ cụ thể về luồng xử lý AI Agent cá thể hóa</a:t>
            </a:r>
          </a:p>
        </p:txBody>
      </p:sp>
      <p:sp>
        <p:nvSpPr>
          <p:cNvPr id="5" name="TextBox 5"/>
          <p:cNvSpPr txBox="1"/>
          <p:nvPr/>
        </p:nvSpPr>
        <p:spPr>
          <a:xfrm>
            <a:off x="5826445" y="9703816"/>
            <a:ext cx="6071692" cy="403150"/>
          </a:xfrm>
          <a:prstGeom prst="rect">
            <a:avLst/>
          </a:prstGeom>
        </p:spPr>
        <p:txBody>
          <a:bodyPr lIns="0" tIns="0" rIns="0" bIns="0" rtlCol="0" anchor="t">
            <a:spAutoFit/>
          </a:bodyPr>
          <a:lstStyle/>
          <a:p>
            <a:pPr algn="ctr">
              <a:lnSpc>
                <a:spcPts val="3209"/>
              </a:lnSpc>
              <a:spcBef>
                <a:spcPct val="0"/>
              </a:spcBef>
            </a:pPr>
            <a:r>
              <a:rPr lang="en-US" sz="2507" i="1" spc="-62">
                <a:solidFill>
                  <a:srgbClr val="383838"/>
                </a:solidFill>
                <a:latin typeface="Decalotype Italics"/>
                <a:ea typeface="Decalotype Italics"/>
                <a:cs typeface="Decalotype Italics"/>
                <a:sym typeface="Decalotype Italics"/>
              </a:rPr>
              <a:t> Hình 18: Ví dụ cụ thể về luồng xử lý AI Agent cá thể hóa</a:t>
            </a:r>
          </a:p>
        </p:txBody>
      </p:sp>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2881</Words>
  <Application>Microsoft Office PowerPoint</Application>
  <PresentationFormat>Custom</PresentationFormat>
  <Paragraphs>244</Paragraphs>
  <Slides>32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Decalotype Bold</vt:lpstr>
      <vt:lpstr>Noto Sans Bold</vt:lpstr>
      <vt:lpstr>Decalotype Italics</vt:lpstr>
      <vt:lpstr>Decalotype</vt:lpstr>
      <vt:lpstr>Noto Sans</vt:lpstr>
      <vt:lpstr>Noto Sans Italics</vt:lpstr>
      <vt:lpstr>Decalotype Ultra-Bold</vt:lpstr>
      <vt:lpstr>Poppins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Grey Simple Dynamic Professional Portfolio Presentation</dc:title>
  <cp:lastModifiedBy>Đức Nguyễn Việt</cp:lastModifiedBy>
  <cp:revision>2</cp:revision>
  <dcterms:created xsi:type="dcterms:W3CDTF">2006-08-16T00:00:00Z</dcterms:created>
  <dcterms:modified xsi:type="dcterms:W3CDTF">2026-04-29T15:32:16Z</dcterms:modified>
  <dc:identifier>DAHFHT22sL4</dc:identifier>
</cp:coreProperties>
</file>