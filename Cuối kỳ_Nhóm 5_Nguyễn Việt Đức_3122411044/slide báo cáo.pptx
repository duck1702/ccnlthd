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8288000" cy="10287000"/>
  <p:notesSz cx="6858000" cy="9144000"/>
  <p:embeddedFontLst>
    <p:embeddedFont>
      <p:font typeface="Decalotype" panose="020B0604020202020204" charset="0"/>
      <p:regular r:id="rId64"/>
    </p:embeddedFont>
    <p:embeddedFont>
      <p:font typeface="Decalotype Bold" panose="020B0604020202020204" charset="0"/>
      <p:regular r:id="rId65"/>
    </p:embeddedFont>
    <p:embeddedFont>
      <p:font typeface="Decalotype Italics" panose="020B0604020202020204" charset="0"/>
      <p:regular r:id="rId66"/>
    </p:embeddedFont>
    <p:embeddedFont>
      <p:font typeface="Decalotype Ultra-Bold" panose="020B0604020202020204" charset="0"/>
      <p:regular r:id="rId67"/>
    </p:embeddedFont>
    <p:embeddedFont>
      <p:font typeface="Noto Sans" panose="020B0502040504020204" pitchFamily="34" charset="0"/>
      <p:regular r:id="rId68"/>
    </p:embeddedFont>
    <p:embeddedFont>
      <p:font typeface="Noto Sans Bold" panose="020B0604020202020204" charset="0"/>
      <p:regular r:id="rId69"/>
    </p:embeddedFont>
    <p:embeddedFont>
      <p:font typeface="Noto Sans Italics" panose="020B0604020202020204" charset="0"/>
      <p:regular r:id="rId70"/>
    </p:embeddedFont>
    <p:embeddedFont>
      <p:font typeface="Poppins Bold" panose="020B0604020202020204" charset="0"/>
      <p:regular r:id="rId71"/>
    </p:embeddedFont>
    <p:embeddedFont>
      <p:font typeface="Roca Two" panose="020B0604020202020204" charset="0"/>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font" Target="fonts/font5.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3.fntdata"/><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TextBox 2"/>
          <p:cNvSpPr txBox="1"/>
          <p:nvPr/>
        </p:nvSpPr>
        <p:spPr>
          <a:xfrm>
            <a:off x="1028700" y="1438275"/>
            <a:ext cx="13113220" cy="5416281"/>
          </a:xfrm>
          <a:prstGeom prst="rect">
            <a:avLst/>
          </a:prstGeom>
        </p:spPr>
        <p:txBody>
          <a:bodyPr lIns="0" tIns="0" rIns="0" bIns="0" rtlCol="0" anchor="t">
            <a:spAutoFit/>
          </a:bodyPr>
          <a:lstStyle/>
          <a:p>
            <a:pPr algn="l">
              <a:lnSpc>
                <a:spcPts val="20864"/>
              </a:lnSpc>
            </a:pPr>
            <a:r>
              <a:rPr lang="en-US" sz="20864" b="1">
                <a:solidFill>
                  <a:srgbClr val="383838"/>
                </a:solidFill>
                <a:latin typeface="Noto Sans Bold"/>
                <a:ea typeface="Noto Sans Bold"/>
                <a:cs typeface="Noto Sans Bold"/>
                <a:sym typeface="Noto Sans Bold"/>
              </a:rPr>
              <a:t>VELIN SHOP</a:t>
            </a:r>
          </a:p>
        </p:txBody>
      </p:sp>
      <p:sp>
        <p:nvSpPr>
          <p:cNvPr id="3" name="Freeform 3"/>
          <p:cNvSpPr/>
          <p:nvPr/>
        </p:nvSpPr>
        <p:spPr>
          <a:xfrm>
            <a:off x="9330091" y="1624581"/>
            <a:ext cx="3907547" cy="3809736"/>
          </a:xfrm>
          <a:custGeom>
            <a:avLst/>
            <a:gdLst/>
            <a:ahLst/>
            <a:cxnLst/>
            <a:rect l="l" t="t" r="r" b="b"/>
            <a:pathLst>
              <a:path w="3907547" h="3809736">
                <a:moveTo>
                  <a:pt x="0" y="0"/>
                </a:moveTo>
                <a:lnTo>
                  <a:pt x="3907547" y="0"/>
                </a:lnTo>
                <a:lnTo>
                  <a:pt x="3907547" y="3809736"/>
                </a:lnTo>
                <a:lnTo>
                  <a:pt x="0" y="380973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1038225" y="7022809"/>
            <a:ext cx="11850409" cy="638175"/>
          </a:xfrm>
          <a:prstGeom prst="rect">
            <a:avLst/>
          </a:prstGeom>
        </p:spPr>
        <p:txBody>
          <a:bodyPr lIns="0" tIns="0" rIns="0" bIns="0" rtlCol="0" anchor="t">
            <a:spAutoFit/>
          </a:bodyPr>
          <a:lstStyle/>
          <a:p>
            <a:pPr algn="l">
              <a:lnSpc>
                <a:spcPts val="5040"/>
              </a:lnSpc>
            </a:pPr>
            <a:r>
              <a:rPr lang="en-US" sz="4200" b="1">
                <a:solidFill>
                  <a:srgbClr val="383838"/>
                </a:solidFill>
                <a:latin typeface="Noto Sans Bold"/>
                <a:ea typeface="Noto Sans Bold"/>
                <a:cs typeface="Noto Sans Bold"/>
                <a:sym typeface="Noto Sans Bold"/>
              </a:rPr>
              <a:t>Môn học: Các công nghệ lập trình hiện đại</a:t>
            </a:r>
          </a:p>
        </p:txBody>
      </p:sp>
      <p:sp>
        <p:nvSpPr>
          <p:cNvPr id="5" name="TextBox 5"/>
          <p:cNvSpPr txBox="1"/>
          <p:nvPr/>
        </p:nvSpPr>
        <p:spPr>
          <a:xfrm>
            <a:off x="1028700" y="8030592"/>
            <a:ext cx="11239500" cy="619272"/>
          </a:xfrm>
          <a:prstGeom prst="rect">
            <a:avLst/>
          </a:prstGeom>
        </p:spPr>
        <p:txBody>
          <a:bodyPr wrap="square" lIns="0" tIns="0" rIns="0" bIns="0" rtlCol="0" anchor="t">
            <a:spAutoFit/>
          </a:bodyPr>
          <a:lstStyle/>
          <a:p>
            <a:pPr marL="0" lvl="0" indent="0" algn="l">
              <a:lnSpc>
                <a:spcPts val="5219"/>
              </a:lnSpc>
            </a:pP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Giảng</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viên</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hướng</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dẫn</a:t>
            </a:r>
            <a:r>
              <a:rPr lang="en-US" sz="3599" b="1" dirty="0">
                <a:solidFill>
                  <a:srgbClr val="000000"/>
                </a:solidFill>
                <a:latin typeface="Noto Sans Bold"/>
                <a:ea typeface="Noto Sans Bold"/>
                <a:cs typeface="Noto Sans Bold"/>
                <a:sym typeface="Noto Sans Bold"/>
              </a:rPr>
              <a:t>:  PGS.TS </a:t>
            </a:r>
            <a:r>
              <a:rPr lang="en-US" sz="3599" b="1" dirty="0" err="1">
                <a:solidFill>
                  <a:srgbClr val="000000"/>
                </a:solidFill>
                <a:latin typeface="Noto Sans Bold"/>
                <a:ea typeface="Noto Sans Bold"/>
                <a:cs typeface="Noto Sans Bold"/>
                <a:sym typeface="Noto Sans Bold"/>
              </a:rPr>
              <a:t>Thầy</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Đỗ</a:t>
            </a:r>
            <a:r>
              <a:rPr lang="en-US" sz="3599" b="1" dirty="0">
                <a:solidFill>
                  <a:srgbClr val="000000"/>
                </a:solidFill>
                <a:latin typeface="Noto Sans Bold"/>
                <a:ea typeface="Noto Sans Bold"/>
                <a:cs typeface="Noto Sans Bold"/>
                <a:sym typeface="Noto Sans Bold"/>
              </a:rPr>
              <a:t> Như Tài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028700" y="2453131"/>
            <a:ext cx="6656741" cy="5380738"/>
          </a:xfrm>
          <a:custGeom>
            <a:avLst/>
            <a:gdLst/>
            <a:ahLst/>
            <a:cxnLst/>
            <a:rect l="l" t="t" r="r" b="b"/>
            <a:pathLst>
              <a:path w="6656741" h="5380738">
                <a:moveTo>
                  <a:pt x="0" y="0"/>
                </a:moveTo>
                <a:lnTo>
                  <a:pt x="6656741" y="0"/>
                </a:lnTo>
                <a:lnTo>
                  <a:pt x="6656741" y="5380738"/>
                </a:lnTo>
                <a:lnTo>
                  <a:pt x="0" y="5380738"/>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8762813" y="4802318"/>
            <a:ext cx="8496487" cy="2841050"/>
            <a:chOff x="0" y="0"/>
            <a:chExt cx="11328650" cy="3788067"/>
          </a:xfrm>
        </p:grpSpPr>
        <p:sp>
          <p:nvSpPr>
            <p:cNvPr id="4" name="TextBox 4"/>
            <p:cNvSpPr txBox="1"/>
            <p:nvPr/>
          </p:nvSpPr>
          <p:spPr>
            <a:xfrm>
              <a:off x="0" y="-76200"/>
              <a:ext cx="11328650" cy="736601"/>
            </a:xfrm>
            <a:prstGeom prst="rect">
              <a:avLst/>
            </a:prstGeom>
          </p:spPr>
          <p:txBody>
            <a:bodyPr lIns="0" tIns="0" rIns="0" bIns="0" rtlCol="0" anchor="t">
              <a:spAutoFit/>
            </a:bodyPr>
            <a:lstStyle/>
            <a:p>
              <a:pPr marL="0" lvl="0" indent="0" algn="l">
                <a:lnSpc>
                  <a:spcPts val="4784"/>
                </a:lnSpc>
              </a:pPr>
              <a:r>
                <a:rPr lang="en-US" sz="3299" b="1">
                  <a:solidFill>
                    <a:srgbClr val="000000"/>
                  </a:solidFill>
                  <a:latin typeface="Noto Sans Bold"/>
                  <a:ea typeface="Noto Sans Bold"/>
                  <a:cs typeface="Noto Sans Bold"/>
                  <a:sym typeface="Noto Sans Bold"/>
                </a:rPr>
                <a:t>3122411169 - Nguyễn Phạm Hoàng Quân </a:t>
              </a:r>
            </a:p>
          </p:txBody>
        </p:sp>
        <p:sp>
          <p:nvSpPr>
            <p:cNvPr id="5" name="TextBox 5"/>
            <p:cNvSpPr txBox="1"/>
            <p:nvPr/>
          </p:nvSpPr>
          <p:spPr>
            <a:xfrm>
              <a:off x="0" y="966355"/>
              <a:ext cx="11328650" cy="736601"/>
            </a:xfrm>
            <a:prstGeom prst="rect">
              <a:avLst/>
            </a:prstGeom>
          </p:spPr>
          <p:txBody>
            <a:bodyPr lIns="0" tIns="0" rIns="0" bIns="0" rtlCol="0" anchor="t">
              <a:spAutoFit/>
            </a:bodyPr>
            <a:lstStyle/>
            <a:p>
              <a:pPr marL="0" lvl="0" indent="0" algn="l">
                <a:lnSpc>
                  <a:spcPts val="4784"/>
                </a:lnSpc>
              </a:pPr>
              <a:r>
                <a:rPr lang="en-US" sz="3299" b="1">
                  <a:solidFill>
                    <a:srgbClr val="000000"/>
                  </a:solidFill>
                  <a:latin typeface="Noto Sans Bold"/>
                  <a:ea typeface="Noto Sans Bold"/>
                  <a:cs typeface="Noto Sans Bold"/>
                  <a:sym typeface="Noto Sans Bold"/>
                </a:rPr>
                <a:t>3122411208 - Nguyễn Trần Quốc Tiến </a:t>
              </a:r>
            </a:p>
          </p:txBody>
        </p:sp>
        <p:sp>
          <p:nvSpPr>
            <p:cNvPr id="6" name="TextBox 6"/>
            <p:cNvSpPr txBox="1"/>
            <p:nvPr/>
          </p:nvSpPr>
          <p:spPr>
            <a:xfrm>
              <a:off x="0" y="2008911"/>
              <a:ext cx="11328650" cy="736601"/>
            </a:xfrm>
            <a:prstGeom prst="rect">
              <a:avLst/>
            </a:prstGeom>
          </p:spPr>
          <p:txBody>
            <a:bodyPr lIns="0" tIns="0" rIns="0" bIns="0" rtlCol="0" anchor="t">
              <a:spAutoFit/>
            </a:bodyPr>
            <a:lstStyle/>
            <a:p>
              <a:pPr marL="0" lvl="0" indent="0" algn="l">
                <a:lnSpc>
                  <a:spcPts val="4784"/>
                </a:lnSpc>
              </a:pPr>
              <a:r>
                <a:rPr lang="en-US" sz="3299" b="1">
                  <a:solidFill>
                    <a:srgbClr val="000000"/>
                  </a:solidFill>
                  <a:latin typeface="Noto Sans Bold"/>
                  <a:ea typeface="Noto Sans Bold"/>
                  <a:cs typeface="Noto Sans Bold"/>
                  <a:sym typeface="Noto Sans Bold"/>
                </a:rPr>
                <a:t>3122411117 - Nguyễn Huỳnh Phương Lộc </a:t>
              </a:r>
            </a:p>
          </p:txBody>
        </p:sp>
        <p:sp>
          <p:nvSpPr>
            <p:cNvPr id="7" name="TextBox 7"/>
            <p:cNvSpPr txBox="1"/>
            <p:nvPr/>
          </p:nvSpPr>
          <p:spPr>
            <a:xfrm>
              <a:off x="0" y="3051466"/>
              <a:ext cx="11328650" cy="736601"/>
            </a:xfrm>
            <a:prstGeom prst="rect">
              <a:avLst/>
            </a:prstGeom>
          </p:spPr>
          <p:txBody>
            <a:bodyPr lIns="0" tIns="0" rIns="0" bIns="0" rtlCol="0" anchor="t">
              <a:spAutoFit/>
            </a:bodyPr>
            <a:lstStyle/>
            <a:p>
              <a:pPr marL="0" lvl="0" indent="0" algn="l">
                <a:lnSpc>
                  <a:spcPts val="4784"/>
                </a:lnSpc>
              </a:pPr>
              <a:r>
                <a:rPr lang="en-US" sz="3299" b="1">
                  <a:solidFill>
                    <a:srgbClr val="000000"/>
                  </a:solidFill>
                  <a:latin typeface="Noto Sans Bold"/>
                  <a:ea typeface="Noto Sans Bold"/>
                  <a:cs typeface="Noto Sans Bold"/>
                  <a:sym typeface="Noto Sans Bold"/>
                </a:rPr>
                <a:t>3122411044 - Nguyễn Việt Đức</a:t>
              </a:r>
            </a:p>
          </p:txBody>
        </p:sp>
      </p:grpSp>
      <p:sp>
        <p:nvSpPr>
          <p:cNvPr id="8" name="TextBox 8"/>
          <p:cNvSpPr txBox="1"/>
          <p:nvPr/>
        </p:nvSpPr>
        <p:spPr>
          <a:xfrm>
            <a:off x="8547752" y="2602016"/>
            <a:ext cx="8496487" cy="1581150"/>
          </a:xfrm>
          <a:prstGeom prst="rect">
            <a:avLst/>
          </a:prstGeom>
        </p:spPr>
        <p:txBody>
          <a:bodyPr lIns="0" tIns="0" rIns="0" bIns="0" rtlCol="0" anchor="t">
            <a:spAutoFit/>
          </a:bodyPr>
          <a:lstStyle/>
          <a:p>
            <a:pPr algn="ctr">
              <a:lnSpc>
                <a:spcPts val="13050"/>
              </a:lnSpc>
              <a:spcBef>
                <a:spcPct val="0"/>
              </a:spcBef>
            </a:pPr>
            <a:r>
              <a:rPr lang="en-US" sz="9000" b="1">
                <a:solidFill>
                  <a:srgbClr val="000000"/>
                </a:solidFill>
                <a:latin typeface="Noto Sans Bold"/>
                <a:ea typeface="Noto Sans Bold"/>
                <a:cs typeface="Noto Sans Bold"/>
                <a:sym typeface="Noto Sans Bold"/>
              </a:rPr>
              <a:t>THÀNH VIÊN</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028700"/>
          <a:ext cx="9395535" cy="2389436"/>
        </p:xfrm>
        <a:graphic>
          <a:graphicData uri="http://schemas.openxmlformats.org/drawingml/2006/table">
            <a:tbl>
              <a:tblPr/>
              <a:tblGrid>
                <a:gridCol w="9395535">
                  <a:extLst>
                    <a:ext uri="{9D8B030D-6E8A-4147-A177-3AD203B41FA5}">
                      <a16:colId xmlns:a16="http://schemas.microsoft.com/office/drawing/2014/main" val="20000"/>
                    </a:ext>
                  </a:extLst>
                </a:gridCol>
              </a:tblGrid>
              <a:tr h="2389436">
                <a:tc>
                  <a:txBody>
                    <a:bodyPr/>
                    <a:lstStyle/>
                    <a:p>
                      <a:pPr algn="ctr">
                        <a:lnSpc>
                          <a:spcPts val="9801"/>
                        </a:lnSpc>
                        <a:defRPr/>
                      </a:pPr>
                      <a:r>
                        <a:rPr lang="en-US" sz="7000" b="1" spc="-560">
                          <a:solidFill>
                            <a:srgbClr val="000000"/>
                          </a:solidFill>
                          <a:latin typeface="Noto Sans Bold"/>
                          <a:ea typeface="Noto Sans Bold"/>
                          <a:cs typeface="Noto Sans Bold"/>
                          <a:sym typeface="Noto Sans Bold"/>
                        </a:rPr>
                        <a:t>THƯƠNG MẠI ĐIỆN TỬ</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1239031" y="3638940"/>
            <a:ext cx="12474009" cy="5471538"/>
          </a:xfrm>
          <a:prstGeom prst="rect">
            <a:avLst/>
          </a:prstGeom>
        </p:spPr>
        <p:txBody>
          <a:bodyPr lIns="0" tIns="0" rIns="0" bIns="0" rtlCol="0" anchor="t">
            <a:spAutoFit/>
          </a:bodyPr>
          <a:lstStyle/>
          <a:p>
            <a:pPr algn="l">
              <a:lnSpc>
                <a:spcPts val="4929"/>
              </a:lnSpc>
            </a:pPr>
            <a:r>
              <a:rPr lang="en-US" sz="3399">
                <a:solidFill>
                  <a:srgbClr val="000000"/>
                </a:solidFill>
                <a:latin typeface="Noto Sans"/>
                <a:ea typeface="Noto Sans"/>
                <a:cs typeface="Noto Sans"/>
                <a:sym typeface="Noto Sans"/>
              </a:rPr>
              <a:t>Trong những năm gần đây, thương mại điện tử đã trở thành một xu hướng tất yếu trong quá trình chuyển đổi số. Các hệ thống phần mềm hiện đại không chỉ cần đáp ứng chức năng mua bán trực tuyến mà còn phải:</a:t>
            </a:r>
          </a:p>
          <a:p>
            <a:pPr algn="l">
              <a:lnSpc>
                <a:spcPts val="4929"/>
              </a:lnSpc>
            </a:pPr>
            <a:endParaRPr lang="en-US" sz="3399">
              <a:solidFill>
                <a:srgbClr val="000000"/>
              </a:solidFill>
              <a:latin typeface="Noto Sans"/>
              <a:ea typeface="Noto Sans"/>
              <a:cs typeface="Noto Sans"/>
              <a:sym typeface="Noto Sans"/>
            </a:endParaRPr>
          </a:p>
          <a:p>
            <a:pPr marL="734059" lvl="1" indent="-367030" algn="l">
              <a:lnSpc>
                <a:spcPts val="4929"/>
              </a:lnSpc>
              <a:buFont typeface="Arial"/>
              <a:buChar char="•"/>
            </a:pPr>
            <a:r>
              <a:rPr lang="en-US" sz="3399">
                <a:solidFill>
                  <a:srgbClr val="000000"/>
                </a:solidFill>
                <a:latin typeface="Noto Sans"/>
                <a:ea typeface="Noto Sans"/>
                <a:cs typeface="Noto Sans"/>
                <a:sym typeface="Noto Sans"/>
              </a:rPr>
              <a:t>Linh hoạt và dễ mở rộng</a:t>
            </a:r>
          </a:p>
          <a:p>
            <a:pPr marL="734059" lvl="1" indent="-367030" algn="l">
              <a:lnSpc>
                <a:spcPts val="4929"/>
              </a:lnSpc>
              <a:buFont typeface="Arial"/>
              <a:buChar char="•"/>
            </a:pPr>
            <a:r>
              <a:rPr lang="en-US" sz="3399">
                <a:solidFill>
                  <a:srgbClr val="000000"/>
                </a:solidFill>
                <a:latin typeface="Noto Sans"/>
                <a:ea typeface="Noto Sans"/>
                <a:cs typeface="Noto Sans"/>
                <a:sym typeface="Noto Sans"/>
              </a:rPr>
              <a:t>Tích hợp được nhiều công nghệ mới</a:t>
            </a:r>
          </a:p>
          <a:p>
            <a:pPr marL="734059" lvl="1" indent="-367030" algn="l">
              <a:lnSpc>
                <a:spcPts val="4929"/>
              </a:lnSpc>
              <a:buFont typeface="Arial"/>
              <a:buChar char="•"/>
            </a:pPr>
            <a:r>
              <a:rPr lang="en-US" sz="3399">
                <a:solidFill>
                  <a:srgbClr val="000000"/>
                </a:solidFill>
                <a:latin typeface="Noto Sans"/>
                <a:ea typeface="Noto Sans"/>
                <a:cs typeface="Noto Sans"/>
                <a:sym typeface="Noto Sans"/>
              </a:rPr>
              <a:t>Tự động hóa các quy trình nghiệp vụ</a:t>
            </a:r>
          </a:p>
          <a:p>
            <a:pPr marL="0" lvl="0" indent="0" algn="l">
              <a:lnSpc>
                <a:spcPts val="4257"/>
              </a:lnSpc>
              <a:spcBef>
                <a:spcPct val="0"/>
              </a:spcBef>
            </a:pPr>
            <a:endParaRPr lang="en-US" sz="3399">
              <a:solidFill>
                <a:srgbClr val="000000"/>
              </a:solidFill>
              <a:latin typeface="Noto Sans"/>
              <a:ea typeface="Noto Sans"/>
              <a:cs typeface="Noto Sans"/>
              <a:sym typeface="Noto Sans"/>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028700"/>
          <a:ext cx="9395535" cy="2389436"/>
        </p:xfrm>
        <a:graphic>
          <a:graphicData uri="http://schemas.openxmlformats.org/drawingml/2006/table">
            <a:tbl>
              <a:tblPr/>
              <a:tblGrid>
                <a:gridCol w="9395535">
                  <a:extLst>
                    <a:ext uri="{9D8B030D-6E8A-4147-A177-3AD203B41FA5}">
                      <a16:colId xmlns:a16="http://schemas.microsoft.com/office/drawing/2014/main" val="20000"/>
                    </a:ext>
                  </a:extLst>
                </a:gridCol>
              </a:tblGrid>
              <a:tr h="2389436">
                <a:tc>
                  <a:txBody>
                    <a:bodyPr/>
                    <a:lstStyle/>
                    <a:p>
                      <a:pPr algn="ctr">
                        <a:lnSpc>
                          <a:spcPts val="9801"/>
                        </a:lnSpc>
                        <a:defRPr/>
                      </a:pPr>
                      <a:r>
                        <a:rPr lang="en-US" sz="7000" b="1" spc="-560">
                          <a:solidFill>
                            <a:srgbClr val="000000"/>
                          </a:solidFill>
                          <a:latin typeface="Noto Sans Bold"/>
                          <a:ea typeface="Noto Sans Bold"/>
                          <a:cs typeface="Noto Sans Bold"/>
                          <a:sym typeface="Noto Sans Bold"/>
                        </a:rPr>
                        <a:t>THƯƠNG MẠI ĐIỆN TỬ</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1028700" y="4002238"/>
            <a:ext cx="15752576" cy="4930775"/>
          </a:xfrm>
          <a:prstGeom prst="rect">
            <a:avLst/>
          </a:prstGeom>
        </p:spPr>
        <p:txBody>
          <a:bodyPr lIns="0" tIns="0" rIns="0" bIns="0" rtlCol="0" anchor="t">
            <a:spAutoFit/>
          </a:bodyPr>
          <a:lstStyle/>
          <a:p>
            <a:pPr algn="l">
              <a:lnSpc>
                <a:spcPts val="4929"/>
              </a:lnSpc>
            </a:pPr>
            <a:r>
              <a:rPr lang="en-US" sz="3399">
                <a:solidFill>
                  <a:srgbClr val="000000"/>
                </a:solidFill>
                <a:latin typeface="Noto Sans"/>
                <a:ea typeface="Noto Sans"/>
                <a:cs typeface="Noto Sans"/>
                <a:sym typeface="Noto Sans"/>
              </a:rPr>
              <a:t>Xuất phát từ thực tế đó, đồ án “Website thương mại điện tử tích hợp công nghệ n8n” được xây dựng dựa trên nền tảng mã nguồn mở Saleor, một hệ thống thương mại điện tử hiện đại sử dụng:</a:t>
            </a:r>
          </a:p>
          <a:p>
            <a:pPr algn="l">
              <a:lnSpc>
                <a:spcPts val="4929"/>
              </a:lnSpc>
            </a:pPr>
            <a:endParaRPr lang="en-US" sz="3399">
              <a:solidFill>
                <a:srgbClr val="000000"/>
              </a:solidFill>
              <a:latin typeface="Noto Sans"/>
              <a:ea typeface="Noto Sans"/>
              <a:cs typeface="Noto Sans"/>
              <a:sym typeface="Noto Sans"/>
            </a:endParaRPr>
          </a:p>
          <a:p>
            <a:pPr marL="734059" lvl="1" indent="-367030" algn="l">
              <a:lnSpc>
                <a:spcPts val="4929"/>
              </a:lnSpc>
              <a:buFont typeface="Arial"/>
              <a:buChar char="•"/>
            </a:pPr>
            <a:r>
              <a:rPr lang="en-US" sz="3399">
                <a:solidFill>
                  <a:srgbClr val="000000"/>
                </a:solidFill>
                <a:latin typeface="Noto Sans"/>
                <a:ea typeface="Noto Sans"/>
                <a:cs typeface="Noto Sans"/>
                <a:sym typeface="Noto Sans"/>
              </a:rPr>
              <a:t>Kiến trúc Headless Commerce</a:t>
            </a:r>
          </a:p>
          <a:p>
            <a:pPr marL="734059" lvl="1" indent="-367030" algn="l">
              <a:lnSpc>
                <a:spcPts val="4929"/>
              </a:lnSpc>
              <a:buFont typeface="Arial"/>
              <a:buChar char="•"/>
            </a:pPr>
            <a:r>
              <a:rPr lang="en-US" sz="3399">
                <a:solidFill>
                  <a:srgbClr val="000000"/>
                </a:solidFill>
                <a:latin typeface="Noto Sans"/>
                <a:ea typeface="Noto Sans"/>
                <a:cs typeface="Noto Sans"/>
                <a:sym typeface="Noto Sans"/>
              </a:rPr>
              <a:t>API GraphQL</a:t>
            </a:r>
          </a:p>
          <a:p>
            <a:pPr marL="734059" lvl="1" indent="-367030" algn="l">
              <a:lnSpc>
                <a:spcPts val="4929"/>
              </a:lnSpc>
              <a:buFont typeface="Arial"/>
              <a:buChar char="•"/>
            </a:pPr>
            <a:r>
              <a:rPr lang="en-US" sz="3399">
                <a:solidFill>
                  <a:srgbClr val="000000"/>
                </a:solidFill>
                <a:latin typeface="Noto Sans"/>
                <a:ea typeface="Noto Sans"/>
                <a:cs typeface="Noto Sans"/>
                <a:sym typeface="Noto Sans"/>
              </a:rPr>
              <a:t>Khả năng tách biệt giữa giao diện và xử lý nghiệp vụ</a:t>
            </a:r>
          </a:p>
          <a:p>
            <a:pPr marL="0" lvl="0" indent="0" algn="l">
              <a:lnSpc>
                <a:spcPts val="4929"/>
              </a:lnSpc>
              <a:spcBef>
                <a:spcPct val="0"/>
              </a:spcBef>
            </a:pPr>
            <a:endParaRPr lang="en-US" sz="3399">
              <a:solidFill>
                <a:srgbClr val="000000"/>
              </a:solidFill>
              <a:latin typeface="Noto Sans"/>
              <a:ea typeface="Noto Sans"/>
              <a:cs typeface="Noto Sans"/>
              <a:sym typeface="Noto Sans"/>
            </a:endParaRP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DEA"/>
        </a:solidFill>
        <a:effectLst/>
      </p:bgPr>
    </p:bg>
    <p:spTree>
      <p:nvGrpSpPr>
        <p:cNvPr id="1" name=""/>
        <p:cNvGrpSpPr/>
        <p:nvPr/>
      </p:nvGrpSpPr>
      <p:grpSpPr>
        <a:xfrm>
          <a:off x="0" y="0"/>
          <a:ext cx="0" cy="0"/>
          <a:chOff x="0" y="0"/>
          <a:chExt cx="0" cy="0"/>
        </a:xfrm>
      </p:grpSpPr>
      <p:grpSp>
        <p:nvGrpSpPr>
          <p:cNvPr id="2" name="Group 2"/>
          <p:cNvGrpSpPr/>
          <p:nvPr/>
        </p:nvGrpSpPr>
        <p:grpSpPr>
          <a:xfrm>
            <a:off x="11387278" y="1882322"/>
            <a:ext cx="5561464" cy="7189105"/>
            <a:chOff x="0" y="0"/>
            <a:chExt cx="1464748" cy="1893427"/>
          </a:xfrm>
        </p:grpSpPr>
        <p:sp>
          <p:nvSpPr>
            <p:cNvPr id="3" name="Freeform 3"/>
            <p:cNvSpPr/>
            <p:nvPr/>
          </p:nvSpPr>
          <p:spPr>
            <a:xfrm>
              <a:off x="0" y="0"/>
              <a:ext cx="1464748" cy="1893427"/>
            </a:xfrm>
            <a:custGeom>
              <a:avLst/>
              <a:gdLst/>
              <a:ahLst/>
              <a:cxnLst/>
              <a:rect l="l" t="t" r="r" b="b"/>
              <a:pathLst>
                <a:path w="1464748" h="1893427">
                  <a:moveTo>
                    <a:pt x="70995" y="0"/>
                  </a:moveTo>
                  <a:lnTo>
                    <a:pt x="1393753" y="0"/>
                  </a:lnTo>
                  <a:cubicBezTo>
                    <a:pt x="1412582" y="0"/>
                    <a:pt x="1430640" y="7480"/>
                    <a:pt x="1443954" y="20794"/>
                  </a:cubicBezTo>
                  <a:cubicBezTo>
                    <a:pt x="1457268" y="34108"/>
                    <a:pt x="1464748" y="52166"/>
                    <a:pt x="1464748" y="70995"/>
                  </a:cubicBezTo>
                  <a:lnTo>
                    <a:pt x="1464748" y="1822432"/>
                  </a:lnTo>
                  <a:cubicBezTo>
                    <a:pt x="1464748" y="1861641"/>
                    <a:pt x="1432962" y="1893427"/>
                    <a:pt x="1393753" y="1893427"/>
                  </a:cubicBezTo>
                  <a:lnTo>
                    <a:pt x="70995" y="1893427"/>
                  </a:lnTo>
                  <a:cubicBezTo>
                    <a:pt x="31786" y="1893427"/>
                    <a:pt x="0" y="1861641"/>
                    <a:pt x="0" y="1822432"/>
                  </a:cubicBezTo>
                  <a:lnTo>
                    <a:pt x="0" y="70995"/>
                  </a:lnTo>
                  <a:cubicBezTo>
                    <a:pt x="0" y="52166"/>
                    <a:pt x="7480" y="34108"/>
                    <a:pt x="20794" y="20794"/>
                  </a:cubicBezTo>
                  <a:cubicBezTo>
                    <a:pt x="34108" y="7480"/>
                    <a:pt x="52166" y="0"/>
                    <a:pt x="70995" y="0"/>
                  </a:cubicBezTo>
                  <a:close/>
                </a:path>
              </a:pathLst>
            </a:custGeom>
            <a:ln w="19050" cap="rnd">
              <a:solidFill>
                <a:srgbClr val="000000"/>
              </a:solidFill>
              <a:prstDash val="solid"/>
              <a:round/>
            </a:ln>
          </p:spPr>
          <p:txBody>
            <a:bodyPr/>
            <a:lstStyle/>
            <a:p>
              <a:endParaRPr lang="en-US"/>
            </a:p>
          </p:txBody>
        </p:sp>
        <p:sp>
          <p:nvSpPr>
            <p:cNvPr id="4" name="TextBox 4"/>
            <p:cNvSpPr txBox="1"/>
            <p:nvPr/>
          </p:nvSpPr>
          <p:spPr>
            <a:xfrm>
              <a:off x="0" y="-57150"/>
              <a:ext cx="1464748" cy="1950577"/>
            </a:xfrm>
            <a:prstGeom prst="rect">
              <a:avLst/>
            </a:prstGeom>
          </p:spPr>
          <p:txBody>
            <a:bodyPr lIns="50800" tIns="50800" rIns="50800" bIns="50800" rtlCol="0" anchor="ctr"/>
            <a:lstStyle/>
            <a:p>
              <a:pPr algn="ctr">
                <a:lnSpc>
                  <a:spcPts val="3219"/>
                </a:lnSpc>
              </a:pPr>
              <a:endParaRPr/>
            </a:p>
          </p:txBody>
        </p:sp>
      </p:grpSp>
      <p:sp>
        <p:nvSpPr>
          <p:cNvPr id="5" name="Freeform 5"/>
          <p:cNvSpPr/>
          <p:nvPr/>
        </p:nvSpPr>
        <p:spPr>
          <a:xfrm>
            <a:off x="11248170" y="2338045"/>
            <a:ext cx="5839680" cy="6733383"/>
          </a:xfrm>
          <a:custGeom>
            <a:avLst/>
            <a:gdLst/>
            <a:ahLst/>
            <a:cxnLst/>
            <a:rect l="l" t="t" r="r" b="b"/>
            <a:pathLst>
              <a:path w="5839680" h="6733383">
                <a:moveTo>
                  <a:pt x="0" y="0"/>
                </a:moveTo>
                <a:lnTo>
                  <a:pt x="5839680" y="0"/>
                </a:lnTo>
                <a:lnTo>
                  <a:pt x="5839680" y="6733383"/>
                </a:lnTo>
                <a:lnTo>
                  <a:pt x="0" y="67333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16151134" y="1573901"/>
            <a:ext cx="1326859" cy="132685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3219"/>
                </a:lnSpc>
              </a:pPr>
              <a:endParaRPr/>
            </a:p>
          </p:txBody>
        </p:sp>
      </p:grpSp>
      <p:graphicFrame>
        <p:nvGraphicFramePr>
          <p:cNvPr id="9" name="Table 9"/>
          <p:cNvGraphicFramePr>
            <a:graphicFrameLocks noGrp="1"/>
          </p:cNvGraphicFramePr>
          <p:nvPr/>
        </p:nvGraphicFramePr>
        <p:xfrm>
          <a:off x="1028700" y="2338045"/>
          <a:ext cx="8511019" cy="7229475"/>
        </p:xfrm>
        <a:graphic>
          <a:graphicData uri="http://schemas.openxmlformats.org/drawingml/2006/table">
            <a:tbl>
              <a:tblPr/>
              <a:tblGrid>
                <a:gridCol w="1479772">
                  <a:extLst>
                    <a:ext uri="{9D8B030D-6E8A-4147-A177-3AD203B41FA5}">
                      <a16:colId xmlns:a16="http://schemas.microsoft.com/office/drawing/2014/main" val="20000"/>
                    </a:ext>
                  </a:extLst>
                </a:gridCol>
                <a:gridCol w="7031246">
                  <a:extLst>
                    <a:ext uri="{9D8B030D-6E8A-4147-A177-3AD203B41FA5}">
                      <a16:colId xmlns:a16="http://schemas.microsoft.com/office/drawing/2014/main" val="20001"/>
                    </a:ext>
                  </a:extLst>
                </a:gridCol>
              </a:tblGrid>
              <a:tr h="976697">
                <a:tc>
                  <a:txBody>
                    <a:bodyPr/>
                    <a:lstStyle/>
                    <a:p>
                      <a:pPr algn="ctr">
                        <a:lnSpc>
                          <a:spcPts val="3079"/>
                        </a:lnSpc>
                        <a:defRPr/>
                      </a:pPr>
                      <a:r>
                        <a:rPr lang="en-US" sz="2199" b="1">
                          <a:solidFill>
                            <a:srgbClr val="000000"/>
                          </a:solidFill>
                          <a:latin typeface="Poppins Bold"/>
                          <a:ea typeface="Poppins Bold"/>
                          <a:cs typeface="Poppins Bold"/>
                          <a:sym typeface="Poppins Bold"/>
                        </a:rPr>
                        <a:t>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Tổng quan đề tài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6697">
                <a:tc>
                  <a:txBody>
                    <a:bodyPr/>
                    <a:lstStyle/>
                    <a:p>
                      <a:pPr algn="ctr">
                        <a:lnSpc>
                          <a:spcPts val="3079"/>
                        </a:lnSpc>
                        <a:defRPr/>
                      </a:pPr>
                      <a:r>
                        <a:rPr lang="en-US" sz="2199" b="1">
                          <a:solidFill>
                            <a:srgbClr val="000000"/>
                          </a:solidFill>
                          <a:latin typeface="Poppins Bold"/>
                          <a:ea typeface="Poppins Bold"/>
                          <a:cs typeface="Poppins Bold"/>
                          <a:sym typeface="Poppins Bold"/>
                        </a:rPr>
                        <a:t>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Cơ sở lý thuyết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69291">
                <a:tc>
                  <a:txBody>
                    <a:bodyPr/>
                    <a:lstStyle/>
                    <a:p>
                      <a:pPr algn="ctr">
                        <a:lnSpc>
                          <a:spcPts val="3079"/>
                        </a:lnSpc>
                        <a:defRPr/>
                      </a:pPr>
                      <a:r>
                        <a:rPr lang="en-US" sz="2199" b="1">
                          <a:solidFill>
                            <a:srgbClr val="000000"/>
                          </a:solidFill>
                          <a:latin typeface="Poppins Bold"/>
                          <a:ea typeface="Poppins Bold"/>
                          <a:cs typeface="Poppins Bold"/>
                          <a:sym typeface="Poppins Bold"/>
                        </a:rPr>
                        <a:t>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Phân tích yêu cầu và thiết kế hệ thống e-commerce AI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6697">
                <a:tc>
                  <a:txBody>
                    <a:bodyPr/>
                    <a:lstStyle/>
                    <a:p>
                      <a:pPr algn="ctr">
                        <a:lnSpc>
                          <a:spcPts val="3079"/>
                        </a:lnSpc>
                        <a:defRPr/>
                      </a:pPr>
                      <a:r>
                        <a:rPr lang="en-US" sz="2199" b="1">
                          <a:solidFill>
                            <a:srgbClr val="000000"/>
                          </a:solidFill>
                          <a:latin typeface="Poppins Bold"/>
                          <a:ea typeface="Poppins Bold"/>
                          <a:cs typeface="Poppins Bold"/>
                          <a:sym typeface="Poppins Bold"/>
                        </a:rPr>
                        <a:t>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Thiết kế hệ thống microservice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76697">
                <a:tc>
                  <a:txBody>
                    <a:bodyPr/>
                    <a:lstStyle/>
                    <a:p>
                      <a:pPr algn="ctr">
                        <a:lnSpc>
                          <a:spcPts val="3079"/>
                        </a:lnSpc>
                        <a:defRPr/>
                      </a:pPr>
                      <a:r>
                        <a:rPr lang="en-US" sz="2199" b="1">
                          <a:solidFill>
                            <a:srgbClr val="000000"/>
                          </a:solidFill>
                          <a:latin typeface="Poppins Bold"/>
                          <a:ea typeface="Poppins Bold"/>
                          <a:cs typeface="Poppins Bold"/>
                          <a:sym typeface="Poppins Bold"/>
                        </a:rPr>
                        <a:t>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Triển khai hệ thống microservice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76697">
                <a:tc>
                  <a:txBody>
                    <a:bodyPr/>
                    <a:lstStyle/>
                    <a:p>
                      <a:pPr algn="ctr">
                        <a:lnSpc>
                          <a:spcPts val="3079"/>
                        </a:lnSpc>
                        <a:defRPr/>
                      </a:pPr>
                      <a:r>
                        <a:rPr lang="en-US" sz="2199" b="1">
                          <a:solidFill>
                            <a:srgbClr val="000000"/>
                          </a:solidFill>
                          <a:latin typeface="Poppins Bold"/>
                          <a:ea typeface="Poppins Bold"/>
                          <a:cs typeface="Poppins Bold"/>
                          <a:sym typeface="Poppins Bold"/>
                        </a:rPr>
                        <a:t>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Tích hợp AI Agent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76697">
                <a:tc>
                  <a:txBody>
                    <a:bodyPr/>
                    <a:lstStyle/>
                    <a:p>
                      <a:pPr algn="ctr">
                        <a:lnSpc>
                          <a:spcPts val="3079"/>
                        </a:lnSpc>
                        <a:defRPr/>
                      </a:pPr>
                      <a:r>
                        <a:rPr lang="en-US" sz="2199" b="1">
                          <a:solidFill>
                            <a:srgbClr val="000000"/>
                          </a:solidFill>
                          <a:latin typeface="Poppins Bold"/>
                          <a:ea typeface="Poppins Bold"/>
                          <a:cs typeface="Poppins Bold"/>
                          <a:sym typeface="Poppins Bold"/>
                        </a:rPr>
                        <a:t>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Tổng kết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Box 10"/>
          <p:cNvSpPr txBox="1"/>
          <p:nvPr/>
        </p:nvSpPr>
        <p:spPr>
          <a:xfrm>
            <a:off x="1507291" y="926861"/>
            <a:ext cx="6836968" cy="1310470"/>
          </a:xfrm>
          <a:prstGeom prst="rect">
            <a:avLst/>
          </a:prstGeom>
        </p:spPr>
        <p:txBody>
          <a:bodyPr lIns="0" tIns="0" rIns="0" bIns="0" rtlCol="0" anchor="t">
            <a:spAutoFit/>
          </a:bodyPr>
          <a:lstStyle/>
          <a:p>
            <a:pPr algn="ctr">
              <a:lnSpc>
                <a:spcPts val="8933"/>
              </a:lnSpc>
            </a:pPr>
            <a:r>
              <a:rPr lang="en-US" sz="9606" b="1" spc="-614">
                <a:solidFill>
                  <a:srgbClr val="000000"/>
                </a:solidFill>
                <a:latin typeface="Poppins Bold"/>
                <a:ea typeface="Poppins Bold"/>
                <a:cs typeface="Poppins Bold"/>
                <a:sym typeface="Poppins Bold"/>
              </a:rPr>
              <a:t>MỤC LỤC</a:t>
            </a: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028700"/>
          <a:ext cx="11985522" cy="2190750"/>
        </p:xfrm>
        <a:graphic>
          <a:graphicData uri="http://schemas.openxmlformats.org/drawingml/2006/table">
            <a:tbl>
              <a:tblPr/>
              <a:tblGrid>
                <a:gridCol w="11985522">
                  <a:extLst>
                    <a:ext uri="{9D8B030D-6E8A-4147-A177-3AD203B41FA5}">
                      <a16:colId xmlns:a16="http://schemas.microsoft.com/office/drawing/2014/main" val="20000"/>
                    </a:ext>
                  </a:extLst>
                </a:gridCol>
              </a:tblGrid>
              <a:tr h="2190750">
                <a:tc>
                  <a:txBody>
                    <a:bodyPr/>
                    <a:lstStyle/>
                    <a:p>
                      <a:pPr algn="ctr">
                        <a:lnSpc>
                          <a:spcPts val="13720"/>
                        </a:lnSpc>
                        <a:defRPr/>
                      </a:pPr>
                      <a:r>
                        <a:rPr lang="en-US" sz="9800" b="1" spc="-784">
                          <a:solidFill>
                            <a:srgbClr val="383838"/>
                          </a:solidFill>
                          <a:latin typeface="Noto Sans Bold"/>
                          <a:ea typeface="Noto Sans Bold"/>
                          <a:cs typeface="Noto Sans Bold"/>
                          <a:sym typeface="Noto Sans Bold"/>
                        </a:rPr>
                        <a:t>TỔNG QUAN ĐỀ TÀI</a:t>
                      </a:r>
                      <a:endParaRPr lang="en-US" sz="1100"/>
                    </a:p>
                  </a:txBody>
                  <a:tcPr marL="114300" marR="114300" marT="114300" marB="114300">
                    <a:lnL w="9525" cap="flat" cmpd="sng" algn="ctr">
                      <a:solidFill>
                        <a:srgbClr val="EFEEE8"/>
                      </a:solidFill>
                      <a:prstDash val="solid"/>
                      <a:round/>
                      <a:headEnd type="none" w="med" len="med"/>
                      <a:tailEnd type="none" w="med" len="med"/>
                    </a:lnL>
                    <a:lnR w="9525" cap="flat" cmpd="sng" algn="ctr">
                      <a:solidFill>
                        <a:srgbClr val="EFEEE8"/>
                      </a:solidFill>
                      <a:prstDash val="solid"/>
                      <a:round/>
                      <a:headEnd type="none" w="med" len="med"/>
                      <a:tailEnd type="none" w="med" len="med"/>
                    </a:lnR>
                    <a:lnT w="9525" cap="flat" cmpd="sng" algn="ctr">
                      <a:solidFill>
                        <a:srgbClr val="EFEEE8"/>
                      </a:solidFill>
                      <a:prstDash val="solid"/>
                      <a:round/>
                      <a:headEnd type="none" w="med" len="med"/>
                      <a:tailEnd type="none" w="med" len="med"/>
                    </a:lnT>
                    <a:lnB w="9525" cap="flat" cmpd="sng" algn="ctr">
                      <a:solidFill>
                        <a:srgbClr val="EFEEE8"/>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 name="Table 3"/>
          <p:cNvGraphicFramePr>
            <a:graphicFrameLocks noGrp="1"/>
          </p:cNvGraphicFramePr>
          <p:nvPr/>
        </p:nvGraphicFramePr>
        <p:xfrm>
          <a:off x="6049384" y="3577707"/>
          <a:ext cx="11209916" cy="4740262"/>
        </p:xfrm>
        <a:graphic>
          <a:graphicData uri="http://schemas.openxmlformats.org/drawingml/2006/table">
            <a:tbl>
              <a:tblPr/>
              <a:tblGrid>
                <a:gridCol w="2360784">
                  <a:extLst>
                    <a:ext uri="{9D8B030D-6E8A-4147-A177-3AD203B41FA5}">
                      <a16:colId xmlns:a16="http://schemas.microsoft.com/office/drawing/2014/main" val="20000"/>
                    </a:ext>
                  </a:extLst>
                </a:gridCol>
                <a:gridCol w="8849132">
                  <a:extLst>
                    <a:ext uri="{9D8B030D-6E8A-4147-A177-3AD203B41FA5}">
                      <a16:colId xmlns:a16="http://schemas.microsoft.com/office/drawing/2014/main" val="20001"/>
                    </a:ext>
                  </a:extLst>
                </a:gridCol>
              </a:tblGrid>
              <a:tr h="1580087">
                <a:tc>
                  <a:txBody>
                    <a:bodyPr/>
                    <a:lstStyle/>
                    <a:p>
                      <a:pPr algn="l">
                        <a:lnSpc>
                          <a:spcPts val="3780"/>
                        </a:lnSpc>
                        <a:defRPr/>
                      </a:pPr>
                      <a:r>
                        <a:rPr lang="en-US" sz="2700" b="1">
                          <a:solidFill>
                            <a:srgbClr val="383838"/>
                          </a:solidFill>
                          <a:latin typeface="Noto Sans Bold"/>
                          <a:ea typeface="Noto Sans Bold"/>
                          <a:cs typeface="Noto Sans Bold"/>
                          <a:sym typeface="Noto Sans Bold"/>
                        </a:rPr>
                        <a:t>#1</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3779"/>
                        </a:lnSpc>
                        <a:defRPr/>
                      </a:pPr>
                      <a:r>
                        <a:rPr lang="en-US" sz="2699" b="1">
                          <a:solidFill>
                            <a:srgbClr val="000000"/>
                          </a:solidFill>
                          <a:latin typeface="Noto Sans Bold"/>
                          <a:ea typeface="Noto Sans Bold"/>
                          <a:cs typeface="Noto Sans Bold"/>
                          <a:sym typeface="Noto Sans Bold"/>
                        </a:rPr>
                        <a:t>Lý do chọn đề tài</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580087">
                <a:tc>
                  <a:txBody>
                    <a:bodyPr/>
                    <a:lstStyle/>
                    <a:p>
                      <a:pPr algn="l">
                        <a:lnSpc>
                          <a:spcPts val="3780"/>
                        </a:lnSpc>
                        <a:defRPr/>
                      </a:pPr>
                      <a:r>
                        <a:rPr lang="en-US" sz="2700" b="1">
                          <a:solidFill>
                            <a:srgbClr val="383838"/>
                          </a:solidFill>
                          <a:latin typeface="Noto Sans Bold"/>
                          <a:ea typeface="Noto Sans Bold"/>
                          <a:cs typeface="Noto Sans Bold"/>
                          <a:sym typeface="Noto Sans Bold"/>
                        </a:rPr>
                        <a:t>#2</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3780"/>
                        </a:lnSpc>
                        <a:defRPr/>
                      </a:pPr>
                      <a:r>
                        <a:rPr lang="en-US" sz="2700" b="1">
                          <a:solidFill>
                            <a:srgbClr val="383838"/>
                          </a:solidFill>
                          <a:latin typeface="Noto Sans Bold"/>
                          <a:ea typeface="Noto Sans Bold"/>
                          <a:cs typeface="Noto Sans Bold"/>
                          <a:sym typeface="Noto Sans Bold"/>
                        </a:rPr>
                        <a:t>Mục tiêu của đề tài</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80087">
                <a:tc>
                  <a:txBody>
                    <a:bodyPr/>
                    <a:lstStyle/>
                    <a:p>
                      <a:pPr algn="l">
                        <a:lnSpc>
                          <a:spcPts val="3780"/>
                        </a:lnSpc>
                        <a:defRPr/>
                      </a:pPr>
                      <a:r>
                        <a:rPr lang="en-US" sz="2700" b="1">
                          <a:solidFill>
                            <a:srgbClr val="383838"/>
                          </a:solidFill>
                          <a:latin typeface="Noto Sans Bold"/>
                          <a:ea typeface="Noto Sans Bold"/>
                          <a:cs typeface="Noto Sans Bold"/>
                          <a:sym typeface="Noto Sans Bold"/>
                        </a:rPr>
                        <a:t>#3</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3780"/>
                        </a:lnSpc>
                        <a:defRPr/>
                      </a:pPr>
                      <a:r>
                        <a:rPr lang="en-US" sz="2700" b="1">
                          <a:solidFill>
                            <a:srgbClr val="383838"/>
                          </a:solidFill>
                          <a:latin typeface="Noto Sans Bold"/>
                          <a:ea typeface="Noto Sans Bold"/>
                          <a:cs typeface="Noto Sans Bold"/>
                          <a:sym typeface="Noto Sans Bold"/>
                        </a:rPr>
                        <a:t>Cầu hỏi nghiên cứu</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AutoShape 2"/>
          <p:cNvSpPr/>
          <p:nvPr/>
        </p:nvSpPr>
        <p:spPr>
          <a:xfrm>
            <a:off x="1105872" y="4576373"/>
            <a:ext cx="15713676" cy="0"/>
          </a:xfrm>
          <a:prstGeom prst="line">
            <a:avLst/>
          </a:prstGeom>
          <a:ln w="85725" cap="flat">
            <a:solidFill>
              <a:srgbClr val="383838"/>
            </a:solidFill>
            <a:prstDash val="solid"/>
            <a:headEnd type="none" w="sm" len="sm"/>
            <a:tailEnd type="arrow" w="med" len="sm"/>
          </a:ln>
        </p:spPr>
        <p:txBody>
          <a:bodyPr/>
          <a:lstStyle/>
          <a:p>
            <a:endParaRPr lang="en-US"/>
          </a:p>
        </p:txBody>
      </p:sp>
      <p:graphicFrame>
        <p:nvGraphicFramePr>
          <p:cNvPr id="3" name="Table 3"/>
          <p:cNvGraphicFramePr>
            <a:graphicFrameLocks noGrp="1"/>
          </p:cNvGraphicFramePr>
          <p:nvPr/>
        </p:nvGraphicFramePr>
        <p:xfrm>
          <a:off x="3498331" y="1028700"/>
          <a:ext cx="10994164" cy="2389436"/>
        </p:xfrm>
        <a:graphic>
          <a:graphicData uri="http://schemas.openxmlformats.org/drawingml/2006/table">
            <a:tbl>
              <a:tblPr/>
              <a:tblGrid>
                <a:gridCol w="10994164">
                  <a:extLst>
                    <a:ext uri="{9D8B030D-6E8A-4147-A177-3AD203B41FA5}">
                      <a16:colId xmlns:a16="http://schemas.microsoft.com/office/drawing/2014/main" val="20000"/>
                    </a:ext>
                  </a:extLst>
                </a:gridCol>
              </a:tblGrid>
              <a:tr h="2389436">
                <a:tc>
                  <a:txBody>
                    <a:bodyPr/>
                    <a:lstStyle/>
                    <a:p>
                      <a:pPr algn="ctr">
                        <a:lnSpc>
                          <a:spcPts val="13439"/>
                        </a:lnSpc>
                        <a:defRPr/>
                      </a:pPr>
                      <a:r>
                        <a:rPr lang="en-US" sz="9600" b="1" spc="-768">
                          <a:solidFill>
                            <a:srgbClr val="383838"/>
                          </a:solidFill>
                          <a:latin typeface="Noto Sans Bold"/>
                          <a:ea typeface="Noto Sans Bold"/>
                          <a:cs typeface="Noto Sans Bold"/>
                          <a:sym typeface="Noto Sans Bold"/>
                        </a:rPr>
                        <a:t>LÝ DO CHỌN ĐỀ TÀI</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4" name="Group 4"/>
          <p:cNvGrpSpPr/>
          <p:nvPr/>
        </p:nvGrpSpPr>
        <p:grpSpPr>
          <a:xfrm>
            <a:off x="1105872" y="4427786"/>
            <a:ext cx="3566748" cy="5223288"/>
            <a:chOff x="0" y="0"/>
            <a:chExt cx="4755664" cy="6964384"/>
          </a:xfrm>
        </p:grpSpPr>
        <p:grpSp>
          <p:nvGrpSpPr>
            <p:cNvPr id="5" name="Group 5"/>
            <p:cNvGrpSpPr/>
            <p:nvPr/>
          </p:nvGrpSpPr>
          <p:grpSpPr>
            <a:xfrm>
              <a:off x="0" y="0"/>
              <a:ext cx="396231" cy="39623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sp>
          <p:nvSpPr>
            <p:cNvPr id="8" name="TextBox 8"/>
            <p:cNvSpPr txBox="1"/>
            <p:nvPr/>
          </p:nvSpPr>
          <p:spPr>
            <a:xfrm>
              <a:off x="0" y="768731"/>
              <a:ext cx="4755664"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nhất</a:t>
              </a:r>
            </a:p>
          </p:txBody>
        </p:sp>
        <p:sp>
          <p:nvSpPr>
            <p:cNvPr id="9" name="TextBox 9"/>
            <p:cNvSpPr txBox="1"/>
            <p:nvPr/>
          </p:nvSpPr>
          <p:spPr>
            <a:xfrm>
              <a:off x="0" y="1683301"/>
              <a:ext cx="4755664" cy="5281083"/>
            </a:xfrm>
            <a:prstGeom prst="rect">
              <a:avLst/>
            </a:prstGeom>
          </p:spPr>
          <p:txBody>
            <a:bodyPr lIns="0" tIns="0" rIns="0" bIns="0" rtlCol="0" anchor="t">
              <a:spAutoFit/>
            </a:bodyPr>
            <a:lstStyle/>
            <a:p>
              <a:pPr algn="just">
                <a:lnSpc>
                  <a:spcPts val="2900"/>
                </a:lnSpc>
              </a:pPr>
              <a:r>
                <a:rPr lang="en-US" sz="2000" b="1">
                  <a:solidFill>
                    <a:srgbClr val="383838"/>
                  </a:solidFill>
                  <a:latin typeface="Noto Sans Bold"/>
                  <a:ea typeface="Noto Sans Bold"/>
                  <a:cs typeface="Noto Sans Bold"/>
                  <a:sym typeface="Noto Sans Bold"/>
                </a:rPr>
                <a:t>Nhu cầu thực tiễn:</a:t>
              </a:r>
            </a:p>
            <a:p>
              <a:pPr marL="0" lvl="0" indent="0" algn="just">
                <a:lnSpc>
                  <a:spcPts val="2900"/>
                </a:lnSpc>
                <a:spcBef>
                  <a:spcPct val="0"/>
                </a:spcBef>
              </a:pPr>
              <a:r>
                <a:rPr lang="en-US" sz="2000">
                  <a:solidFill>
                    <a:srgbClr val="383838"/>
                  </a:solidFill>
                  <a:latin typeface="Noto Sans"/>
                  <a:ea typeface="Noto Sans"/>
                  <a:cs typeface="Noto Sans"/>
                  <a:sym typeface="Noto Sans"/>
                </a:rPr>
                <a:t>Nhu cầu cá nhân hóa trải nghiệm người dùng trong thương mại điện tử ngày càng tăng. Việc ứng dụng trí tuệ nhân tạo (AI) giúp hệ thống phân tích hành vi khách hàng và đưa ra các đề xuất sản phẩm phù hợp, từ đó nâng cao trải nghiệm mua sắm và hiệu quả kinh doanh.</a:t>
              </a:r>
            </a:p>
          </p:txBody>
        </p:sp>
      </p:grpSp>
      <p:grpSp>
        <p:nvGrpSpPr>
          <p:cNvPr id="10" name="Group 10"/>
          <p:cNvGrpSpPr/>
          <p:nvPr/>
        </p:nvGrpSpPr>
        <p:grpSpPr>
          <a:xfrm>
            <a:off x="5270078" y="4427786"/>
            <a:ext cx="3279081" cy="5223288"/>
            <a:chOff x="0" y="0"/>
            <a:chExt cx="4372109" cy="6964384"/>
          </a:xfrm>
        </p:grpSpPr>
        <p:grpSp>
          <p:nvGrpSpPr>
            <p:cNvPr id="11" name="Group 11"/>
            <p:cNvGrpSpPr/>
            <p:nvPr/>
          </p:nvGrpSpPr>
          <p:grpSpPr>
            <a:xfrm>
              <a:off x="102896" y="0"/>
              <a:ext cx="396231" cy="39623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14" name="TextBox 14"/>
            <p:cNvSpPr txBox="1"/>
            <p:nvPr/>
          </p:nvSpPr>
          <p:spPr>
            <a:xfrm>
              <a:off x="0" y="768731"/>
              <a:ext cx="4372109"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hai</a:t>
              </a:r>
            </a:p>
          </p:txBody>
        </p:sp>
        <p:sp>
          <p:nvSpPr>
            <p:cNvPr id="15" name="TextBox 15"/>
            <p:cNvSpPr txBox="1"/>
            <p:nvPr/>
          </p:nvSpPr>
          <p:spPr>
            <a:xfrm>
              <a:off x="0" y="1683301"/>
              <a:ext cx="4372109" cy="5281083"/>
            </a:xfrm>
            <a:prstGeom prst="rect">
              <a:avLst/>
            </a:prstGeom>
          </p:spPr>
          <p:txBody>
            <a:bodyPr lIns="0" tIns="0" rIns="0" bIns="0" rtlCol="0" anchor="t">
              <a:spAutoFit/>
            </a:bodyPr>
            <a:lstStyle/>
            <a:p>
              <a:pPr algn="just">
                <a:lnSpc>
                  <a:spcPts val="2900"/>
                </a:lnSpc>
              </a:pPr>
              <a:r>
                <a:rPr lang="en-US" sz="2000" b="1">
                  <a:solidFill>
                    <a:srgbClr val="383838"/>
                  </a:solidFill>
                  <a:latin typeface="Noto Sans Bold"/>
                  <a:ea typeface="Noto Sans Bold"/>
                  <a:cs typeface="Noto Sans Bold"/>
                  <a:sym typeface="Noto Sans Bold"/>
                </a:rPr>
                <a:t>Xu hướng công nghiệp 4.0:</a:t>
              </a:r>
            </a:p>
            <a:p>
              <a:pPr marL="0" lvl="0" indent="0" algn="just">
                <a:lnSpc>
                  <a:spcPts val="2900"/>
                </a:lnSpc>
                <a:spcBef>
                  <a:spcPct val="0"/>
                </a:spcBef>
              </a:pPr>
              <a:r>
                <a:rPr lang="en-US" sz="2000">
                  <a:solidFill>
                    <a:srgbClr val="383838"/>
                  </a:solidFill>
                  <a:latin typeface="Noto Sans"/>
                  <a:ea typeface="Noto Sans"/>
                  <a:cs typeface="Noto Sans"/>
                  <a:sym typeface="Noto Sans"/>
                </a:rPr>
                <a:t>Việc nghiên cứu và ứng dụng AI giúp doanh nghiệp bắt kịp xu hướng công nghệ hiện đại, đồng thời hỗ trợ dự báo nhu cầu thị trường, tối ưu hóa quản lý hàng tồn kho và xây dựng hệ thống thương mại điện tử thông minh.</a:t>
              </a:r>
            </a:p>
          </p:txBody>
        </p:sp>
      </p:grpSp>
      <p:grpSp>
        <p:nvGrpSpPr>
          <p:cNvPr id="16" name="Group 16"/>
          <p:cNvGrpSpPr/>
          <p:nvPr/>
        </p:nvGrpSpPr>
        <p:grpSpPr>
          <a:xfrm>
            <a:off x="13342431" y="4427786"/>
            <a:ext cx="2826657" cy="5110376"/>
            <a:chOff x="0" y="0"/>
            <a:chExt cx="3768876" cy="6813834"/>
          </a:xfrm>
        </p:grpSpPr>
        <p:sp>
          <p:nvSpPr>
            <p:cNvPr id="17" name="TextBox 17"/>
            <p:cNvSpPr txBox="1"/>
            <p:nvPr/>
          </p:nvSpPr>
          <p:spPr>
            <a:xfrm>
              <a:off x="86323" y="1532751"/>
              <a:ext cx="3659941" cy="5281083"/>
            </a:xfrm>
            <a:prstGeom prst="rect">
              <a:avLst/>
            </a:prstGeom>
          </p:spPr>
          <p:txBody>
            <a:bodyPr lIns="0" tIns="0" rIns="0" bIns="0" rtlCol="0" anchor="t">
              <a:spAutoFit/>
            </a:bodyPr>
            <a:lstStyle/>
            <a:p>
              <a:pPr algn="just">
                <a:lnSpc>
                  <a:spcPts val="2900"/>
                </a:lnSpc>
              </a:pPr>
              <a:r>
                <a:rPr lang="en-US" sz="2000" b="1">
                  <a:solidFill>
                    <a:srgbClr val="383838"/>
                  </a:solidFill>
                  <a:latin typeface="Noto Sans Bold"/>
                  <a:ea typeface="Noto Sans Bold"/>
                  <a:cs typeface="Noto Sans Bold"/>
                  <a:sym typeface="Noto Sans Bold"/>
                </a:rPr>
                <a:t>Giải pháp Agentic AI:</a:t>
              </a:r>
            </a:p>
            <a:p>
              <a:pPr marL="0" lvl="0" indent="0" algn="just">
                <a:lnSpc>
                  <a:spcPts val="2900"/>
                </a:lnSpc>
                <a:spcBef>
                  <a:spcPct val="0"/>
                </a:spcBef>
              </a:pPr>
              <a:r>
                <a:rPr lang="en-US" sz="2000">
                  <a:solidFill>
                    <a:srgbClr val="383838"/>
                  </a:solidFill>
                  <a:latin typeface="Noto Sans"/>
                  <a:ea typeface="Noto Sans"/>
                  <a:cs typeface="Noto Sans"/>
                  <a:sym typeface="Noto Sans"/>
                </a:rPr>
                <a:t>AI góp phần tối ưu hóa quy trình vận hành và chăm sóc khách hàng thông qua các công nghệ như chatbot hỗ trợ 24/7, giúp giảm công việc thủ công, hạn chế sai sót và nâng cao chất lượng dịch vụ.</a:t>
              </a:r>
            </a:p>
          </p:txBody>
        </p:sp>
        <p:grpSp>
          <p:nvGrpSpPr>
            <p:cNvPr id="18" name="Group 18"/>
            <p:cNvGrpSpPr/>
            <p:nvPr/>
          </p:nvGrpSpPr>
          <p:grpSpPr>
            <a:xfrm>
              <a:off x="0" y="0"/>
              <a:ext cx="396231" cy="39623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21" name="TextBox 21"/>
            <p:cNvSpPr txBox="1"/>
            <p:nvPr/>
          </p:nvSpPr>
          <p:spPr>
            <a:xfrm>
              <a:off x="63711" y="768731"/>
              <a:ext cx="3705165"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tư</a:t>
              </a:r>
            </a:p>
          </p:txBody>
        </p:sp>
      </p:grpSp>
      <p:grpSp>
        <p:nvGrpSpPr>
          <p:cNvPr id="22" name="Group 22"/>
          <p:cNvGrpSpPr/>
          <p:nvPr/>
        </p:nvGrpSpPr>
        <p:grpSpPr>
          <a:xfrm>
            <a:off x="9146617" y="4427786"/>
            <a:ext cx="3598356" cy="5223288"/>
            <a:chOff x="0" y="0"/>
            <a:chExt cx="4797808" cy="6964384"/>
          </a:xfrm>
        </p:grpSpPr>
        <p:grpSp>
          <p:nvGrpSpPr>
            <p:cNvPr id="23" name="Group 23"/>
            <p:cNvGrpSpPr/>
            <p:nvPr/>
          </p:nvGrpSpPr>
          <p:grpSpPr>
            <a:xfrm>
              <a:off x="0" y="0"/>
              <a:ext cx="396231" cy="396231"/>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26" name="TextBox 26"/>
            <p:cNvSpPr txBox="1"/>
            <p:nvPr/>
          </p:nvSpPr>
          <p:spPr>
            <a:xfrm>
              <a:off x="63711" y="768731"/>
              <a:ext cx="4734097"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ba</a:t>
              </a:r>
            </a:p>
          </p:txBody>
        </p:sp>
        <p:sp>
          <p:nvSpPr>
            <p:cNvPr id="27" name="TextBox 27"/>
            <p:cNvSpPr txBox="1"/>
            <p:nvPr/>
          </p:nvSpPr>
          <p:spPr>
            <a:xfrm>
              <a:off x="0" y="1683301"/>
              <a:ext cx="4797808" cy="5281083"/>
            </a:xfrm>
            <a:prstGeom prst="rect">
              <a:avLst/>
            </a:prstGeom>
          </p:spPr>
          <p:txBody>
            <a:bodyPr lIns="0" tIns="0" rIns="0" bIns="0" rtlCol="0" anchor="t">
              <a:spAutoFit/>
            </a:bodyPr>
            <a:lstStyle/>
            <a:p>
              <a:pPr algn="just">
                <a:lnSpc>
                  <a:spcPts val="2900"/>
                </a:lnSpc>
              </a:pPr>
              <a:r>
                <a:rPr lang="en-US" sz="2000" b="1">
                  <a:solidFill>
                    <a:srgbClr val="383838"/>
                  </a:solidFill>
                  <a:latin typeface="Noto Sans Bold"/>
                  <a:ea typeface="Noto Sans Bold"/>
                  <a:cs typeface="Noto Sans Bold"/>
                  <a:sym typeface="Noto Sans Bold"/>
                </a:rPr>
                <a:t>Giải quyết các bài toán thực tiễn của doanh nghiệp: </a:t>
              </a:r>
            </a:p>
            <a:p>
              <a:pPr marL="0" lvl="0" indent="0" algn="just">
                <a:lnSpc>
                  <a:spcPts val="2900"/>
                </a:lnSpc>
                <a:spcBef>
                  <a:spcPct val="0"/>
                </a:spcBef>
              </a:pPr>
              <a:r>
                <a:rPr lang="en-US" sz="2000">
                  <a:solidFill>
                    <a:srgbClr val="383838"/>
                  </a:solidFill>
                  <a:latin typeface="Noto Sans"/>
                  <a:ea typeface="Noto Sans"/>
                  <a:cs typeface="Noto Sans"/>
                  <a:sym typeface="Noto Sans"/>
                </a:rPr>
                <a:t>Đề tài không chỉ dừng lại ở việc xây dựng một website bán hàng thông thường, mà còn tập trung giải quyết các bài toán quản trị như: Báo cáo tài chính, báo cáo tồn kho, quản lý nhân sự, quản lý xuất nhập, Quản lý đơn hàng, … .</a:t>
              </a:r>
            </a:p>
          </p:txBody>
        </p:sp>
      </p:gr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AutoShape 2"/>
          <p:cNvSpPr/>
          <p:nvPr/>
        </p:nvSpPr>
        <p:spPr>
          <a:xfrm>
            <a:off x="1105872" y="4576373"/>
            <a:ext cx="15713676" cy="0"/>
          </a:xfrm>
          <a:prstGeom prst="line">
            <a:avLst/>
          </a:prstGeom>
          <a:ln w="85725" cap="flat">
            <a:solidFill>
              <a:srgbClr val="383838"/>
            </a:solidFill>
            <a:prstDash val="solid"/>
            <a:headEnd type="none" w="sm" len="sm"/>
            <a:tailEnd type="arrow" w="med" len="sm"/>
          </a:ln>
        </p:spPr>
        <p:txBody>
          <a:bodyPr/>
          <a:lstStyle/>
          <a:p>
            <a:endParaRPr lang="en-US"/>
          </a:p>
        </p:txBody>
      </p:sp>
      <p:graphicFrame>
        <p:nvGraphicFramePr>
          <p:cNvPr id="3" name="Table 3"/>
          <p:cNvGraphicFramePr>
            <a:graphicFrameLocks noGrp="1"/>
          </p:cNvGraphicFramePr>
          <p:nvPr/>
        </p:nvGraphicFramePr>
        <p:xfrm>
          <a:off x="3498331" y="1028700"/>
          <a:ext cx="10994164" cy="2389436"/>
        </p:xfrm>
        <a:graphic>
          <a:graphicData uri="http://schemas.openxmlformats.org/drawingml/2006/table">
            <a:tbl>
              <a:tblPr/>
              <a:tblGrid>
                <a:gridCol w="10994164">
                  <a:extLst>
                    <a:ext uri="{9D8B030D-6E8A-4147-A177-3AD203B41FA5}">
                      <a16:colId xmlns:a16="http://schemas.microsoft.com/office/drawing/2014/main" val="20000"/>
                    </a:ext>
                  </a:extLst>
                </a:gridCol>
              </a:tblGrid>
              <a:tr h="2389436">
                <a:tc>
                  <a:txBody>
                    <a:bodyPr/>
                    <a:lstStyle/>
                    <a:p>
                      <a:pPr algn="ctr">
                        <a:lnSpc>
                          <a:spcPts val="13439"/>
                        </a:lnSpc>
                        <a:defRPr/>
                      </a:pPr>
                      <a:r>
                        <a:rPr lang="en-US" sz="9600" b="1" spc="-768">
                          <a:solidFill>
                            <a:srgbClr val="383838"/>
                          </a:solidFill>
                          <a:latin typeface="Noto Sans Bold"/>
                          <a:ea typeface="Noto Sans Bold"/>
                          <a:cs typeface="Noto Sans Bold"/>
                          <a:sym typeface="Noto Sans Bold"/>
                        </a:rPr>
                        <a:t>MỤC TIÊU</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4" name="Group 4"/>
          <p:cNvGrpSpPr/>
          <p:nvPr/>
        </p:nvGrpSpPr>
        <p:grpSpPr>
          <a:xfrm>
            <a:off x="1105872" y="4427786"/>
            <a:ext cx="3827973" cy="3775488"/>
            <a:chOff x="0" y="0"/>
            <a:chExt cx="5103964" cy="5033984"/>
          </a:xfrm>
        </p:grpSpPr>
        <p:grpSp>
          <p:nvGrpSpPr>
            <p:cNvPr id="5" name="Group 5"/>
            <p:cNvGrpSpPr/>
            <p:nvPr/>
          </p:nvGrpSpPr>
          <p:grpSpPr>
            <a:xfrm>
              <a:off x="0" y="0"/>
              <a:ext cx="396231" cy="39623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sp>
          <p:nvSpPr>
            <p:cNvPr id="8" name="TextBox 8"/>
            <p:cNvSpPr txBox="1"/>
            <p:nvPr/>
          </p:nvSpPr>
          <p:spPr>
            <a:xfrm>
              <a:off x="0" y="768731"/>
              <a:ext cx="2824063"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nhất</a:t>
              </a:r>
            </a:p>
          </p:txBody>
        </p:sp>
        <p:sp>
          <p:nvSpPr>
            <p:cNvPr id="9" name="TextBox 9"/>
            <p:cNvSpPr txBox="1"/>
            <p:nvPr/>
          </p:nvSpPr>
          <p:spPr>
            <a:xfrm>
              <a:off x="0" y="1683301"/>
              <a:ext cx="5103964"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Xây dựng hệ thống thương mại điện tử hoàn chỉnh dựa trên kiến trúc microservices, đảm bảo hệ thống có đầy đủ các chức năng cơ bản của một website bán hàng và có khả năng mở rộng linh hoạt</a:t>
              </a:r>
            </a:p>
          </p:txBody>
        </p:sp>
      </p:grpSp>
      <p:grpSp>
        <p:nvGrpSpPr>
          <p:cNvPr id="10" name="Group 10"/>
          <p:cNvGrpSpPr/>
          <p:nvPr/>
        </p:nvGrpSpPr>
        <p:grpSpPr>
          <a:xfrm>
            <a:off x="6914327" y="4427786"/>
            <a:ext cx="4288200" cy="3775488"/>
            <a:chOff x="0" y="0"/>
            <a:chExt cx="5717601" cy="5033984"/>
          </a:xfrm>
        </p:grpSpPr>
        <p:grpSp>
          <p:nvGrpSpPr>
            <p:cNvPr id="11" name="Group 11"/>
            <p:cNvGrpSpPr/>
            <p:nvPr/>
          </p:nvGrpSpPr>
          <p:grpSpPr>
            <a:xfrm>
              <a:off x="102896" y="0"/>
              <a:ext cx="396231" cy="39623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14" name="TextBox 14"/>
            <p:cNvSpPr txBox="1"/>
            <p:nvPr/>
          </p:nvSpPr>
          <p:spPr>
            <a:xfrm>
              <a:off x="0" y="768731"/>
              <a:ext cx="2267451"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hai</a:t>
              </a:r>
            </a:p>
          </p:txBody>
        </p:sp>
        <p:sp>
          <p:nvSpPr>
            <p:cNvPr id="15" name="TextBox 15"/>
            <p:cNvSpPr txBox="1"/>
            <p:nvPr/>
          </p:nvSpPr>
          <p:spPr>
            <a:xfrm>
              <a:off x="37837" y="1683301"/>
              <a:ext cx="5679764"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Ứng dụng các công nghệ trí tuệ nhân tạo hiện đại như trợ lý ảo (NLP/LLM), học máy (Machine Learning) và thị giác máy tính (Computer Vision) nhằm hỗ trợ tư vấn tự động, cá nhân hóa gợi ý sản phẩm và tìm kiếm thông minh</a:t>
              </a:r>
            </a:p>
          </p:txBody>
        </p:sp>
      </p:grpSp>
      <p:grpSp>
        <p:nvGrpSpPr>
          <p:cNvPr id="16" name="Group 16"/>
          <p:cNvGrpSpPr/>
          <p:nvPr/>
        </p:nvGrpSpPr>
        <p:grpSpPr>
          <a:xfrm>
            <a:off x="13008859" y="4433498"/>
            <a:ext cx="3380669" cy="3775488"/>
            <a:chOff x="0" y="0"/>
            <a:chExt cx="4507558" cy="5033984"/>
          </a:xfrm>
        </p:grpSpPr>
        <p:grpSp>
          <p:nvGrpSpPr>
            <p:cNvPr id="17" name="Group 17"/>
            <p:cNvGrpSpPr/>
            <p:nvPr/>
          </p:nvGrpSpPr>
          <p:grpSpPr>
            <a:xfrm>
              <a:off x="0" y="0"/>
              <a:ext cx="396231" cy="39623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20" name="TextBox 20"/>
            <p:cNvSpPr txBox="1"/>
            <p:nvPr/>
          </p:nvSpPr>
          <p:spPr>
            <a:xfrm>
              <a:off x="63711" y="768731"/>
              <a:ext cx="3705165"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ba</a:t>
              </a:r>
            </a:p>
          </p:txBody>
        </p:sp>
        <p:sp>
          <p:nvSpPr>
            <p:cNvPr id="21" name="TextBox 21"/>
            <p:cNvSpPr txBox="1"/>
            <p:nvPr/>
          </p:nvSpPr>
          <p:spPr>
            <a:xfrm>
              <a:off x="0" y="1683301"/>
              <a:ext cx="4507558"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Xây dựng hệ thống quản trị dữ liệu thông minh giúp phân tích dữ liệu kinh doanh, dự báo doanh thu, phát hiện gian lận và hỗ trợ nhà quản trị đưa ra quyết định hiệu quả</a:t>
              </a:r>
            </a:p>
          </p:txBody>
        </p:sp>
      </p:gr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AutoShape 2"/>
          <p:cNvSpPr/>
          <p:nvPr/>
        </p:nvSpPr>
        <p:spPr>
          <a:xfrm>
            <a:off x="1105872" y="4663448"/>
            <a:ext cx="15713676" cy="0"/>
          </a:xfrm>
          <a:prstGeom prst="line">
            <a:avLst/>
          </a:prstGeom>
          <a:ln w="85725" cap="flat">
            <a:solidFill>
              <a:srgbClr val="383838"/>
            </a:solidFill>
            <a:prstDash val="solid"/>
            <a:headEnd type="none" w="sm" len="sm"/>
            <a:tailEnd type="arrow" w="med" len="sm"/>
          </a:ln>
        </p:spPr>
        <p:txBody>
          <a:bodyPr/>
          <a:lstStyle/>
          <a:p>
            <a:endParaRPr lang="en-US"/>
          </a:p>
        </p:txBody>
      </p:sp>
      <p:graphicFrame>
        <p:nvGraphicFramePr>
          <p:cNvPr id="3" name="Table 3"/>
          <p:cNvGraphicFramePr>
            <a:graphicFrameLocks noGrp="1"/>
          </p:cNvGraphicFramePr>
          <p:nvPr/>
        </p:nvGraphicFramePr>
        <p:xfrm>
          <a:off x="2928550" y="1028700"/>
          <a:ext cx="12430900" cy="2389436"/>
        </p:xfrm>
        <a:graphic>
          <a:graphicData uri="http://schemas.openxmlformats.org/drawingml/2006/table">
            <a:tbl>
              <a:tblPr/>
              <a:tblGrid>
                <a:gridCol w="12430900">
                  <a:extLst>
                    <a:ext uri="{9D8B030D-6E8A-4147-A177-3AD203B41FA5}">
                      <a16:colId xmlns:a16="http://schemas.microsoft.com/office/drawing/2014/main" val="20000"/>
                    </a:ext>
                  </a:extLst>
                </a:gridCol>
              </a:tblGrid>
              <a:tr h="2389436">
                <a:tc>
                  <a:txBody>
                    <a:bodyPr/>
                    <a:lstStyle/>
                    <a:p>
                      <a:pPr algn="ctr">
                        <a:lnSpc>
                          <a:spcPts val="13160"/>
                        </a:lnSpc>
                        <a:defRPr/>
                      </a:pPr>
                      <a:r>
                        <a:rPr lang="en-US" sz="9400" b="1" spc="-752">
                          <a:solidFill>
                            <a:srgbClr val="383838"/>
                          </a:solidFill>
                          <a:latin typeface="Noto Sans Bold"/>
                          <a:ea typeface="Noto Sans Bold"/>
                          <a:cs typeface="Noto Sans Bold"/>
                          <a:sym typeface="Noto Sans Bold"/>
                        </a:rPr>
                        <a:t>CÂU HỎI NGHIÊN CỨU</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4" name="Group 4"/>
          <p:cNvGrpSpPr/>
          <p:nvPr/>
        </p:nvGrpSpPr>
        <p:grpSpPr>
          <a:xfrm>
            <a:off x="1105872" y="4514861"/>
            <a:ext cx="4277860" cy="3775488"/>
            <a:chOff x="0" y="0"/>
            <a:chExt cx="5703813" cy="5033984"/>
          </a:xfrm>
        </p:grpSpPr>
        <p:grpSp>
          <p:nvGrpSpPr>
            <p:cNvPr id="5" name="Group 5"/>
            <p:cNvGrpSpPr/>
            <p:nvPr/>
          </p:nvGrpSpPr>
          <p:grpSpPr>
            <a:xfrm>
              <a:off x="0" y="0"/>
              <a:ext cx="396231" cy="39623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sp>
          <p:nvSpPr>
            <p:cNvPr id="8" name="TextBox 8"/>
            <p:cNvSpPr txBox="1"/>
            <p:nvPr/>
          </p:nvSpPr>
          <p:spPr>
            <a:xfrm>
              <a:off x="0" y="768731"/>
              <a:ext cx="2824063"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nhất</a:t>
              </a:r>
            </a:p>
          </p:txBody>
        </p:sp>
        <p:sp>
          <p:nvSpPr>
            <p:cNvPr id="9" name="TextBox 9"/>
            <p:cNvSpPr txBox="1"/>
            <p:nvPr/>
          </p:nvSpPr>
          <p:spPr>
            <a:xfrm>
              <a:off x="0" y="1683301"/>
              <a:ext cx="5703813"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Làm thế nào để thiết kế và triển khai một website bán hàng đáp ứng đầy đủ các chức năng cơ bản như quản lý sản phẩm, tìm kiếm, đặt hàng và quản lý người dùng, đồng thời đảm bảo giao diện thân thiện và hiệu năng ổn định?</a:t>
              </a:r>
            </a:p>
          </p:txBody>
        </p:sp>
      </p:grpSp>
      <p:grpSp>
        <p:nvGrpSpPr>
          <p:cNvPr id="10" name="Group 10"/>
          <p:cNvGrpSpPr/>
          <p:nvPr/>
        </p:nvGrpSpPr>
        <p:grpSpPr>
          <a:xfrm>
            <a:off x="7531107" y="4514861"/>
            <a:ext cx="3330376" cy="3775488"/>
            <a:chOff x="0" y="0"/>
            <a:chExt cx="4440502" cy="5033984"/>
          </a:xfrm>
        </p:grpSpPr>
        <p:grpSp>
          <p:nvGrpSpPr>
            <p:cNvPr id="11" name="Group 11"/>
            <p:cNvGrpSpPr/>
            <p:nvPr/>
          </p:nvGrpSpPr>
          <p:grpSpPr>
            <a:xfrm>
              <a:off x="113159" y="0"/>
              <a:ext cx="435753" cy="396231"/>
              <a:chOff x="0" y="0"/>
              <a:chExt cx="893874" cy="812800"/>
            </a:xfrm>
          </p:grpSpPr>
          <p:sp>
            <p:nvSpPr>
              <p:cNvPr id="12" name="Freeform 12"/>
              <p:cNvSpPr/>
              <p:nvPr/>
            </p:nvSpPr>
            <p:spPr>
              <a:xfrm>
                <a:off x="0" y="0"/>
                <a:ext cx="893874" cy="812800"/>
              </a:xfrm>
              <a:custGeom>
                <a:avLst/>
                <a:gdLst/>
                <a:ahLst/>
                <a:cxnLst/>
                <a:rect l="l" t="t" r="r" b="b"/>
                <a:pathLst>
                  <a:path w="893874" h="812800">
                    <a:moveTo>
                      <a:pt x="446937" y="0"/>
                    </a:moveTo>
                    <a:cubicBezTo>
                      <a:pt x="200100" y="0"/>
                      <a:pt x="0" y="181951"/>
                      <a:pt x="0" y="406400"/>
                    </a:cubicBezTo>
                    <a:cubicBezTo>
                      <a:pt x="0" y="630849"/>
                      <a:pt x="200100" y="812800"/>
                      <a:pt x="446937" y="812800"/>
                    </a:cubicBezTo>
                    <a:cubicBezTo>
                      <a:pt x="693773" y="812800"/>
                      <a:pt x="893874" y="630849"/>
                      <a:pt x="893874" y="406400"/>
                    </a:cubicBezTo>
                    <a:cubicBezTo>
                      <a:pt x="893874" y="181951"/>
                      <a:pt x="693773" y="0"/>
                      <a:pt x="446937" y="0"/>
                    </a:cubicBezTo>
                    <a:close/>
                  </a:path>
                </a:pathLst>
              </a:custGeom>
              <a:solidFill>
                <a:srgbClr val="FFFFFF"/>
              </a:solidFill>
              <a:ln w="9525" cap="sq">
                <a:solidFill>
                  <a:srgbClr val="000000"/>
                </a:solidFill>
                <a:prstDash val="solid"/>
                <a:miter/>
              </a:ln>
            </p:spPr>
            <p:txBody>
              <a:bodyPr/>
              <a:lstStyle/>
              <a:p>
                <a:endParaRPr lang="en-US"/>
              </a:p>
            </p:txBody>
          </p:sp>
          <p:sp>
            <p:nvSpPr>
              <p:cNvPr id="13" name="TextBox 13"/>
              <p:cNvSpPr txBox="1"/>
              <p:nvPr/>
            </p:nvSpPr>
            <p:spPr>
              <a:xfrm>
                <a:off x="83801" y="38100"/>
                <a:ext cx="726272" cy="698500"/>
              </a:xfrm>
              <a:prstGeom prst="rect">
                <a:avLst/>
              </a:prstGeom>
            </p:spPr>
            <p:txBody>
              <a:bodyPr lIns="50800" tIns="50800" rIns="50800" bIns="50800" rtlCol="0" anchor="ctr"/>
              <a:lstStyle/>
              <a:p>
                <a:pPr algn="ctr">
                  <a:lnSpc>
                    <a:spcPts val="2621"/>
                  </a:lnSpc>
                </a:pPr>
                <a:endParaRPr/>
              </a:p>
            </p:txBody>
          </p:sp>
        </p:grpSp>
        <p:sp>
          <p:nvSpPr>
            <p:cNvPr id="14" name="TextBox 14"/>
            <p:cNvSpPr txBox="1"/>
            <p:nvPr/>
          </p:nvSpPr>
          <p:spPr>
            <a:xfrm>
              <a:off x="0" y="768731"/>
              <a:ext cx="2493621"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hai</a:t>
              </a:r>
            </a:p>
          </p:txBody>
        </p:sp>
        <p:sp>
          <p:nvSpPr>
            <p:cNvPr id="15" name="TextBox 15"/>
            <p:cNvSpPr txBox="1"/>
            <p:nvPr/>
          </p:nvSpPr>
          <p:spPr>
            <a:xfrm>
              <a:off x="41611" y="1683301"/>
              <a:ext cx="4398891"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Làm thế nào để tích hợp trí tuệ nhân tạo (AI) vào website bán hàng nhằm hỗ trợ tư vấn khách hàng, gợi ý sản phẩm phù hợp và phân tích hành vi người dùng một cách hiệu quả?</a:t>
              </a:r>
            </a:p>
          </p:txBody>
        </p:sp>
      </p:grpSp>
      <p:grpSp>
        <p:nvGrpSpPr>
          <p:cNvPr id="16" name="Group 16"/>
          <p:cNvGrpSpPr/>
          <p:nvPr/>
        </p:nvGrpSpPr>
        <p:grpSpPr>
          <a:xfrm>
            <a:off x="13004609" y="4514861"/>
            <a:ext cx="3264569" cy="3775488"/>
            <a:chOff x="0" y="0"/>
            <a:chExt cx="4352759" cy="5033984"/>
          </a:xfrm>
        </p:grpSpPr>
        <p:grpSp>
          <p:nvGrpSpPr>
            <p:cNvPr id="17" name="Group 17"/>
            <p:cNvGrpSpPr/>
            <p:nvPr/>
          </p:nvGrpSpPr>
          <p:grpSpPr>
            <a:xfrm>
              <a:off x="0" y="0"/>
              <a:ext cx="396231" cy="39623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20" name="TextBox 20"/>
            <p:cNvSpPr txBox="1"/>
            <p:nvPr/>
          </p:nvSpPr>
          <p:spPr>
            <a:xfrm>
              <a:off x="63711" y="768731"/>
              <a:ext cx="3705165"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ba</a:t>
              </a:r>
            </a:p>
          </p:txBody>
        </p:sp>
        <p:sp>
          <p:nvSpPr>
            <p:cNvPr id="21" name="TextBox 21"/>
            <p:cNvSpPr txBox="1"/>
            <p:nvPr/>
          </p:nvSpPr>
          <p:spPr>
            <a:xfrm>
              <a:off x="0" y="1683301"/>
              <a:ext cx="4352759"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Việc lựa chọn công nghệ và framework phù hợp ảnh hưởng như thế nào đến hiệu quả hoạt động của hệ thống và trải nghiệm người dùng trong thương mại điện tử?</a:t>
              </a:r>
            </a:p>
          </p:txBody>
        </p:sp>
      </p:gr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4649155" y="3268920"/>
            <a:ext cx="9066845" cy="5989380"/>
          </a:xfrm>
          <a:custGeom>
            <a:avLst/>
            <a:gdLst/>
            <a:ahLst/>
            <a:cxnLst/>
            <a:rect l="l" t="t" r="r" b="b"/>
            <a:pathLst>
              <a:path w="9066845" h="5989380">
                <a:moveTo>
                  <a:pt x="0" y="0"/>
                </a:moveTo>
                <a:lnTo>
                  <a:pt x="9066845" y="0"/>
                </a:lnTo>
                <a:lnTo>
                  <a:pt x="9066845" y="5989380"/>
                </a:lnTo>
                <a:lnTo>
                  <a:pt x="0" y="5989380"/>
                </a:lnTo>
                <a:lnTo>
                  <a:pt x="0" y="0"/>
                </a:lnTo>
                <a:close/>
              </a:path>
            </a:pathLst>
          </a:custGeom>
          <a:blipFill>
            <a:blip r:embed="rId2"/>
            <a:stretch>
              <a:fillRect t="-429" b="-429"/>
            </a:stretch>
          </a:blipFill>
        </p:spPr>
        <p:txBody>
          <a:bodyPr/>
          <a:lstStyle/>
          <a:p>
            <a:endParaRPr lang="en-US"/>
          </a:p>
        </p:txBody>
      </p:sp>
      <p:sp>
        <p:nvSpPr>
          <p:cNvPr id="3" name="TextBox 3"/>
          <p:cNvSpPr txBox="1"/>
          <p:nvPr/>
        </p:nvSpPr>
        <p:spPr>
          <a:xfrm>
            <a:off x="4572000" y="1229703"/>
            <a:ext cx="9144000" cy="806450"/>
          </a:xfrm>
          <a:prstGeom prst="rect">
            <a:avLst/>
          </a:prstGeom>
        </p:spPr>
        <p:txBody>
          <a:bodyPr lIns="0" tIns="0" rIns="0" bIns="0" rtlCol="0" anchor="t">
            <a:spAutoFit/>
          </a:bodyPr>
          <a:lstStyle/>
          <a:p>
            <a:pPr algn="ctr">
              <a:lnSpc>
                <a:spcPts val="6400"/>
              </a:lnSpc>
              <a:spcBef>
                <a:spcPct val="0"/>
              </a:spcBef>
            </a:pPr>
            <a:r>
              <a:rPr lang="en-US" sz="5000" b="1" spc="-125">
                <a:solidFill>
                  <a:srgbClr val="000000"/>
                </a:solidFill>
                <a:latin typeface="Noto Sans Bold"/>
                <a:ea typeface="Noto Sans Bold"/>
                <a:cs typeface="Noto Sans Bold"/>
                <a:sym typeface="Noto Sans Bold"/>
              </a:rPr>
              <a:t>PHƯƠNG PHÁP NGHIÊN CỨU</a:t>
            </a:r>
          </a:p>
        </p:txBody>
      </p:sp>
      <p:sp>
        <p:nvSpPr>
          <p:cNvPr id="4" name="TextBox 4"/>
          <p:cNvSpPr txBox="1"/>
          <p:nvPr/>
        </p:nvSpPr>
        <p:spPr>
          <a:xfrm>
            <a:off x="1882389" y="2319797"/>
            <a:ext cx="14523222" cy="646430"/>
          </a:xfrm>
          <a:prstGeom prst="rect">
            <a:avLst/>
          </a:prstGeom>
        </p:spPr>
        <p:txBody>
          <a:bodyPr lIns="0" tIns="0" rIns="0" bIns="0" rtlCol="0" anchor="t">
            <a:spAutoFit/>
          </a:bodyPr>
          <a:lstStyle/>
          <a:p>
            <a:pPr algn="just">
              <a:lnSpc>
                <a:spcPts val="2560"/>
              </a:lnSpc>
              <a:spcBef>
                <a:spcPct val="0"/>
              </a:spcBef>
            </a:pPr>
            <a:r>
              <a:rPr lang="en-US" sz="2000" spc="-50">
                <a:solidFill>
                  <a:srgbClr val="000000"/>
                </a:solidFill>
                <a:latin typeface="Noto Sans"/>
                <a:ea typeface="Noto Sans"/>
                <a:cs typeface="Noto Sans"/>
                <a:sym typeface="Noto Sans"/>
              </a:rPr>
              <a:t>Nghiên cứu được thực hiện dưới sự kết hợp giữa phương pháp nghiên cứu lý thuyết và phương pháp nghiên cứu thực nghiệm nhằm đảm bảo tính khoa học và khả năng ứng dụng thực tế.</a:t>
            </a:r>
          </a:p>
        </p:txBody>
      </p:sp>
      <p:sp>
        <p:nvSpPr>
          <p:cNvPr id="5" name="TextBox 5"/>
          <p:cNvSpPr txBox="1"/>
          <p:nvPr/>
        </p:nvSpPr>
        <p:spPr>
          <a:xfrm>
            <a:off x="1640511" y="9553575"/>
            <a:ext cx="14523222" cy="473329"/>
          </a:xfrm>
          <a:prstGeom prst="rect">
            <a:avLst/>
          </a:prstGeom>
        </p:spPr>
        <p:txBody>
          <a:bodyPr lIns="0" tIns="0" rIns="0" bIns="0" rtlCol="0" anchor="t">
            <a:spAutoFit/>
          </a:bodyPr>
          <a:lstStyle/>
          <a:p>
            <a:pPr algn="ctr">
              <a:lnSpc>
                <a:spcPts val="3967"/>
              </a:lnSpc>
              <a:spcBef>
                <a:spcPct val="0"/>
              </a:spcBef>
            </a:pPr>
            <a:r>
              <a:rPr lang="en-US" sz="3099" i="1" spc="-77">
                <a:solidFill>
                  <a:srgbClr val="000000"/>
                </a:solidFill>
                <a:latin typeface="Noto Sans Italics"/>
                <a:ea typeface="Noto Sans Italics"/>
                <a:cs typeface="Noto Sans Italics"/>
                <a:sym typeface="Noto Sans Italics"/>
              </a:rPr>
              <a:t> Hình 1: Phương pháp nghiên cứu đồ án</a:t>
            </a: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5220130" y="2887980"/>
            <a:ext cx="7847739" cy="5993711"/>
          </a:xfrm>
          <a:custGeom>
            <a:avLst/>
            <a:gdLst/>
            <a:ahLst/>
            <a:cxnLst/>
            <a:rect l="l" t="t" r="r" b="b"/>
            <a:pathLst>
              <a:path w="7847739" h="5993711">
                <a:moveTo>
                  <a:pt x="0" y="0"/>
                </a:moveTo>
                <a:lnTo>
                  <a:pt x="7847740" y="0"/>
                </a:lnTo>
                <a:lnTo>
                  <a:pt x="7847740" y="5993711"/>
                </a:lnTo>
                <a:lnTo>
                  <a:pt x="0" y="599371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249409" y="601663"/>
            <a:ext cx="9144000" cy="806450"/>
          </a:xfrm>
          <a:prstGeom prst="rect">
            <a:avLst/>
          </a:prstGeom>
        </p:spPr>
        <p:txBody>
          <a:bodyPr lIns="0" tIns="0" rIns="0" bIns="0" rtlCol="0" anchor="t">
            <a:spAutoFit/>
          </a:bodyPr>
          <a:lstStyle/>
          <a:p>
            <a:pPr algn="ctr">
              <a:lnSpc>
                <a:spcPts val="6400"/>
              </a:lnSpc>
              <a:spcBef>
                <a:spcPct val="0"/>
              </a:spcBef>
            </a:pPr>
            <a:r>
              <a:rPr lang="en-US" sz="5000" b="1" spc="-125">
                <a:solidFill>
                  <a:srgbClr val="000000"/>
                </a:solidFill>
                <a:latin typeface="Noto Sans Bold"/>
                <a:ea typeface="Noto Sans Bold"/>
                <a:cs typeface="Noto Sans Bold"/>
                <a:sym typeface="Noto Sans Bold"/>
              </a:rPr>
              <a:t>QUY TRÌNH SCRUM</a:t>
            </a:r>
          </a:p>
        </p:txBody>
      </p:sp>
      <p:sp>
        <p:nvSpPr>
          <p:cNvPr id="4" name="TextBox 4"/>
          <p:cNvSpPr txBox="1"/>
          <p:nvPr/>
        </p:nvSpPr>
        <p:spPr>
          <a:xfrm>
            <a:off x="3702387" y="1834007"/>
            <a:ext cx="10919070" cy="1053973"/>
          </a:xfrm>
          <a:prstGeom prst="rect">
            <a:avLst/>
          </a:prstGeom>
        </p:spPr>
        <p:txBody>
          <a:bodyPr lIns="0" tIns="0" rIns="0" bIns="0" rtlCol="0" anchor="t">
            <a:spAutoFit/>
          </a:bodyPr>
          <a:lstStyle/>
          <a:p>
            <a:pPr algn="just">
              <a:lnSpc>
                <a:spcPts val="2815"/>
              </a:lnSpc>
              <a:spcBef>
                <a:spcPct val="0"/>
              </a:spcBef>
            </a:pPr>
            <a:r>
              <a:rPr lang="en-US" sz="2199" spc="-54">
                <a:solidFill>
                  <a:srgbClr val="000000"/>
                </a:solidFill>
                <a:latin typeface="Noto Sans"/>
                <a:ea typeface="Noto Sans"/>
                <a:cs typeface="Noto Sans"/>
                <a:sym typeface="Noto Sans"/>
              </a:rPr>
              <a:t>Scrum là một phương pháp phát triển phần mềm thuộc mô hình Agile, tập trung vào việc phát triển sản phẩm theo từng vòng lặp ngắn gọi là Sprint (thường kéo dài từ 1–4 tuần).</a:t>
            </a:r>
          </a:p>
        </p:txBody>
      </p:sp>
      <p:sp>
        <p:nvSpPr>
          <p:cNvPr id="5" name="TextBox 5"/>
          <p:cNvSpPr txBox="1"/>
          <p:nvPr/>
        </p:nvSpPr>
        <p:spPr>
          <a:xfrm>
            <a:off x="7493228" y="9310316"/>
            <a:ext cx="3803352" cy="438277"/>
          </a:xfrm>
          <a:prstGeom prst="rect">
            <a:avLst/>
          </a:prstGeom>
        </p:spPr>
        <p:txBody>
          <a:bodyPr lIns="0" tIns="0" rIns="0" bIns="0" rtlCol="0" anchor="t">
            <a:spAutoFit/>
          </a:bodyPr>
          <a:lstStyle/>
          <a:p>
            <a:pPr algn="ctr">
              <a:lnSpc>
                <a:spcPts val="3583"/>
              </a:lnSpc>
              <a:spcBef>
                <a:spcPct val="0"/>
              </a:spcBef>
            </a:pPr>
            <a:r>
              <a:rPr lang="en-US" sz="2799" i="1" spc="-69">
                <a:solidFill>
                  <a:srgbClr val="000000"/>
                </a:solidFill>
                <a:latin typeface="Noto Sans Italics"/>
                <a:ea typeface="Noto Sans Italics"/>
                <a:cs typeface="Noto Sans Italics"/>
                <a:sym typeface="Noto Sans Italics"/>
              </a:rPr>
              <a:t> Hình 2: Quy trình SCRUM</a:t>
            </a: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267143" y="4846739"/>
            <a:ext cx="8279329" cy="3909859"/>
          </a:xfrm>
          <a:custGeom>
            <a:avLst/>
            <a:gdLst/>
            <a:ahLst/>
            <a:cxnLst/>
            <a:rect l="l" t="t" r="r" b="b"/>
            <a:pathLst>
              <a:path w="8279329" h="3909859">
                <a:moveTo>
                  <a:pt x="0" y="0"/>
                </a:moveTo>
                <a:lnTo>
                  <a:pt x="8279329" y="0"/>
                </a:lnTo>
                <a:lnTo>
                  <a:pt x="8279329" y="3909859"/>
                </a:lnTo>
                <a:lnTo>
                  <a:pt x="0" y="3909859"/>
                </a:lnTo>
                <a:lnTo>
                  <a:pt x="0" y="0"/>
                </a:lnTo>
                <a:close/>
              </a:path>
            </a:pathLst>
          </a:custGeom>
          <a:blipFill>
            <a:blip r:embed="rId2"/>
            <a:stretch>
              <a:fillRect l="-2879" t="-11325" r="-822" b="-12197"/>
            </a:stretch>
          </a:blipFill>
        </p:spPr>
        <p:txBody>
          <a:bodyPr/>
          <a:lstStyle/>
          <a:p>
            <a:endParaRPr lang="en-US"/>
          </a:p>
        </p:txBody>
      </p:sp>
      <p:sp>
        <p:nvSpPr>
          <p:cNvPr id="3" name="TextBox 3"/>
          <p:cNvSpPr txBox="1"/>
          <p:nvPr/>
        </p:nvSpPr>
        <p:spPr>
          <a:xfrm>
            <a:off x="2919930" y="976948"/>
            <a:ext cx="12448140" cy="806450"/>
          </a:xfrm>
          <a:prstGeom prst="rect">
            <a:avLst/>
          </a:prstGeom>
        </p:spPr>
        <p:txBody>
          <a:bodyPr lIns="0" tIns="0" rIns="0" bIns="0" rtlCol="0" anchor="t">
            <a:spAutoFit/>
          </a:bodyPr>
          <a:lstStyle/>
          <a:p>
            <a:pPr algn="ctr">
              <a:lnSpc>
                <a:spcPts val="6400"/>
              </a:lnSpc>
              <a:spcBef>
                <a:spcPct val="0"/>
              </a:spcBef>
            </a:pPr>
            <a:r>
              <a:rPr lang="en-US" sz="5000" b="1" spc="-125">
                <a:solidFill>
                  <a:srgbClr val="000000"/>
                </a:solidFill>
                <a:latin typeface="Noto Sans Bold"/>
                <a:ea typeface="Noto Sans Bold"/>
                <a:cs typeface="Noto Sans Bold"/>
                <a:sym typeface="Noto Sans Bold"/>
              </a:rPr>
              <a:t>QUY TRÌNH VẬN HÀNH DEVOPS VÀ CI/CD </a:t>
            </a:r>
          </a:p>
        </p:txBody>
      </p:sp>
      <p:sp>
        <p:nvSpPr>
          <p:cNvPr id="4" name="TextBox 4"/>
          <p:cNvSpPr txBox="1"/>
          <p:nvPr/>
        </p:nvSpPr>
        <p:spPr>
          <a:xfrm>
            <a:off x="1028700" y="2202498"/>
            <a:ext cx="16230600" cy="1753743"/>
          </a:xfrm>
          <a:prstGeom prst="rect">
            <a:avLst/>
          </a:prstGeom>
        </p:spPr>
        <p:txBody>
          <a:bodyPr lIns="0" tIns="0" rIns="0" bIns="0" rtlCol="0" anchor="t">
            <a:spAutoFit/>
          </a:bodyPr>
          <a:lstStyle/>
          <a:p>
            <a:pPr marL="582932" lvl="1" indent="-291466" algn="l">
              <a:lnSpc>
                <a:spcPts val="3456"/>
              </a:lnSpc>
              <a:spcBef>
                <a:spcPct val="0"/>
              </a:spcBef>
              <a:buFont typeface="Arial"/>
              <a:buChar char="•"/>
            </a:pPr>
            <a:r>
              <a:rPr lang="en-US" sz="2700" spc="-67">
                <a:solidFill>
                  <a:srgbClr val="000000"/>
                </a:solidFill>
                <a:latin typeface="Noto Sans"/>
                <a:ea typeface="Noto Sans"/>
                <a:cs typeface="Noto Sans"/>
                <a:sym typeface="Noto Sans"/>
              </a:rPr>
              <a:t>DevOps là một phương pháp phát triển và vận hành phần mềm tập trung vào việc tự động hóa và tích hợp các quy trình phát triển và vận hành. </a:t>
            </a:r>
          </a:p>
          <a:p>
            <a:pPr marL="582932" lvl="1" indent="-291466" algn="l">
              <a:lnSpc>
                <a:spcPts val="3456"/>
              </a:lnSpc>
              <a:spcBef>
                <a:spcPct val="0"/>
              </a:spcBef>
              <a:buFont typeface="Arial"/>
              <a:buChar char="•"/>
            </a:pPr>
            <a:r>
              <a:rPr lang="en-US" sz="2700" spc="-67">
                <a:solidFill>
                  <a:srgbClr val="000000"/>
                </a:solidFill>
                <a:latin typeface="Noto Sans"/>
                <a:ea typeface="Noto Sans"/>
                <a:cs typeface="Noto Sans"/>
                <a:sym typeface="Noto Sans"/>
              </a:rPr>
              <a:t>Mục tiêu của DevOps là tạo ra một môi trường nơi các nhóm phát triển và vận hành có thể cộng tác chặt chẽ để cung cấp phần mềm nhanh hơn, đáng tin cậy hơn và linh hoạt hơn.</a:t>
            </a:r>
          </a:p>
        </p:txBody>
      </p:sp>
      <p:sp>
        <p:nvSpPr>
          <p:cNvPr id="5" name="TextBox 5"/>
          <p:cNvSpPr txBox="1"/>
          <p:nvPr/>
        </p:nvSpPr>
        <p:spPr>
          <a:xfrm>
            <a:off x="10236021" y="4812105"/>
            <a:ext cx="7023279" cy="3944493"/>
          </a:xfrm>
          <a:prstGeom prst="rect">
            <a:avLst/>
          </a:prstGeom>
        </p:spPr>
        <p:txBody>
          <a:bodyPr lIns="0" tIns="0" rIns="0" bIns="0" rtlCol="0" anchor="t">
            <a:spAutoFit/>
          </a:bodyPr>
          <a:lstStyle/>
          <a:p>
            <a:pPr algn="just">
              <a:lnSpc>
                <a:spcPts val="3456"/>
              </a:lnSpc>
              <a:spcBef>
                <a:spcPct val="0"/>
              </a:spcBef>
            </a:pPr>
            <a:r>
              <a:rPr lang="en-US" sz="2700" b="1" spc="-67">
                <a:solidFill>
                  <a:srgbClr val="000000"/>
                </a:solidFill>
                <a:latin typeface="Noto Sans Bold"/>
                <a:ea typeface="Noto Sans Bold"/>
                <a:cs typeface="Noto Sans Bold"/>
                <a:sym typeface="Noto Sans Bold"/>
              </a:rPr>
              <a:t>CI/CD (Tích hợp &amp; Triển khai liên tục)</a:t>
            </a:r>
            <a:r>
              <a:rPr lang="en-US" sz="2700" spc="-67">
                <a:solidFill>
                  <a:srgbClr val="000000"/>
                </a:solidFill>
                <a:latin typeface="Noto Sans"/>
                <a:ea typeface="Noto Sans"/>
                <a:cs typeface="Noto Sans"/>
                <a:sym typeface="Noto Sans"/>
              </a:rPr>
              <a:t> là phương pháp DevOps tự động hóa quy trình xây dựng, kiểm thử và phát hành phần mềm, giúp rút ngắn chu kỳ phát triển, giảm thiểu lỗi và tăng tốc độ ra mắt tính năng mới. Quy trình này bao gồm: Tích hợp liên tục (CI) để tự động kiểm tra code và Triển khai/Chuyển giao liên tục (CD) để đẩy code lên môi trường production.</a:t>
            </a:r>
          </a:p>
        </p:txBody>
      </p:sp>
      <p:sp>
        <p:nvSpPr>
          <p:cNvPr id="6" name="TextBox 6"/>
          <p:cNvSpPr txBox="1"/>
          <p:nvPr/>
        </p:nvSpPr>
        <p:spPr>
          <a:xfrm>
            <a:off x="2873747" y="9185223"/>
            <a:ext cx="5548710" cy="367156"/>
          </a:xfrm>
          <a:prstGeom prst="rect">
            <a:avLst/>
          </a:prstGeom>
        </p:spPr>
        <p:txBody>
          <a:bodyPr lIns="0" tIns="0" rIns="0" bIns="0" rtlCol="0" anchor="t">
            <a:spAutoFit/>
          </a:bodyPr>
          <a:lstStyle/>
          <a:p>
            <a:pPr algn="ctr">
              <a:lnSpc>
                <a:spcPts val="2944"/>
              </a:lnSpc>
              <a:spcBef>
                <a:spcPct val="0"/>
              </a:spcBef>
            </a:pPr>
            <a:r>
              <a:rPr lang="en-US" sz="2300" i="1" spc="-57">
                <a:solidFill>
                  <a:srgbClr val="000000"/>
                </a:solidFill>
                <a:latin typeface="Noto Sans Italics"/>
                <a:ea typeface="Noto Sans Italics"/>
                <a:cs typeface="Noto Sans Italics"/>
                <a:sym typeface="Noto Sans Italics"/>
              </a:rPr>
              <a:t> Hình 3: Quy trình vận hành Devops và CI/CD </a:t>
            </a:r>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290083" y="1028700"/>
          <a:ext cx="7707834" cy="2389436"/>
        </p:xfrm>
        <a:graphic>
          <a:graphicData uri="http://schemas.openxmlformats.org/drawingml/2006/table">
            <a:tbl>
              <a:tblPr/>
              <a:tblGrid>
                <a:gridCol w="7707834">
                  <a:extLst>
                    <a:ext uri="{9D8B030D-6E8A-4147-A177-3AD203B41FA5}">
                      <a16:colId xmlns:a16="http://schemas.microsoft.com/office/drawing/2014/main" val="20000"/>
                    </a:ext>
                  </a:extLst>
                </a:gridCol>
              </a:tblGrid>
              <a:tr h="2389436">
                <a:tc>
                  <a:txBody>
                    <a:bodyPr/>
                    <a:lstStyle/>
                    <a:p>
                      <a:pPr algn="ctr">
                        <a:lnSpc>
                          <a:spcPts val="13720"/>
                        </a:lnSpc>
                        <a:defRPr/>
                      </a:pPr>
                      <a:r>
                        <a:rPr lang="en-US" sz="9800" b="1" spc="-784">
                          <a:solidFill>
                            <a:srgbClr val="383838"/>
                          </a:solidFill>
                          <a:latin typeface="Noto Sans Bold"/>
                          <a:ea typeface="Noto Sans Bold"/>
                          <a:cs typeface="Noto Sans Bold"/>
                          <a:sym typeface="Noto Sans Bold"/>
                        </a:rPr>
                        <a:t>Chương 2</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4264255" y="5010150"/>
            <a:ext cx="9759490" cy="1243331"/>
          </a:xfrm>
          <a:prstGeom prst="rect">
            <a:avLst/>
          </a:prstGeom>
        </p:spPr>
        <p:txBody>
          <a:bodyPr lIns="0" tIns="0" rIns="0" bIns="0" rtlCol="0" anchor="t">
            <a:spAutoFit/>
          </a:bodyPr>
          <a:lstStyle/>
          <a:p>
            <a:pPr algn="ctr">
              <a:lnSpc>
                <a:spcPts val="10219"/>
              </a:lnSpc>
            </a:pPr>
            <a:r>
              <a:rPr lang="en-US" sz="7299" b="1">
                <a:solidFill>
                  <a:srgbClr val="000000"/>
                </a:solidFill>
                <a:latin typeface="Noto Sans Bold"/>
                <a:ea typeface="Noto Sans Bold"/>
                <a:cs typeface="Noto Sans Bold"/>
                <a:sym typeface="Noto Sans Bold"/>
              </a:rPr>
              <a:t>CƠ SỞ LÝ THUYẾT</a:t>
            </a:r>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5626563" y="1099655"/>
            <a:ext cx="659901" cy="643383"/>
          </a:xfrm>
          <a:custGeom>
            <a:avLst/>
            <a:gdLst/>
            <a:ahLst/>
            <a:cxnLst/>
            <a:rect l="l" t="t" r="r" b="b"/>
            <a:pathLst>
              <a:path w="659901" h="643383">
                <a:moveTo>
                  <a:pt x="0" y="0"/>
                </a:moveTo>
                <a:lnTo>
                  <a:pt x="659901" y="0"/>
                </a:lnTo>
                <a:lnTo>
                  <a:pt x="659901" y="643383"/>
                </a:lnTo>
                <a:lnTo>
                  <a:pt x="0" y="6433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252750" y="3432897"/>
            <a:ext cx="9782500" cy="5825403"/>
          </a:xfrm>
          <a:custGeom>
            <a:avLst/>
            <a:gdLst/>
            <a:ahLst/>
            <a:cxnLst/>
            <a:rect l="l" t="t" r="r" b="b"/>
            <a:pathLst>
              <a:path w="9782500" h="5825403">
                <a:moveTo>
                  <a:pt x="0" y="0"/>
                </a:moveTo>
                <a:lnTo>
                  <a:pt x="9782500" y="0"/>
                </a:lnTo>
                <a:lnTo>
                  <a:pt x="9782500" y="5825403"/>
                </a:lnTo>
                <a:lnTo>
                  <a:pt x="0" y="5825403"/>
                </a:lnTo>
                <a:lnTo>
                  <a:pt x="0" y="0"/>
                </a:lnTo>
                <a:close/>
              </a:path>
            </a:pathLst>
          </a:custGeom>
          <a:blipFill>
            <a:blip r:embed="rId3"/>
            <a:stretch>
              <a:fillRect t="-5941" b="-5941"/>
            </a:stretch>
          </a:blipFill>
        </p:spPr>
        <p:txBody>
          <a:bodyPr/>
          <a:lstStyle/>
          <a:p>
            <a:endParaRPr lang="en-US"/>
          </a:p>
        </p:txBody>
      </p:sp>
      <p:sp>
        <p:nvSpPr>
          <p:cNvPr id="4" name="TextBox 4"/>
          <p:cNvSpPr txBox="1"/>
          <p:nvPr/>
        </p:nvSpPr>
        <p:spPr>
          <a:xfrm>
            <a:off x="1374881" y="597879"/>
            <a:ext cx="15884419" cy="823468"/>
          </a:xfrm>
          <a:prstGeom prst="rect">
            <a:avLst/>
          </a:prstGeom>
        </p:spPr>
        <p:txBody>
          <a:bodyPr lIns="0" tIns="0" rIns="0" bIns="0" rtlCol="0" anchor="t">
            <a:spAutoFit/>
          </a:bodyPr>
          <a:lstStyle/>
          <a:p>
            <a:pPr algn="l">
              <a:lnSpc>
                <a:spcPts val="6655"/>
              </a:lnSpc>
              <a:spcBef>
                <a:spcPct val="0"/>
              </a:spcBef>
            </a:pPr>
            <a:r>
              <a:rPr lang="en-US" sz="5199" b="1" spc="-129">
                <a:solidFill>
                  <a:srgbClr val="383838"/>
                </a:solidFill>
                <a:latin typeface="Noto Sans Bold"/>
                <a:ea typeface="Noto Sans Bold"/>
                <a:cs typeface="Noto Sans Bold"/>
                <a:sym typeface="Noto Sans Bold"/>
              </a:rPr>
              <a:t>Lý luận tổng quan về kiến trúc phần mềm</a:t>
            </a:r>
          </a:p>
        </p:txBody>
      </p:sp>
      <p:sp>
        <p:nvSpPr>
          <p:cNvPr id="5" name="TextBox 5"/>
          <p:cNvSpPr txBox="1"/>
          <p:nvPr/>
        </p:nvSpPr>
        <p:spPr>
          <a:xfrm>
            <a:off x="1201791" y="1989112"/>
            <a:ext cx="15884419" cy="1268095"/>
          </a:xfrm>
          <a:prstGeom prst="rect">
            <a:avLst/>
          </a:prstGeom>
        </p:spPr>
        <p:txBody>
          <a:bodyPr lIns="0" tIns="0" rIns="0" bIns="0" rtlCol="0" anchor="t">
            <a:spAutoFit/>
          </a:bodyPr>
          <a:lstStyle/>
          <a:p>
            <a:pPr algn="just">
              <a:lnSpc>
                <a:spcPts val="3421"/>
              </a:lnSpc>
              <a:spcBef>
                <a:spcPct val="0"/>
              </a:spcBef>
            </a:pPr>
            <a:r>
              <a:rPr lang="en-US" sz="2359">
                <a:solidFill>
                  <a:srgbClr val="383838"/>
                </a:solidFill>
                <a:latin typeface="Noto Sans"/>
                <a:ea typeface="Noto Sans"/>
                <a:cs typeface="Noto Sans"/>
                <a:sym typeface="Noto Sans"/>
              </a:rPr>
              <a:t>Kiến trúc phần mềm là cách tổ chức tổng thể các thành phần của hệ thống, bao gồm các mô-đun chức năng, luồng dữ liệu, cơ chế giao tiếp và cách triển khai thực tế. Một kiến trúc tốt không chỉ giúp hệ thống hoạt động ổn định mà còn tạo điều kiện thuận lợi cho việc mở rộng, bảo trì và nâng cấp trong tương lai.</a:t>
            </a:r>
          </a:p>
        </p:txBody>
      </p:sp>
      <p:sp>
        <p:nvSpPr>
          <p:cNvPr id="6" name="TextBox 6"/>
          <p:cNvSpPr txBox="1"/>
          <p:nvPr/>
        </p:nvSpPr>
        <p:spPr>
          <a:xfrm>
            <a:off x="6189170" y="9509125"/>
            <a:ext cx="6255841" cy="474344"/>
          </a:xfrm>
          <a:prstGeom prst="rect">
            <a:avLst/>
          </a:prstGeom>
        </p:spPr>
        <p:txBody>
          <a:bodyPr lIns="0" tIns="0" rIns="0" bIns="0" rtlCol="0" anchor="t">
            <a:spAutoFit/>
          </a:bodyPr>
          <a:lstStyle/>
          <a:p>
            <a:pPr algn="ctr">
              <a:lnSpc>
                <a:spcPts val="3840"/>
              </a:lnSpc>
              <a:spcBef>
                <a:spcPct val="0"/>
              </a:spcBef>
            </a:pPr>
            <a:r>
              <a:rPr lang="en-US" sz="3000" i="1" spc="-75">
                <a:solidFill>
                  <a:srgbClr val="383838"/>
                </a:solidFill>
                <a:latin typeface="Noto Sans Italics"/>
                <a:ea typeface="Noto Sans Italics"/>
                <a:cs typeface="Noto Sans Italics"/>
                <a:sym typeface="Noto Sans Italics"/>
              </a:rPr>
              <a:t> Hình 4: Kiến trúc phần mềm của đồ án</a:t>
            </a: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279193" y="468728"/>
            <a:ext cx="10846244"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Business Context</a:t>
            </a:r>
          </a:p>
        </p:txBody>
      </p:sp>
      <p:sp>
        <p:nvSpPr>
          <p:cNvPr id="4" name="TextBox 4"/>
          <p:cNvSpPr txBox="1"/>
          <p:nvPr/>
        </p:nvSpPr>
        <p:spPr>
          <a:xfrm>
            <a:off x="1355949" y="1262328"/>
            <a:ext cx="15778959" cy="6929172"/>
          </a:xfrm>
          <a:prstGeom prst="rect">
            <a:avLst/>
          </a:prstGeom>
        </p:spPr>
        <p:txBody>
          <a:bodyPr lIns="0" tIns="0" rIns="0" bIns="0" rtlCol="0" anchor="t">
            <a:spAutoFit/>
          </a:bodyPr>
          <a:lstStyle/>
          <a:p>
            <a:pPr algn="l">
              <a:lnSpc>
                <a:spcPts val="4233"/>
              </a:lnSpc>
            </a:pPr>
            <a:endParaRP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Hệ thống là nền tảng thương mại điện tử, đóng vai trò trung gian kết nối người mua và người bán.</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Người bán đăng ký tài khoản và đăng tải sản phẩm với các thông tin như tên, giá, số lượng, mô tả, hình ảnh.</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Người mua truy cập hệ thống để tìm kiếm, xem sản phẩm, thêm vào giỏ hàng và đặt hàng.</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Sau khi đặt hàng, hệ thống kiểm tra tính hợp lệ của đơn hàng, tính tổng tiền, phí vận chuyển và xử lý thanh toán.</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Khi đơn hàng được xác nhận, hệ thống thông báo cho người bán để chuẩn bị hàng và giao hàng.</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Hệ thống có nhiệm vụ quản lý dữ liệu người dùng, sản phẩm, đơn hàng và đồng bộ trạng thái giao dịch.</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Ngoài ra, hệ thống hỗ trợ thanh toán an toàn, gửi thông báo và lưu trữ lịch sử giao dịch.</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Sau khi nhận hàng, người mua có thể đánh giá sản phẩm để hỗ trợ những khách hàng khác và nâng cao chất lượng dịch vụ.</a:t>
            </a:r>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1535166" y="1521790"/>
            <a:ext cx="6790371" cy="8569252"/>
          </a:xfrm>
          <a:prstGeom prst="rect">
            <a:avLst/>
          </a:prstGeom>
        </p:spPr>
        <p:txBody>
          <a:bodyPr lIns="0" tIns="0" rIns="0" bIns="0" rtlCol="0" anchor="t">
            <a:spAutoFit/>
          </a:bodyPr>
          <a:lstStyle/>
          <a:p>
            <a:pPr algn="l">
              <a:lnSpc>
                <a:spcPts val="3822"/>
              </a:lnSpc>
            </a:pPr>
            <a:r>
              <a:rPr lang="en-US" sz="2986" spc="-74">
                <a:solidFill>
                  <a:srgbClr val="383838"/>
                </a:solidFill>
                <a:latin typeface="Decalotype"/>
                <a:ea typeface="Decalotype"/>
                <a:cs typeface="Decalotype"/>
                <a:sym typeface="Decalotype"/>
              </a:rPr>
              <a:t>Đối với người mua (Customer):</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Đăng ký, đăng nhập tài khoản.</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Tìm kiếm và xem thông tin sản phẩm.</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Thêm sản phẩm vào giỏ hàng.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Đặt hàng và thanh toán.</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Theo dõi trạng thái đơn hàng.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Đánh giá và nhận xét sản phẩm.</a:t>
            </a:r>
          </a:p>
          <a:p>
            <a:pPr algn="l">
              <a:lnSpc>
                <a:spcPts val="3822"/>
              </a:lnSpc>
            </a:pPr>
            <a:r>
              <a:rPr lang="en-US" sz="2986" spc="-74">
                <a:solidFill>
                  <a:srgbClr val="383838"/>
                </a:solidFill>
                <a:latin typeface="Decalotype"/>
                <a:ea typeface="Decalotype"/>
                <a:cs typeface="Decalotype"/>
                <a:sym typeface="Decalotype"/>
              </a:rPr>
              <a:t>Đối với người bán (Seller):</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Đăng ký tài khoản người bán.</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Đăng sản phẩm lên hệ thống.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Quản lý thông tin sản phẩm.</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Nhận và xử lý đơn hàng.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Theo dõi doanh thu và thống kê bán hàng.</a:t>
            </a:r>
          </a:p>
          <a:p>
            <a:pPr algn="l">
              <a:lnSpc>
                <a:spcPts val="3822"/>
              </a:lnSpc>
            </a:pPr>
            <a:r>
              <a:rPr lang="en-US" sz="2986" spc="-74">
                <a:solidFill>
                  <a:srgbClr val="383838"/>
                </a:solidFill>
                <a:latin typeface="Decalotype"/>
                <a:ea typeface="Decalotype"/>
                <a:cs typeface="Decalotype"/>
                <a:sym typeface="Decalotype"/>
              </a:rPr>
              <a:t>Đối với quản trị viên (Admin):</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Quản lý người dùng trong hệ thống.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Kiểm duyệt sản phẩm.</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Quản lý đơn hàng và giao dịch.</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Xem báo cáo, thống kê để hỗ trợ quản lý.</a:t>
            </a:r>
          </a:p>
        </p:txBody>
      </p:sp>
      <p:sp>
        <p:nvSpPr>
          <p:cNvPr id="4" name="Freeform 4"/>
          <p:cNvSpPr/>
          <p:nvPr/>
        </p:nvSpPr>
        <p:spPr>
          <a:xfrm>
            <a:off x="8325538" y="2477529"/>
            <a:ext cx="9694679" cy="6459080"/>
          </a:xfrm>
          <a:custGeom>
            <a:avLst/>
            <a:gdLst/>
            <a:ahLst/>
            <a:cxnLst/>
            <a:rect l="l" t="t" r="r" b="b"/>
            <a:pathLst>
              <a:path w="9694679" h="6459080">
                <a:moveTo>
                  <a:pt x="0" y="0"/>
                </a:moveTo>
                <a:lnTo>
                  <a:pt x="9694679" y="0"/>
                </a:lnTo>
                <a:lnTo>
                  <a:pt x="9694679" y="6459080"/>
                </a:lnTo>
                <a:lnTo>
                  <a:pt x="0" y="6459080"/>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279193" y="468728"/>
            <a:ext cx="10846244"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User story</a:t>
            </a:r>
          </a:p>
        </p:txBody>
      </p:sp>
      <p:sp>
        <p:nvSpPr>
          <p:cNvPr id="6" name="TextBox 6"/>
          <p:cNvSpPr txBox="1"/>
          <p:nvPr/>
        </p:nvSpPr>
        <p:spPr>
          <a:xfrm>
            <a:off x="10876828" y="9229725"/>
            <a:ext cx="4133156" cy="465761"/>
          </a:xfrm>
          <a:prstGeom prst="rect">
            <a:avLst/>
          </a:prstGeom>
        </p:spPr>
        <p:txBody>
          <a:bodyPr lIns="0" tIns="0" rIns="0" bIns="0" rtlCol="0" anchor="t">
            <a:spAutoFit/>
          </a:bodyPr>
          <a:lstStyle/>
          <a:p>
            <a:pPr algn="ctr">
              <a:lnSpc>
                <a:spcPts val="3721"/>
              </a:lnSpc>
              <a:spcBef>
                <a:spcPct val="0"/>
              </a:spcBef>
            </a:pPr>
            <a:r>
              <a:rPr lang="en-US" sz="2907" i="1" spc="-72">
                <a:solidFill>
                  <a:srgbClr val="383838"/>
                </a:solidFill>
                <a:latin typeface="Decalotype Italics"/>
                <a:ea typeface="Decalotype Italics"/>
                <a:cs typeface="Decalotype Italics"/>
                <a:sym typeface="Decalotype Italics"/>
              </a:rPr>
              <a:t>Hình 5 : User story của hệ thống </a:t>
            </a:r>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3802057" y="3063240"/>
            <a:ext cx="11460150" cy="6315943"/>
          </a:xfrm>
          <a:custGeom>
            <a:avLst/>
            <a:gdLst/>
            <a:ahLst/>
            <a:cxnLst/>
            <a:rect l="l" t="t" r="r" b="b"/>
            <a:pathLst>
              <a:path w="11460150" h="6315943">
                <a:moveTo>
                  <a:pt x="0" y="0"/>
                </a:moveTo>
                <a:lnTo>
                  <a:pt x="11460150" y="0"/>
                </a:lnTo>
                <a:lnTo>
                  <a:pt x="11460150" y="6315944"/>
                </a:lnTo>
                <a:lnTo>
                  <a:pt x="0" y="6315944"/>
                </a:lnTo>
                <a:lnTo>
                  <a:pt x="0" y="0"/>
                </a:lnTo>
                <a:close/>
              </a:path>
            </a:pathLst>
          </a:custGeom>
          <a:blipFill>
            <a:blip r:embed="rId2"/>
            <a:stretch>
              <a:fillRect t="-13076" b="-781"/>
            </a:stretch>
          </a:blipFill>
        </p:spPr>
        <p:txBody>
          <a:bodyPr/>
          <a:lstStyle/>
          <a:p>
            <a:endParaRPr lang="en-US"/>
          </a:p>
        </p:txBody>
      </p:sp>
      <p:sp>
        <p:nvSpPr>
          <p:cNvPr id="3" name="TextBox 3"/>
          <p:cNvSpPr txBox="1"/>
          <p:nvPr/>
        </p:nvSpPr>
        <p:spPr>
          <a:xfrm>
            <a:off x="4213413" y="-47625"/>
            <a:ext cx="9144000" cy="806450"/>
          </a:xfrm>
          <a:prstGeom prst="rect">
            <a:avLst/>
          </a:prstGeom>
        </p:spPr>
        <p:txBody>
          <a:bodyPr lIns="0" tIns="0" rIns="0" bIns="0" rtlCol="0" anchor="t">
            <a:spAutoFit/>
          </a:bodyPr>
          <a:lstStyle/>
          <a:p>
            <a:pPr algn="ctr">
              <a:lnSpc>
                <a:spcPts val="6400"/>
              </a:lnSpc>
              <a:spcBef>
                <a:spcPct val="0"/>
              </a:spcBef>
            </a:pPr>
            <a:r>
              <a:rPr lang="en-US" sz="5000" b="1" spc="-125">
                <a:solidFill>
                  <a:srgbClr val="000000"/>
                </a:solidFill>
                <a:latin typeface="Noto Sans Bold"/>
                <a:ea typeface="Noto Sans Bold"/>
                <a:cs typeface="Noto Sans Bold"/>
                <a:sym typeface="Noto Sans Bold"/>
              </a:rPr>
              <a:t>SƠ ĐỒ KIẾN TRÚC HỆ THỐNG</a:t>
            </a:r>
          </a:p>
        </p:txBody>
      </p:sp>
      <p:sp>
        <p:nvSpPr>
          <p:cNvPr id="4" name="TextBox 4"/>
          <p:cNvSpPr txBox="1"/>
          <p:nvPr/>
        </p:nvSpPr>
        <p:spPr>
          <a:xfrm>
            <a:off x="6971842" y="9626834"/>
            <a:ext cx="5120580" cy="474344"/>
          </a:xfrm>
          <a:prstGeom prst="rect">
            <a:avLst/>
          </a:prstGeom>
        </p:spPr>
        <p:txBody>
          <a:bodyPr lIns="0" tIns="0" rIns="0" bIns="0" rtlCol="0" anchor="t">
            <a:spAutoFit/>
          </a:bodyPr>
          <a:lstStyle/>
          <a:p>
            <a:pPr algn="ctr">
              <a:lnSpc>
                <a:spcPts val="3840"/>
              </a:lnSpc>
              <a:spcBef>
                <a:spcPct val="0"/>
              </a:spcBef>
            </a:pPr>
            <a:r>
              <a:rPr lang="en-US" sz="3000" i="1" spc="-75">
                <a:solidFill>
                  <a:srgbClr val="000000"/>
                </a:solidFill>
                <a:latin typeface="Noto Sans Italics"/>
                <a:ea typeface="Noto Sans Italics"/>
                <a:cs typeface="Noto Sans Italics"/>
                <a:sym typeface="Noto Sans Italics"/>
              </a:rPr>
              <a:t>Hình 6: Sơ đồ kiến trúc hệ thống</a:t>
            </a:r>
          </a:p>
        </p:txBody>
      </p:sp>
      <p:sp>
        <p:nvSpPr>
          <p:cNvPr id="5" name="TextBox 5"/>
          <p:cNvSpPr txBox="1"/>
          <p:nvPr/>
        </p:nvSpPr>
        <p:spPr>
          <a:xfrm>
            <a:off x="1601977" y="1593533"/>
            <a:ext cx="12569152" cy="1312545"/>
          </a:xfrm>
          <a:prstGeom prst="rect">
            <a:avLst/>
          </a:prstGeom>
        </p:spPr>
        <p:txBody>
          <a:bodyPr lIns="0" tIns="0" rIns="0" bIns="0" rtlCol="0" anchor="t">
            <a:spAutoFit/>
          </a:bodyPr>
          <a:lstStyle/>
          <a:p>
            <a:pPr marL="531111" lvl="1" indent="-265555" algn="just">
              <a:lnSpc>
                <a:spcPts val="3566"/>
              </a:lnSpc>
              <a:buFont typeface="Arial"/>
              <a:buChar char="•"/>
            </a:pPr>
            <a:r>
              <a:rPr lang="en-US" sz="2459">
                <a:solidFill>
                  <a:srgbClr val="383838"/>
                </a:solidFill>
                <a:latin typeface="Noto Sans"/>
                <a:ea typeface="Noto Sans"/>
                <a:cs typeface="Noto Sans"/>
                <a:sym typeface="Noto Sans"/>
              </a:rPr>
              <a:t>Phù hợp với hệ thống thương mại điện tử có nhiều chức năng.</a:t>
            </a:r>
          </a:p>
          <a:p>
            <a:pPr marL="531111" lvl="1" indent="-265555" algn="just">
              <a:lnSpc>
                <a:spcPts val="3566"/>
              </a:lnSpc>
              <a:buFont typeface="Arial"/>
              <a:buChar char="•"/>
            </a:pPr>
            <a:r>
              <a:rPr lang="en-US" sz="2459">
                <a:solidFill>
                  <a:srgbClr val="383838"/>
                </a:solidFill>
                <a:latin typeface="Noto Sans"/>
                <a:ea typeface="Noto Sans"/>
                <a:cs typeface="Noto Sans"/>
                <a:sym typeface="Noto Sans"/>
              </a:rPr>
              <a:t>Dễ mở rộng theo từng nghiệp vụ.</a:t>
            </a:r>
          </a:p>
          <a:p>
            <a:pPr marL="531111" lvl="1" indent="-265555" algn="just">
              <a:lnSpc>
                <a:spcPts val="3566"/>
              </a:lnSpc>
              <a:buFont typeface="Arial"/>
              <a:buChar char="•"/>
            </a:pPr>
            <a:r>
              <a:rPr lang="en-US" sz="2459">
                <a:solidFill>
                  <a:srgbClr val="383838"/>
                </a:solidFill>
                <a:latin typeface="Noto Sans"/>
                <a:ea typeface="Noto Sans"/>
                <a:cs typeface="Noto Sans"/>
                <a:sym typeface="Noto Sans"/>
              </a:rPr>
              <a:t>Tăng khả năng bảo trì và phát triển hệ thống trong tương lai.</a:t>
            </a:r>
          </a:p>
        </p:txBody>
      </p:sp>
      <p:sp>
        <p:nvSpPr>
          <p:cNvPr id="6" name="TextBox 6"/>
          <p:cNvSpPr txBox="1"/>
          <p:nvPr/>
        </p:nvSpPr>
        <p:spPr>
          <a:xfrm>
            <a:off x="1601977" y="1009650"/>
            <a:ext cx="13660231" cy="474345"/>
          </a:xfrm>
          <a:prstGeom prst="rect">
            <a:avLst/>
          </a:prstGeom>
        </p:spPr>
        <p:txBody>
          <a:bodyPr lIns="0" tIns="0" rIns="0" bIns="0" rtlCol="0" anchor="t">
            <a:spAutoFit/>
          </a:bodyPr>
          <a:lstStyle/>
          <a:p>
            <a:pPr algn="just">
              <a:lnSpc>
                <a:spcPts val="3840"/>
              </a:lnSpc>
              <a:spcBef>
                <a:spcPct val="0"/>
              </a:spcBef>
            </a:pPr>
            <a:r>
              <a:rPr lang="en-US" sz="3000" b="1" spc="-75">
                <a:solidFill>
                  <a:srgbClr val="383838"/>
                </a:solidFill>
                <a:latin typeface="Noto Sans Bold"/>
                <a:ea typeface="Noto Sans Bold"/>
                <a:cs typeface="Noto Sans Bold"/>
                <a:sym typeface="Noto Sans Bold"/>
              </a:rPr>
              <a:t>Tại sao lại sử dụng kiến trúc microservices?</a:t>
            </a:r>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131822" y="2512901"/>
            <a:ext cx="14673135" cy="5743154"/>
          </a:xfrm>
          <a:custGeom>
            <a:avLst/>
            <a:gdLst/>
            <a:ahLst/>
            <a:cxnLst/>
            <a:rect l="l" t="t" r="r" b="b"/>
            <a:pathLst>
              <a:path w="14673135" h="5743154">
                <a:moveTo>
                  <a:pt x="0" y="0"/>
                </a:moveTo>
                <a:lnTo>
                  <a:pt x="14673135" y="0"/>
                </a:lnTo>
                <a:lnTo>
                  <a:pt x="14673135" y="5743155"/>
                </a:lnTo>
                <a:lnTo>
                  <a:pt x="0" y="5743155"/>
                </a:lnTo>
                <a:lnTo>
                  <a:pt x="0" y="0"/>
                </a:lnTo>
                <a:close/>
              </a:path>
            </a:pathLst>
          </a:custGeom>
          <a:blipFill>
            <a:blip r:embed="rId3"/>
            <a:stretch>
              <a:fillRect r="-1393"/>
            </a:stretch>
          </a:blipFill>
        </p:spPr>
        <p:txBody>
          <a:bodyPr/>
          <a:lstStyle/>
          <a:p>
            <a:endParaRPr lang="en-US"/>
          </a:p>
        </p:txBody>
      </p:sp>
      <p:sp>
        <p:nvSpPr>
          <p:cNvPr id="4" name="TextBox 4"/>
          <p:cNvSpPr txBox="1"/>
          <p:nvPr/>
        </p:nvSpPr>
        <p:spPr>
          <a:xfrm>
            <a:off x="1028700" y="990600"/>
            <a:ext cx="15648032" cy="823468"/>
          </a:xfrm>
          <a:prstGeom prst="rect">
            <a:avLst/>
          </a:prstGeom>
        </p:spPr>
        <p:txBody>
          <a:bodyPr lIns="0" tIns="0" rIns="0" bIns="0" rtlCol="0" anchor="t">
            <a:spAutoFit/>
          </a:bodyPr>
          <a:lstStyle/>
          <a:p>
            <a:pPr algn="ctr">
              <a:lnSpc>
                <a:spcPts val="6655"/>
              </a:lnSpc>
              <a:spcBef>
                <a:spcPct val="0"/>
              </a:spcBef>
            </a:pPr>
            <a:r>
              <a:rPr lang="en-US" sz="5199" b="1" spc="-129">
                <a:solidFill>
                  <a:srgbClr val="383838"/>
                </a:solidFill>
                <a:latin typeface="Noto Sans Bold"/>
                <a:ea typeface="Noto Sans Bold"/>
                <a:cs typeface="Noto Sans Bold"/>
                <a:sym typeface="Noto Sans Bold"/>
              </a:rPr>
              <a:t>CẤU TRÚC HỆ THỐNG</a:t>
            </a:r>
          </a:p>
        </p:txBody>
      </p:sp>
      <p:sp>
        <p:nvSpPr>
          <p:cNvPr id="5" name="TextBox 5"/>
          <p:cNvSpPr txBox="1"/>
          <p:nvPr/>
        </p:nvSpPr>
        <p:spPr>
          <a:xfrm>
            <a:off x="7428446" y="8654351"/>
            <a:ext cx="4793159" cy="545465"/>
          </a:xfrm>
          <a:prstGeom prst="rect">
            <a:avLst/>
          </a:prstGeom>
        </p:spPr>
        <p:txBody>
          <a:bodyPr lIns="0" tIns="0" rIns="0" bIns="0" rtlCol="0" anchor="t">
            <a:spAutoFit/>
          </a:bodyPr>
          <a:lstStyle/>
          <a:p>
            <a:pPr algn="ctr">
              <a:lnSpc>
                <a:spcPts val="4480"/>
              </a:lnSpc>
              <a:spcBef>
                <a:spcPct val="0"/>
              </a:spcBef>
            </a:pPr>
            <a:r>
              <a:rPr lang="en-US" sz="3500" i="1" spc="-87">
                <a:solidFill>
                  <a:srgbClr val="383838"/>
                </a:solidFill>
                <a:latin typeface="Noto Sans Italics"/>
                <a:ea typeface="Noto Sans Italics"/>
                <a:cs typeface="Noto Sans Italics"/>
                <a:sym typeface="Noto Sans Italics"/>
              </a:rPr>
              <a:t>Hình 7: Cấu trúc hệ thống</a:t>
            </a:r>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3418880" y="1624807"/>
            <a:ext cx="11450240" cy="7633493"/>
          </a:xfrm>
          <a:custGeom>
            <a:avLst/>
            <a:gdLst/>
            <a:ahLst/>
            <a:cxnLst/>
            <a:rect l="l" t="t" r="r" b="b"/>
            <a:pathLst>
              <a:path w="11450240" h="7633493">
                <a:moveTo>
                  <a:pt x="0" y="0"/>
                </a:moveTo>
                <a:lnTo>
                  <a:pt x="11450240" y="0"/>
                </a:lnTo>
                <a:lnTo>
                  <a:pt x="11450240" y="7633493"/>
                </a:lnTo>
                <a:lnTo>
                  <a:pt x="0" y="763349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429351" y="588428"/>
            <a:ext cx="5912205"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Triển khai hệ thống</a:t>
            </a:r>
          </a:p>
        </p:txBody>
      </p:sp>
      <p:sp>
        <p:nvSpPr>
          <p:cNvPr id="5" name="TextBox 5"/>
          <p:cNvSpPr txBox="1"/>
          <p:nvPr/>
        </p:nvSpPr>
        <p:spPr>
          <a:xfrm>
            <a:off x="7952711" y="9570466"/>
            <a:ext cx="3027759" cy="321564"/>
          </a:xfrm>
          <a:prstGeom prst="rect">
            <a:avLst/>
          </a:prstGeom>
        </p:spPr>
        <p:txBody>
          <a:bodyPr lIns="0" tIns="0" rIns="0" bIns="0" rtlCol="0" anchor="t">
            <a:spAutoFit/>
          </a:bodyPr>
          <a:lstStyle/>
          <a:p>
            <a:pPr algn="ctr">
              <a:lnSpc>
                <a:spcPts val="2688"/>
              </a:lnSpc>
              <a:spcBef>
                <a:spcPct val="0"/>
              </a:spcBef>
            </a:pPr>
            <a:r>
              <a:rPr lang="en-US" sz="2100" i="1" spc="-52">
                <a:solidFill>
                  <a:srgbClr val="383838"/>
                </a:solidFill>
                <a:latin typeface="Noto Sans Italics"/>
                <a:ea typeface="Noto Sans Italics"/>
                <a:cs typeface="Noto Sans Italics"/>
                <a:sym typeface="Noto Sans Italics"/>
              </a:rPr>
              <a:t>Hình 8: Triển khai hệ thống</a:t>
            </a:r>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352301" y="2855657"/>
            <a:ext cx="8621049" cy="5747366"/>
          </a:xfrm>
          <a:custGeom>
            <a:avLst/>
            <a:gdLst/>
            <a:ahLst/>
            <a:cxnLst/>
            <a:rect l="l" t="t" r="r" b="b"/>
            <a:pathLst>
              <a:path w="8621049" h="5747366">
                <a:moveTo>
                  <a:pt x="0" y="0"/>
                </a:moveTo>
                <a:lnTo>
                  <a:pt x="8621049" y="0"/>
                </a:lnTo>
                <a:lnTo>
                  <a:pt x="8621049" y="5747366"/>
                </a:lnTo>
                <a:lnTo>
                  <a:pt x="0" y="574736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990600"/>
            <a:ext cx="8449921" cy="823394"/>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Noto Sans Bold"/>
                <a:ea typeface="Noto Sans Bold"/>
                <a:cs typeface="Noto Sans Bold"/>
                <a:sym typeface="Noto Sans Bold"/>
              </a:rPr>
              <a:t>Công nghệ áp dụng</a:t>
            </a:r>
          </a:p>
        </p:txBody>
      </p:sp>
      <p:sp>
        <p:nvSpPr>
          <p:cNvPr id="5" name="TextBox 5"/>
          <p:cNvSpPr txBox="1"/>
          <p:nvPr/>
        </p:nvSpPr>
        <p:spPr>
          <a:xfrm>
            <a:off x="1352301" y="2086037"/>
            <a:ext cx="2956768"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cơ sở dữ liệu:</a:t>
            </a:r>
          </a:p>
        </p:txBody>
      </p:sp>
      <p:sp>
        <p:nvSpPr>
          <p:cNvPr id="6" name="TextBox 6"/>
          <p:cNvSpPr txBox="1"/>
          <p:nvPr/>
        </p:nvSpPr>
        <p:spPr>
          <a:xfrm>
            <a:off x="10993289" y="2304159"/>
            <a:ext cx="6141619" cy="6403900"/>
          </a:xfrm>
          <a:prstGeom prst="rect">
            <a:avLst/>
          </a:prstGeom>
        </p:spPr>
        <p:txBody>
          <a:bodyPr lIns="0" tIns="0" rIns="0" bIns="0" rtlCol="0" anchor="t">
            <a:spAutoFit/>
          </a:bodyPr>
          <a:lstStyle/>
          <a:p>
            <a:pPr algn="l">
              <a:lnSpc>
                <a:spcPts val="3209"/>
              </a:lnSpc>
            </a:pPr>
            <a:r>
              <a:rPr lang="en-US" sz="2507" spc="-62">
                <a:solidFill>
                  <a:srgbClr val="383838"/>
                </a:solidFill>
                <a:latin typeface="Decalotype"/>
                <a:ea typeface="Decalotype"/>
                <a:cs typeface="Decalotype"/>
                <a:sym typeface="Decalotype"/>
              </a:rPr>
              <a:t>PostgreSQL</a:t>
            </a:r>
          </a:p>
          <a:p>
            <a:pPr algn="l">
              <a:lnSpc>
                <a:spcPts val="3209"/>
              </a:lnSpc>
            </a:pPr>
            <a:r>
              <a:rPr lang="en-US" sz="2507" spc="-62">
                <a:solidFill>
                  <a:srgbClr val="383838"/>
                </a:solidFill>
                <a:latin typeface="Decalotype"/>
                <a:ea typeface="Decalotype"/>
                <a:cs typeface="Decalotype"/>
                <a:sym typeface="Decalotype"/>
              </a:rPr>
              <a:t>→ Dùng cho dữ liệu quan trọng</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Độ tin cậy cao (ACID)</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Xử lý giao dịch tốt</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Phù hợp: user, đơn hàng, thanh toán</a:t>
            </a:r>
          </a:p>
          <a:p>
            <a:pPr algn="l">
              <a:lnSpc>
                <a:spcPts val="3209"/>
              </a:lnSpc>
            </a:pPr>
            <a:r>
              <a:rPr lang="en-US" sz="2507" spc="-62">
                <a:solidFill>
                  <a:srgbClr val="383838"/>
                </a:solidFill>
                <a:latin typeface="Decalotype"/>
                <a:ea typeface="Decalotype"/>
                <a:cs typeface="Decalotype"/>
                <a:sym typeface="Decalotype"/>
              </a:rPr>
              <a:t>🔹 MongoDB</a:t>
            </a:r>
          </a:p>
          <a:p>
            <a:pPr algn="l">
              <a:lnSpc>
                <a:spcPts val="3209"/>
              </a:lnSpc>
            </a:pPr>
            <a:r>
              <a:rPr lang="en-US" sz="2507" spc="-62">
                <a:solidFill>
                  <a:srgbClr val="383838"/>
                </a:solidFill>
                <a:latin typeface="Decalotype"/>
                <a:ea typeface="Decalotype"/>
                <a:cs typeface="Decalotype"/>
                <a:sym typeface="Decalotype"/>
              </a:rPr>
              <a:t>→ Dùng cho dữ liệu linh hoạt, lớn</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Không cần schema (dễ thay đổi)</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Ghi nhanh, scale tốt</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Phù hợp: log, AI data, tracking</a:t>
            </a:r>
          </a:p>
          <a:p>
            <a:pPr algn="l">
              <a:lnSpc>
                <a:spcPts val="3209"/>
              </a:lnSpc>
            </a:pPr>
            <a:r>
              <a:rPr lang="en-US" sz="2507" spc="-62">
                <a:solidFill>
                  <a:srgbClr val="383838"/>
                </a:solidFill>
                <a:latin typeface="Decalotype"/>
                <a:ea typeface="Decalotype"/>
                <a:cs typeface="Decalotype"/>
                <a:sym typeface="Decalotype"/>
              </a:rPr>
              <a:t>🔹 MySQL</a:t>
            </a:r>
          </a:p>
          <a:p>
            <a:pPr algn="l">
              <a:lnSpc>
                <a:spcPts val="3209"/>
              </a:lnSpc>
            </a:pPr>
            <a:r>
              <a:rPr lang="en-US" sz="2507" spc="-62">
                <a:solidFill>
                  <a:srgbClr val="383838"/>
                </a:solidFill>
                <a:latin typeface="Decalotype"/>
                <a:ea typeface="Decalotype"/>
                <a:cs typeface="Decalotype"/>
                <a:sym typeface="Decalotype"/>
              </a:rPr>
              <a:t>→ Dùng cho service đọc nhiều</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Dễ dùng, nhẹ</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Tối ưu truy vấn đọc</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Phù hợp: sản phẩm, nội dung</a:t>
            </a:r>
          </a:p>
          <a:p>
            <a:pPr algn="l">
              <a:lnSpc>
                <a:spcPts val="3209"/>
              </a:lnSpc>
              <a:spcBef>
                <a:spcPct val="0"/>
              </a:spcBef>
            </a:pPr>
            <a:endParaRPr lang="en-US" sz="2507" spc="-62">
              <a:solidFill>
                <a:srgbClr val="383838"/>
              </a:solidFill>
              <a:latin typeface="Decalotype"/>
              <a:ea typeface="Decalotype"/>
              <a:cs typeface="Decalotype"/>
              <a:sym typeface="Decalotype"/>
            </a:endParaRPr>
          </a:p>
        </p:txBody>
      </p:sp>
      <p:sp>
        <p:nvSpPr>
          <p:cNvPr id="7" name="TextBox 7"/>
          <p:cNvSpPr txBox="1"/>
          <p:nvPr/>
        </p:nvSpPr>
        <p:spPr>
          <a:xfrm>
            <a:off x="4343712" y="8888773"/>
            <a:ext cx="2638227"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Hình 9: Cơ sở dữ liệu</a:t>
            </a:r>
          </a:p>
        </p:txBody>
      </p:sp>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097250" y="2341598"/>
          <a:ext cx="8707707" cy="5090055"/>
        </p:xfrm>
        <a:graphic>
          <a:graphicData uri="http://schemas.openxmlformats.org/drawingml/2006/table">
            <a:tbl>
              <a:tblPr/>
              <a:tblGrid>
                <a:gridCol w="1760193">
                  <a:extLst>
                    <a:ext uri="{9D8B030D-6E8A-4147-A177-3AD203B41FA5}">
                      <a16:colId xmlns:a16="http://schemas.microsoft.com/office/drawing/2014/main" val="20000"/>
                    </a:ext>
                  </a:extLst>
                </a:gridCol>
                <a:gridCol w="6947514">
                  <a:extLst>
                    <a:ext uri="{9D8B030D-6E8A-4147-A177-3AD203B41FA5}">
                      <a16:colId xmlns:a16="http://schemas.microsoft.com/office/drawing/2014/main" val="20001"/>
                    </a:ext>
                  </a:extLst>
                </a:gridCol>
              </a:tblGrid>
              <a:tr h="5090055">
                <a:tc>
                  <a:txBody>
                    <a:bodyPr/>
                    <a:lstStyle/>
                    <a:p>
                      <a:pPr algn="ctr">
                        <a:lnSpc>
                          <a:spcPts val="3220"/>
                        </a:lnSpc>
                        <a:defRPr/>
                      </a:pPr>
                      <a:r>
                        <a:rPr lang="en-US" sz="2300" b="1">
                          <a:solidFill>
                            <a:srgbClr val="383838"/>
                          </a:solidFill>
                          <a:latin typeface="Noto Sans Bold"/>
                          <a:ea typeface="Noto Sans Bold"/>
                          <a:cs typeface="Noto Sans Bold"/>
                          <a:sym typeface="Noto Sans Bold"/>
                        </a:rPr>
                        <a:t>Front-end</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tc>
                  <a:txBody>
                    <a:bodyPr/>
                    <a:lstStyle/>
                    <a:p>
                      <a:pPr marL="539749" lvl="1" indent="-269875" algn="just">
                        <a:lnSpc>
                          <a:spcPts val="3499"/>
                        </a:lnSpc>
                        <a:buFont typeface="Arial"/>
                        <a:buChar char="•"/>
                        <a:defRPr/>
                      </a:pPr>
                      <a:r>
                        <a:rPr lang="en-US" sz="2499">
                          <a:solidFill>
                            <a:srgbClr val="383838"/>
                          </a:solidFill>
                          <a:latin typeface="Noto Sans"/>
                          <a:ea typeface="Noto Sans"/>
                          <a:cs typeface="Noto Sans"/>
                          <a:sym typeface="Noto Sans"/>
                        </a:rPr>
                        <a:t>Sử dụng Next.js để xây dựng frontend (hỗ trợ SSR, tối ưu hiệu năng)</a:t>
                      </a:r>
                      <a:endParaRPr lang="en-US" sz="1100"/>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Áp dụng React (component-based) → dễ tái sử dụng &amp; bảo trì</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Dùng TypeScript → kiểm soát kiểu dữ liệu, giảm lỗi</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Thiết kế UI bằng Tailwind CSS → phát triển nhanh</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Kết hợp Ant Design → cung cấp sẵn các component giao diện</a:t>
                      </a:r>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031186" y="2326590"/>
            <a:ext cx="6588763" cy="5105063"/>
          </a:xfrm>
          <a:custGeom>
            <a:avLst/>
            <a:gdLst/>
            <a:ahLst/>
            <a:cxnLst/>
            <a:rect l="l" t="t" r="r" b="b"/>
            <a:pathLst>
              <a:path w="6588763" h="5105063">
                <a:moveTo>
                  <a:pt x="0" y="0"/>
                </a:moveTo>
                <a:lnTo>
                  <a:pt x="6588762" y="0"/>
                </a:lnTo>
                <a:lnTo>
                  <a:pt x="6588762" y="5105063"/>
                </a:lnTo>
                <a:lnTo>
                  <a:pt x="0" y="5105063"/>
                </a:lnTo>
                <a:lnTo>
                  <a:pt x="0" y="0"/>
                </a:lnTo>
                <a:close/>
              </a:path>
            </a:pathLst>
          </a:custGeom>
          <a:blipFill>
            <a:blip r:embed="rId3"/>
            <a:stretch>
              <a:fillRect l="-428"/>
            </a:stretch>
          </a:blipFill>
        </p:spPr>
        <p:txBody>
          <a:bodyPr/>
          <a:lstStyle/>
          <a:p>
            <a:endParaRPr lang="en-US"/>
          </a:p>
        </p:txBody>
      </p:sp>
      <p:sp>
        <p:nvSpPr>
          <p:cNvPr id="5" name="TextBox 5"/>
          <p:cNvSpPr txBox="1"/>
          <p:nvPr/>
        </p:nvSpPr>
        <p:spPr>
          <a:xfrm>
            <a:off x="-3174794" y="7936478"/>
            <a:ext cx="15000722"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Hình 10: Công nghệ Next.js cho front - end</a:t>
            </a:r>
          </a:p>
        </p:txBody>
      </p:sp>
      <p:sp>
        <p:nvSpPr>
          <p:cNvPr id="6" name="TextBox 6"/>
          <p:cNvSpPr txBox="1"/>
          <p:nvPr/>
        </p:nvSpPr>
        <p:spPr>
          <a:xfrm>
            <a:off x="419361" y="242458"/>
            <a:ext cx="8449921" cy="823394"/>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Noto Sans Bold"/>
                <a:ea typeface="Noto Sans Bold"/>
                <a:cs typeface="Noto Sans Bold"/>
                <a:sym typeface="Noto Sans Bold"/>
              </a:rPr>
              <a:t>Công nghệ áp dụng</a:t>
            </a:r>
          </a:p>
        </p:txBody>
      </p:sp>
      <p:sp>
        <p:nvSpPr>
          <p:cNvPr id="7" name="TextBox 7"/>
          <p:cNvSpPr txBox="1"/>
          <p:nvPr/>
        </p:nvSpPr>
        <p:spPr>
          <a:xfrm>
            <a:off x="999319" y="1337895"/>
            <a:ext cx="2444055"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front - end</a:t>
            </a:r>
          </a:p>
        </p:txBody>
      </p:sp>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445811" y="2581275"/>
          <a:ext cx="8183916" cy="5124450"/>
        </p:xfrm>
        <a:graphic>
          <a:graphicData uri="http://schemas.openxmlformats.org/drawingml/2006/table">
            <a:tbl>
              <a:tblPr/>
              <a:tblGrid>
                <a:gridCol w="1760317">
                  <a:extLst>
                    <a:ext uri="{9D8B030D-6E8A-4147-A177-3AD203B41FA5}">
                      <a16:colId xmlns:a16="http://schemas.microsoft.com/office/drawing/2014/main" val="20000"/>
                    </a:ext>
                  </a:extLst>
                </a:gridCol>
                <a:gridCol w="6423600">
                  <a:extLst>
                    <a:ext uri="{9D8B030D-6E8A-4147-A177-3AD203B41FA5}">
                      <a16:colId xmlns:a16="http://schemas.microsoft.com/office/drawing/2014/main" val="20001"/>
                    </a:ext>
                  </a:extLst>
                </a:gridCol>
              </a:tblGrid>
              <a:tr h="5124450">
                <a:tc>
                  <a:txBody>
                    <a:bodyPr/>
                    <a:lstStyle/>
                    <a:p>
                      <a:pPr algn="ctr">
                        <a:lnSpc>
                          <a:spcPts val="3220"/>
                        </a:lnSpc>
                        <a:defRPr/>
                      </a:pPr>
                      <a:r>
                        <a:rPr lang="en-US" sz="2300" b="1">
                          <a:solidFill>
                            <a:srgbClr val="383838"/>
                          </a:solidFill>
                          <a:latin typeface="Noto Sans Bold"/>
                          <a:ea typeface="Noto Sans Bold"/>
                          <a:cs typeface="Noto Sans Bold"/>
                          <a:sym typeface="Noto Sans Bold"/>
                        </a:rPr>
                        <a:t>Back-end</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tc>
                  <a:txBody>
                    <a:bodyPr/>
                    <a:lstStyle/>
                    <a:p>
                      <a:pPr marL="539749" lvl="1" indent="-269875" algn="just">
                        <a:lnSpc>
                          <a:spcPts val="3499"/>
                        </a:lnSpc>
                        <a:buFont typeface="Arial"/>
                        <a:buChar char="•"/>
                        <a:defRPr/>
                      </a:pPr>
                      <a:r>
                        <a:rPr lang="en-US" sz="2499">
                          <a:solidFill>
                            <a:srgbClr val="383838"/>
                          </a:solidFill>
                          <a:latin typeface="Noto Sans"/>
                          <a:ea typeface="Noto Sans"/>
                          <a:cs typeface="Noto Sans"/>
                          <a:sym typeface="Noto Sans"/>
                        </a:rPr>
                        <a:t>Backend sử dụng Node.js + NestJS (TypeScript)</a:t>
                      </a:r>
                      <a:endParaRPr lang="en-US" sz="1100"/>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Áp dụng kiến trúc Module - Controller - Service → dễ quản lý &amp; mở rộng</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Hỗ trợ nhiều mô hình: REST API, GraphQL, WebSocket, Microservices</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Hệ thống chia thành các microservice (product, user, auth, cart, order, payment, inventory)</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Các service độc lập → dễ bảo trì &amp; mở rộng từng phần</a:t>
                      </a:r>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p:cNvSpPr/>
          <p:nvPr/>
        </p:nvSpPr>
        <p:spPr>
          <a:xfrm>
            <a:off x="560299" y="2581275"/>
            <a:ext cx="7321340" cy="5124450"/>
          </a:xfrm>
          <a:custGeom>
            <a:avLst/>
            <a:gdLst/>
            <a:ahLst/>
            <a:cxnLst/>
            <a:rect l="l" t="t" r="r" b="b"/>
            <a:pathLst>
              <a:path w="7321340" h="5124450">
                <a:moveTo>
                  <a:pt x="0" y="0"/>
                </a:moveTo>
                <a:lnTo>
                  <a:pt x="7321340" y="0"/>
                </a:lnTo>
                <a:lnTo>
                  <a:pt x="7321340" y="5124450"/>
                </a:lnTo>
                <a:lnTo>
                  <a:pt x="0" y="5124450"/>
                </a:lnTo>
                <a:lnTo>
                  <a:pt x="0" y="0"/>
                </a:lnTo>
                <a:close/>
              </a:path>
            </a:pathLst>
          </a:custGeom>
          <a:blipFill>
            <a:blip r:embed="rId2"/>
            <a:stretch>
              <a:fillRect l="-3801" r="-3428"/>
            </a:stretch>
          </a:blipFill>
        </p:spPr>
        <p:txBody>
          <a:bodyPr/>
          <a:lstStyle/>
          <a:p>
            <a:endParaRPr lang="en-US"/>
          </a:p>
        </p:txBody>
      </p:sp>
      <p:sp>
        <p:nvSpPr>
          <p:cNvPr id="4" name="TextBox 4"/>
          <p:cNvSpPr txBox="1"/>
          <p:nvPr/>
        </p:nvSpPr>
        <p:spPr>
          <a:xfrm>
            <a:off x="560299" y="526266"/>
            <a:ext cx="7885513" cy="823394"/>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Noto Sans Bold"/>
                <a:ea typeface="Noto Sans Bold"/>
                <a:cs typeface="Noto Sans Bold"/>
                <a:sym typeface="Noto Sans Bold"/>
              </a:rPr>
              <a:t>Công nghệ áp dụng</a:t>
            </a:r>
          </a:p>
        </p:txBody>
      </p:sp>
      <p:sp>
        <p:nvSpPr>
          <p:cNvPr id="5" name="TextBox 5"/>
          <p:cNvSpPr txBox="1"/>
          <p:nvPr/>
        </p:nvSpPr>
        <p:spPr>
          <a:xfrm>
            <a:off x="1808720" y="8176734"/>
            <a:ext cx="5388670"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Hình 11: Công nghệ Nest.js cho back - end</a:t>
            </a:r>
          </a:p>
        </p:txBody>
      </p:sp>
      <p:sp>
        <p:nvSpPr>
          <p:cNvPr id="6" name="TextBox 6"/>
          <p:cNvSpPr txBox="1"/>
          <p:nvPr/>
        </p:nvSpPr>
        <p:spPr>
          <a:xfrm>
            <a:off x="1011783" y="1630680"/>
            <a:ext cx="2477889"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back  - end</a:t>
            </a:r>
          </a:p>
        </p:txBody>
      </p:sp>
    </p:spTree>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2051888"/>
          <a:ext cx="7888765" cy="7753350"/>
        </p:xfrm>
        <a:graphic>
          <a:graphicData uri="http://schemas.openxmlformats.org/drawingml/2006/table">
            <a:tbl>
              <a:tblPr/>
              <a:tblGrid>
                <a:gridCol w="1760393">
                  <a:extLst>
                    <a:ext uri="{9D8B030D-6E8A-4147-A177-3AD203B41FA5}">
                      <a16:colId xmlns:a16="http://schemas.microsoft.com/office/drawing/2014/main" val="20000"/>
                    </a:ext>
                  </a:extLst>
                </a:gridCol>
                <a:gridCol w="6128371">
                  <a:extLst>
                    <a:ext uri="{9D8B030D-6E8A-4147-A177-3AD203B41FA5}">
                      <a16:colId xmlns:a16="http://schemas.microsoft.com/office/drawing/2014/main" val="20001"/>
                    </a:ext>
                  </a:extLst>
                </a:gridCol>
              </a:tblGrid>
              <a:tr h="7753350">
                <a:tc>
                  <a:txBody>
                    <a:bodyPr/>
                    <a:lstStyle/>
                    <a:p>
                      <a:pPr algn="ctr">
                        <a:lnSpc>
                          <a:spcPts val="3220"/>
                        </a:lnSpc>
                        <a:defRPr/>
                      </a:pPr>
                      <a:r>
                        <a:rPr lang="en-US" sz="2300" b="1">
                          <a:solidFill>
                            <a:srgbClr val="383838"/>
                          </a:solidFill>
                          <a:latin typeface="Noto Sans Bold"/>
                          <a:ea typeface="Noto Sans Bold"/>
                          <a:cs typeface="Noto Sans Bold"/>
                          <a:sym typeface="Noto Sans Bold"/>
                        </a:rPr>
                        <a:t>CI/CD</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tc>
                  <a:txBody>
                    <a:bodyPr/>
                    <a:lstStyle/>
                    <a:p>
                      <a:pPr algn="just">
                        <a:lnSpc>
                          <a:spcPts val="3499"/>
                        </a:lnSpc>
                        <a:defRPr/>
                      </a:pPr>
                      <a:r>
                        <a:rPr lang="en-US" sz="2499">
                          <a:solidFill>
                            <a:srgbClr val="383838"/>
                          </a:solidFill>
                          <a:latin typeface="Noto Sans"/>
                          <a:ea typeface="Noto Sans"/>
                          <a:cs typeface="Noto Sans"/>
                          <a:sym typeface="Noto Sans"/>
                        </a:rPr>
                        <a:t>Sử dụng Postman cho CI/CD. </a:t>
                      </a:r>
                      <a:endParaRPr lang="en-US" sz="1100"/>
                    </a:p>
                    <a:p>
                      <a:pPr algn="just">
                        <a:lnSpc>
                          <a:spcPts val="3499"/>
                        </a:lnSpc>
                      </a:pPr>
                      <a:r>
                        <a:rPr lang="en-US" sz="2499">
                          <a:solidFill>
                            <a:srgbClr val="383838"/>
                          </a:solidFill>
                          <a:latin typeface="Noto Sans"/>
                          <a:ea typeface="Noto Sans"/>
                          <a:cs typeface="Noto Sans"/>
                          <a:sym typeface="Noto Sans"/>
                        </a:rPr>
                        <a:t>Vai trò của Postman:</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Kiểm tra độc lập các API (GET, POST, PUT, DELETE) trước khi tích hợp front-end.</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Lưu trữ và quản lý các endpoint dễ dàng qua Collection.</a:t>
                      </a:r>
                    </a:p>
                    <a:p>
                      <a:pPr algn="just">
                        <a:lnSpc>
                          <a:spcPts val="3499"/>
                        </a:lnSpc>
                      </a:pPr>
                      <a:r>
                        <a:rPr lang="en-US" sz="2499">
                          <a:solidFill>
                            <a:srgbClr val="383838"/>
                          </a:solidFill>
                          <a:latin typeface="Noto Sans"/>
                          <a:ea typeface="Noto Sans"/>
                          <a:cs typeface="Noto Sans"/>
                          <a:sym typeface="Noto Sans"/>
                        </a:rPr>
                        <a:t>Tính năng nổi bật:</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Test Scripts: Hỗ trợ viết kịch bản kiểm thử tự động.</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Quản lý môi trường: Chuyển đổi linh hoạt giữa các môi trường (Local, Dev, Prod...).</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Collection Runner: Chạy kiểm thử hàng loạt API cùng lúc.</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Dữ liệu động: Nhập dữ liệu test từ file ngoại vi (CSV, JSON).</a:t>
                      </a:r>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9795761" y="2333091"/>
            <a:ext cx="6599322" cy="6603518"/>
          </a:xfrm>
          <a:custGeom>
            <a:avLst/>
            <a:gdLst/>
            <a:ahLst/>
            <a:cxnLst/>
            <a:rect l="l" t="t" r="r" b="b"/>
            <a:pathLst>
              <a:path w="6599322" h="6603518">
                <a:moveTo>
                  <a:pt x="0" y="0"/>
                </a:moveTo>
                <a:lnTo>
                  <a:pt x="6599322" y="0"/>
                </a:lnTo>
                <a:lnTo>
                  <a:pt x="6599322" y="6603518"/>
                </a:lnTo>
                <a:lnTo>
                  <a:pt x="0" y="6603518"/>
                </a:lnTo>
                <a:lnTo>
                  <a:pt x="0" y="0"/>
                </a:lnTo>
                <a:close/>
              </a:path>
            </a:pathLst>
          </a:custGeom>
          <a:blipFill>
            <a:blip r:embed="rId3"/>
            <a:stretch>
              <a:fillRect l="-8104" r="-8104"/>
            </a:stretch>
          </a:blipFill>
        </p:spPr>
        <p:txBody>
          <a:bodyPr/>
          <a:lstStyle/>
          <a:p>
            <a:endParaRPr lang="en-US"/>
          </a:p>
        </p:txBody>
      </p:sp>
      <p:sp>
        <p:nvSpPr>
          <p:cNvPr id="5" name="TextBox 5"/>
          <p:cNvSpPr txBox="1"/>
          <p:nvPr/>
        </p:nvSpPr>
        <p:spPr>
          <a:xfrm>
            <a:off x="706109" y="222250"/>
            <a:ext cx="7479117" cy="806450"/>
          </a:xfrm>
          <a:prstGeom prst="rect">
            <a:avLst/>
          </a:prstGeom>
        </p:spPr>
        <p:txBody>
          <a:bodyPr lIns="0" tIns="0" rIns="0" bIns="0" rtlCol="0" anchor="t">
            <a:spAutoFit/>
          </a:bodyPr>
          <a:lstStyle/>
          <a:p>
            <a:pPr algn="l">
              <a:lnSpc>
                <a:spcPts val="6400"/>
              </a:lnSpc>
              <a:spcBef>
                <a:spcPct val="0"/>
              </a:spcBef>
            </a:pPr>
            <a:r>
              <a:rPr lang="en-US" sz="5000" b="1" spc="-125">
                <a:solidFill>
                  <a:srgbClr val="383838"/>
                </a:solidFill>
                <a:latin typeface="Noto Sans Bold"/>
                <a:ea typeface="Noto Sans Bold"/>
                <a:cs typeface="Noto Sans Bold"/>
                <a:sym typeface="Noto Sans Bold"/>
              </a:rPr>
              <a:t>Công nghệ áp dụng</a:t>
            </a:r>
          </a:p>
        </p:txBody>
      </p:sp>
      <p:sp>
        <p:nvSpPr>
          <p:cNvPr id="6" name="TextBox 6"/>
          <p:cNvSpPr txBox="1"/>
          <p:nvPr/>
        </p:nvSpPr>
        <p:spPr>
          <a:xfrm>
            <a:off x="11258853" y="9258427"/>
            <a:ext cx="4449862" cy="321564"/>
          </a:xfrm>
          <a:prstGeom prst="rect">
            <a:avLst/>
          </a:prstGeom>
        </p:spPr>
        <p:txBody>
          <a:bodyPr lIns="0" tIns="0" rIns="0" bIns="0" rtlCol="0" anchor="t">
            <a:spAutoFit/>
          </a:bodyPr>
          <a:lstStyle/>
          <a:p>
            <a:pPr algn="ctr">
              <a:lnSpc>
                <a:spcPts val="2687"/>
              </a:lnSpc>
              <a:spcBef>
                <a:spcPct val="0"/>
              </a:spcBef>
            </a:pPr>
            <a:r>
              <a:rPr lang="en-US" sz="2099" i="1" spc="-52">
                <a:solidFill>
                  <a:srgbClr val="383838"/>
                </a:solidFill>
                <a:latin typeface="Noto Sans Italics"/>
                <a:ea typeface="Noto Sans Italics"/>
                <a:cs typeface="Noto Sans Italics"/>
                <a:sym typeface="Noto Sans Italics"/>
              </a:rPr>
              <a:t>Hình 12: Công nghệ Postman cho CI/CD</a:t>
            </a:r>
          </a:p>
        </p:txBody>
      </p:sp>
      <p:sp>
        <p:nvSpPr>
          <p:cNvPr id="7" name="TextBox 7"/>
          <p:cNvSpPr txBox="1"/>
          <p:nvPr/>
        </p:nvSpPr>
        <p:spPr>
          <a:xfrm>
            <a:off x="1483271" y="1293597"/>
            <a:ext cx="1568748"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CI/CD</a:t>
            </a:r>
          </a:p>
        </p:txBody>
      </p:sp>
    </p:spTree>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2392934"/>
          <a:ext cx="8718420" cy="6877050"/>
        </p:xfrm>
        <a:graphic>
          <a:graphicData uri="http://schemas.openxmlformats.org/drawingml/2006/table">
            <a:tbl>
              <a:tblPr/>
              <a:tblGrid>
                <a:gridCol w="1835442">
                  <a:extLst>
                    <a:ext uri="{9D8B030D-6E8A-4147-A177-3AD203B41FA5}">
                      <a16:colId xmlns:a16="http://schemas.microsoft.com/office/drawing/2014/main" val="20000"/>
                    </a:ext>
                  </a:extLst>
                </a:gridCol>
                <a:gridCol w="6882978">
                  <a:extLst>
                    <a:ext uri="{9D8B030D-6E8A-4147-A177-3AD203B41FA5}">
                      <a16:colId xmlns:a16="http://schemas.microsoft.com/office/drawing/2014/main" val="20001"/>
                    </a:ext>
                  </a:extLst>
                </a:gridCol>
              </a:tblGrid>
              <a:tr h="6877050">
                <a:tc>
                  <a:txBody>
                    <a:bodyPr/>
                    <a:lstStyle/>
                    <a:p>
                      <a:pPr algn="l">
                        <a:lnSpc>
                          <a:spcPts val="3220"/>
                        </a:lnSpc>
                        <a:defRPr/>
                      </a:pPr>
                      <a:r>
                        <a:rPr lang="en-US" sz="2300" b="1">
                          <a:solidFill>
                            <a:srgbClr val="383838"/>
                          </a:solidFill>
                          <a:latin typeface="Noto Sans Bold"/>
                          <a:ea typeface="Noto Sans Bold"/>
                          <a:cs typeface="Noto Sans Bold"/>
                          <a:sym typeface="Noto Sans Bold"/>
                        </a:rPr>
                        <a:t>Cloudinary</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tc>
                  <a:txBody>
                    <a:bodyPr/>
                    <a:lstStyle/>
                    <a:p>
                      <a:pPr algn="just">
                        <a:lnSpc>
                          <a:spcPts val="3499"/>
                        </a:lnSpc>
                        <a:defRPr/>
                      </a:pPr>
                      <a:r>
                        <a:rPr lang="en-US" sz="2499">
                          <a:solidFill>
                            <a:srgbClr val="383838"/>
                          </a:solidFill>
                          <a:latin typeface="Noto Sans"/>
                          <a:ea typeface="Noto Sans"/>
                          <a:cs typeface="Noto Sans"/>
                          <a:sym typeface="Noto Sans"/>
                        </a:rPr>
                        <a:t>Tính năng chính:</a:t>
                      </a:r>
                      <a:endParaRPr lang="en-US" sz="1100"/>
                    </a:p>
                    <a:p>
                      <a:pPr marL="539745" lvl="1" indent="-269872" algn="just">
                        <a:lnSpc>
                          <a:spcPts val="3499"/>
                        </a:lnSpc>
                        <a:buFont typeface="Arial"/>
                        <a:buChar char="•"/>
                      </a:pPr>
                      <a:r>
                        <a:rPr lang="en-US" sz="2499">
                          <a:solidFill>
                            <a:srgbClr val="383838"/>
                          </a:solidFill>
                          <a:latin typeface="Noto Sans"/>
                          <a:ea typeface="Noto Sans"/>
                          <a:cs typeface="Noto Sans"/>
                          <a:sym typeface="Noto Sans"/>
                        </a:rPr>
                        <a:t>Lưu trữ an toàn, quản lý tập trung</a:t>
                      </a:r>
                    </a:p>
                    <a:p>
                      <a:pPr marL="539745" lvl="1" indent="-269872" algn="just">
                        <a:lnSpc>
                          <a:spcPts val="3499"/>
                        </a:lnSpc>
                        <a:buFont typeface="Arial"/>
                        <a:buChar char="•"/>
                      </a:pPr>
                      <a:r>
                        <a:rPr lang="en-US" sz="2499">
                          <a:solidFill>
                            <a:srgbClr val="383838"/>
                          </a:solidFill>
                          <a:latin typeface="Noto Sans"/>
                          <a:ea typeface="Noto Sans"/>
                          <a:cs typeface="Noto Sans"/>
                          <a:sym typeface="Noto Sans"/>
                        </a:rPr>
                        <a:t>Xử lý ảnh/video động qua URL (resize, crop, watermark...)</a:t>
                      </a:r>
                    </a:p>
                    <a:p>
                      <a:pPr marL="539745" lvl="1" indent="-269872" algn="just">
                        <a:lnSpc>
                          <a:spcPts val="3499"/>
                        </a:lnSpc>
                        <a:buFont typeface="Arial"/>
                        <a:buChar char="•"/>
                      </a:pPr>
                      <a:r>
                        <a:rPr lang="en-US" sz="2499">
                          <a:solidFill>
                            <a:srgbClr val="383838"/>
                          </a:solidFill>
                          <a:latin typeface="Noto Sans"/>
                          <a:ea typeface="Noto Sans"/>
                          <a:cs typeface="Noto Sans"/>
                          <a:sym typeface="Noto Sans"/>
                        </a:rPr>
                        <a:t>Tối ưu dung lượng, tăng tốc tải trang</a:t>
                      </a:r>
                    </a:p>
                    <a:p>
                      <a:pPr marL="539745" lvl="1" indent="-269872" algn="just">
                        <a:lnSpc>
                          <a:spcPts val="3499"/>
                        </a:lnSpc>
                        <a:buFont typeface="Arial"/>
                        <a:buChar char="•"/>
                      </a:pPr>
                      <a:r>
                        <a:rPr lang="en-US" sz="2499">
                          <a:solidFill>
                            <a:srgbClr val="383838"/>
                          </a:solidFill>
                          <a:latin typeface="Noto Sans"/>
                          <a:ea typeface="Noto Sans"/>
                          <a:cs typeface="Noto Sans"/>
                          <a:sym typeface="Noto Sans"/>
                        </a:rPr>
                        <a:t>Tích hợp CDN giúp truy cập nhanh toàn cầu</a:t>
                      </a:r>
                    </a:p>
                    <a:p>
                      <a:pPr algn="just">
                        <a:lnSpc>
                          <a:spcPts val="3499"/>
                        </a:lnSpc>
                      </a:pPr>
                      <a:r>
                        <a:rPr lang="en-US" sz="2499">
                          <a:solidFill>
                            <a:srgbClr val="383838"/>
                          </a:solidFill>
                          <a:latin typeface="Noto Sans"/>
                          <a:ea typeface="Noto Sans"/>
                          <a:cs typeface="Noto Sans"/>
                          <a:sym typeface="Noto Sans"/>
                        </a:rPr>
                        <a:t>Ưu điểm:</a:t>
                      </a:r>
                    </a:p>
                    <a:p>
                      <a:pPr marL="539745" lvl="1" indent="-269872" algn="just">
                        <a:lnSpc>
                          <a:spcPts val="3499"/>
                        </a:lnSpc>
                        <a:buFont typeface="Arial"/>
                        <a:buChar char="•"/>
                      </a:pPr>
                      <a:r>
                        <a:rPr lang="en-US" sz="2499">
                          <a:solidFill>
                            <a:srgbClr val="383838"/>
                          </a:solidFill>
                          <a:latin typeface="Noto Sans"/>
                          <a:ea typeface="Noto Sans"/>
                          <a:cs typeface="Noto Sans"/>
                          <a:sym typeface="Noto Sans"/>
                        </a:rPr>
                        <a:t>Giảm tải cho server (không cần xử lý/lưu file)</a:t>
                      </a:r>
                    </a:p>
                    <a:p>
                      <a:pPr marL="539745" lvl="1" indent="-269872" algn="just">
                        <a:lnSpc>
                          <a:spcPts val="3499"/>
                        </a:lnSpc>
                        <a:buFont typeface="Arial"/>
                        <a:buChar char="•"/>
                      </a:pPr>
                      <a:r>
                        <a:rPr lang="en-US" sz="2499">
                          <a:solidFill>
                            <a:srgbClr val="383838"/>
                          </a:solidFill>
                          <a:latin typeface="Noto Sans"/>
                          <a:ea typeface="Noto Sans"/>
                          <a:cs typeface="Noto Sans"/>
                          <a:sym typeface="Noto Sans"/>
                        </a:rPr>
                        <a:t>Dễ tích hợp với nhiều ngôn ngữ</a:t>
                      </a:r>
                    </a:p>
                    <a:p>
                      <a:pPr marL="539745" lvl="1" indent="-269872" algn="just">
                        <a:lnSpc>
                          <a:spcPts val="3499"/>
                        </a:lnSpc>
                        <a:buFont typeface="Arial"/>
                        <a:buChar char="•"/>
                      </a:pPr>
                      <a:r>
                        <a:rPr lang="en-US" sz="2499">
                          <a:solidFill>
                            <a:srgbClr val="383838"/>
                          </a:solidFill>
                          <a:latin typeface="Noto Sans"/>
                          <a:ea typeface="Noto Sans"/>
                          <a:cs typeface="Noto Sans"/>
                          <a:sym typeface="Noto Sans"/>
                        </a:rPr>
                        <a:t>Có hỗ trợ AI (nhận diện, cắt ảnh, gắn tag...)</a:t>
                      </a:r>
                    </a:p>
                    <a:p>
                      <a:pPr marL="539745" lvl="1" indent="-269872" algn="just">
                        <a:lnSpc>
                          <a:spcPts val="3499"/>
                        </a:lnSpc>
                        <a:buFont typeface="Arial"/>
                        <a:buChar char="•"/>
                      </a:pPr>
                      <a:r>
                        <a:rPr lang="en-US" sz="2499">
                          <a:solidFill>
                            <a:srgbClr val="383838"/>
                          </a:solidFill>
                          <a:latin typeface="Noto Sans"/>
                          <a:ea typeface="Noto Sans"/>
                          <a:cs typeface="Noto Sans"/>
                          <a:sym typeface="Noto Sans"/>
                        </a:rPr>
                        <a:t>Phù hợp kiến trúc Docker, Microservices (nhẹ, dễ scale)</a:t>
                      </a:r>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0272807" y="2589063"/>
            <a:ext cx="6986493" cy="5108873"/>
          </a:xfrm>
          <a:custGeom>
            <a:avLst/>
            <a:gdLst/>
            <a:ahLst/>
            <a:cxnLst/>
            <a:rect l="l" t="t" r="r" b="b"/>
            <a:pathLst>
              <a:path w="6986493" h="5108873">
                <a:moveTo>
                  <a:pt x="0" y="0"/>
                </a:moveTo>
                <a:lnTo>
                  <a:pt x="6986493" y="0"/>
                </a:lnTo>
                <a:lnTo>
                  <a:pt x="6986493" y="5108874"/>
                </a:lnTo>
                <a:lnTo>
                  <a:pt x="0" y="5108874"/>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565907" y="222325"/>
            <a:ext cx="8115300" cy="806375"/>
          </a:xfrm>
          <a:prstGeom prst="rect">
            <a:avLst/>
          </a:prstGeom>
        </p:spPr>
        <p:txBody>
          <a:bodyPr lIns="0" tIns="0" rIns="0" bIns="0" rtlCol="0" anchor="t">
            <a:spAutoFit/>
          </a:bodyPr>
          <a:lstStyle/>
          <a:p>
            <a:pPr algn="l">
              <a:lnSpc>
                <a:spcPts val="6409"/>
              </a:lnSpc>
              <a:spcBef>
                <a:spcPct val="0"/>
              </a:spcBef>
            </a:pPr>
            <a:r>
              <a:rPr lang="en-US" sz="5007" b="1" spc="-125">
                <a:solidFill>
                  <a:srgbClr val="383838"/>
                </a:solidFill>
                <a:latin typeface="Noto Sans Bold"/>
                <a:ea typeface="Noto Sans Bold"/>
                <a:cs typeface="Noto Sans Bold"/>
                <a:sym typeface="Noto Sans Bold"/>
              </a:rPr>
              <a:t>Công nghệ áp dụng</a:t>
            </a:r>
          </a:p>
        </p:txBody>
      </p:sp>
      <p:sp>
        <p:nvSpPr>
          <p:cNvPr id="6" name="TextBox 6"/>
          <p:cNvSpPr txBox="1"/>
          <p:nvPr/>
        </p:nvSpPr>
        <p:spPr>
          <a:xfrm>
            <a:off x="10470255" y="8129440"/>
            <a:ext cx="6591598" cy="366141"/>
          </a:xfrm>
          <a:prstGeom prst="rect">
            <a:avLst/>
          </a:prstGeom>
        </p:spPr>
        <p:txBody>
          <a:bodyPr lIns="0" tIns="0" rIns="0" bIns="0" rtlCol="0" anchor="t">
            <a:spAutoFit/>
          </a:bodyPr>
          <a:lstStyle/>
          <a:p>
            <a:pPr algn="ctr">
              <a:lnSpc>
                <a:spcPts val="3072"/>
              </a:lnSpc>
              <a:spcBef>
                <a:spcPct val="0"/>
              </a:spcBef>
            </a:pPr>
            <a:r>
              <a:rPr lang="en-US" sz="2400" i="1" spc="-60">
                <a:solidFill>
                  <a:srgbClr val="383838"/>
                </a:solidFill>
                <a:latin typeface="Noto Sans Italics"/>
                <a:ea typeface="Noto Sans Italics"/>
                <a:cs typeface="Noto Sans Italics"/>
                <a:sym typeface="Noto Sans Italics"/>
              </a:rPr>
              <a:t>Hình 13: Cloudinary cho việc lưu trữ hình ảnh/video</a:t>
            </a:r>
          </a:p>
        </p:txBody>
      </p:sp>
      <p:sp>
        <p:nvSpPr>
          <p:cNvPr id="7" name="TextBox 7"/>
          <p:cNvSpPr txBox="1"/>
          <p:nvPr/>
        </p:nvSpPr>
        <p:spPr>
          <a:xfrm>
            <a:off x="1028700" y="1389025"/>
            <a:ext cx="7189714"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việc lưu trữ hình ảnh/video</a:t>
            </a:r>
          </a:p>
        </p:txBody>
      </p:sp>
    </p:spTree>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599399" y="6866949"/>
            <a:ext cx="659901" cy="643383"/>
          </a:xfrm>
          <a:custGeom>
            <a:avLst/>
            <a:gdLst/>
            <a:ahLst/>
            <a:cxnLst/>
            <a:rect l="l" t="t" r="r" b="b"/>
            <a:pathLst>
              <a:path w="659901" h="643383">
                <a:moveTo>
                  <a:pt x="0" y="0"/>
                </a:moveTo>
                <a:lnTo>
                  <a:pt x="659901" y="0"/>
                </a:lnTo>
                <a:lnTo>
                  <a:pt x="659901" y="643383"/>
                </a:lnTo>
                <a:lnTo>
                  <a:pt x="0" y="6433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0" y="981075"/>
            <a:ext cx="11360409" cy="832919"/>
          </a:xfrm>
          <a:prstGeom prst="rect">
            <a:avLst/>
          </a:prstGeom>
        </p:spPr>
        <p:txBody>
          <a:bodyPr lIns="0" tIns="0" rIns="0" bIns="0" rtlCol="0" anchor="t">
            <a:spAutoFit/>
          </a:bodyPr>
          <a:lstStyle/>
          <a:p>
            <a:pPr algn="ctr">
              <a:lnSpc>
                <a:spcPts val="6665"/>
              </a:lnSpc>
              <a:spcBef>
                <a:spcPct val="0"/>
              </a:spcBef>
            </a:pPr>
            <a:r>
              <a:rPr lang="en-US" sz="5207" b="1" spc="-130">
                <a:solidFill>
                  <a:srgbClr val="383838"/>
                </a:solidFill>
                <a:latin typeface="Decalotype Bold"/>
                <a:ea typeface="Decalotype Bold"/>
                <a:cs typeface="Decalotype Bold"/>
                <a:sym typeface="Decalotype Bold"/>
              </a:rPr>
              <a:t>Kiến trúc Nodejs và Micro-service</a:t>
            </a:r>
          </a:p>
        </p:txBody>
      </p:sp>
      <p:sp>
        <p:nvSpPr>
          <p:cNvPr id="4" name="AutoShape 4"/>
          <p:cNvSpPr/>
          <p:nvPr/>
        </p:nvSpPr>
        <p:spPr>
          <a:xfrm flipV="1">
            <a:off x="900314" y="2925254"/>
            <a:ext cx="15851548" cy="0"/>
          </a:xfrm>
          <a:prstGeom prst="line">
            <a:avLst/>
          </a:prstGeom>
          <a:ln w="9525" cap="flat">
            <a:solidFill>
              <a:srgbClr val="737373"/>
            </a:solidFill>
            <a:prstDash val="solid"/>
            <a:headEnd type="none" w="sm" len="sm"/>
            <a:tailEnd type="none" w="sm" len="sm"/>
          </a:ln>
        </p:spPr>
        <p:txBody>
          <a:bodyPr/>
          <a:lstStyle/>
          <a:p>
            <a:endParaRPr lang="en-US"/>
          </a:p>
        </p:txBody>
      </p:sp>
      <p:grpSp>
        <p:nvGrpSpPr>
          <p:cNvPr id="5" name="Group 5"/>
          <p:cNvGrpSpPr/>
          <p:nvPr/>
        </p:nvGrpSpPr>
        <p:grpSpPr>
          <a:xfrm>
            <a:off x="900314" y="2776668"/>
            <a:ext cx="297173" cy="2971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grpSp>
        <p:nvGrpSpPr>
          <p:cNvPr id="8" name="Group 8"/>
          <p:cNvGrpSpPr/>
          <p:nvPr/>
        </p:nvGrpSpPr>
        <p:grpSpPr>
          <a:xfrm>
            <a:off x="6786816" y="2776668"/>
            <a:ext cx="297173" cy="29717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grpSp>
        <p:nvGrpSpPr>
          <p:cNvPr id="11" name="Group 11"/>
          <p:cNvGrpSpPr/>
          <p:nvPr/>
        </p:nvGrpSpPr>
        <p:grpSpPr>
          <a:xfrm>
            <a:off x="12469684" y="2776668"/>
            <a:ext cx="297173" cy="2971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txBody>
            <a:bodyPr/>
            <a:lstStyle/>
            <a:p>
              <a:endParaRPr lang="en-US"/>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sp>
        <p:nvSpPr>
          <p:cNvPr id="14" name="TextBox 14"/>
          <p:cNvSpPr txBox="1"/>
          <p:nvPr/>
        </p:nvSpPr>
        <p:spPr>
          <a:xfrm>
            <a:off x="900314" y="3348454"/>
            <a:ext cx="2778873" cy="438277"/>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Decalotype Ultra-Bold"/>
                <a:ea typeface="Decalotype Ultra-Bold"/>
                <a:cs typeface="Decalotype Ultra-Bold"/>
                <a:sym typeface="Decalotype Ultra-Bold"/>
              </a:rPr>
              <a:t>Node.js</a:t>
            </a:r>
          </a:p>
        </p:txBody>
      </p:sp>
      <p:sp>
        <p:nvSpPr>
          <p:cNvPr id="15" name="TextBox 15"/>
          <p:cNvSpPr txBox="1"/>
          <p:nvPr/>
        </p:nvSpPr>
        <p:spPr>
          <a:xfrm>
            <a:off x="1048900" y="4015331"/>
            <a:ext cx="4393960" cy="1779270"/>
          </a:xfrm>
          <a:prstGeom prst="rect">
            <a:avLst/>
          </a:prstGeom>
        </p:spPr>
        <p:txBody>
          <a:bodyPr lIns="0" tIns="0" rIns="0" bIns="0" rtlCol="0" anchor="t">
            <a:spAutoFit/>
          </a:bodyPr>
          <a:lstStyle/>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Mô hình asynchronous + event-driven</a:t>
            </a:r>
          </a:p>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Xử lý nhiều request hiệu quả</a:t>
            </a:r>
          </a:p>
          <a:p>
            <a:pPr marL="0" lvl="0" indent="0" algn="l">
              <a:lnSpc>
                <a:spcPts val="3566"/>
              </a:lnSpc>
              <a:spcBef>
                <a:spcPct val="0"/>
              </a:spcBef>
            </a:pPr>
            <a:endParaRPr lang="en-US" sz="2459">
              <a:solidFill>
                <a:srgbClr val="383838"/>
              </a:solidFill>
              <a:latin typeface="Decalotype"/>
              <a:ea typeface="Decalotype"/>
              <a:cs typeface="Decalotype"/>
              <a:sym typeface="Decalotype"/>
            </a:endParaRPr>
          </a:p>
        </p:txBody>
      </p:sp>
      <p:sp>
        <p:nvSpPr>
          <p:cNvPr id="16" name="TextBox 16"/>
          <p:cNvSpPr txBox="1"/>
          <p:nvPr/>
        </p:nvSpPr>
        <p:spPr>
          <a:xfrm>
            <a:off x="6709645" y="3348454"/>
            <a:ext cx="2778873" cy="438277"/>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Decalotype Ultra-Bold"/>
                <a:ea typeface="Decalotype Ultra-Bold"/>
                <a:cs typeface="Decalotype Ultra-Bold"/>
                <a:sym typeface="Decalotype Ultra-Bold"/>
              </a:rPr>
              <a:t>Sử dụng NestJS</a:t>
            </a:r>
          </a:p>
        </p:txBody>
      </p:sp>
      <p:sp>
        <p:nvSpPr>
          <p:cNvPr id="17" name="TextBox 17"/>
          <p:cNvSpPr txBox="1"/>
          <p:nvPr/>
        </p:nvSpPr>
        <p:spPr>
          <a:xfrm>
            <a:off x="6904602" y="4015331"/>
            <a:ext cx="4067680" cy="1331595"/>
          </a:xfrm>
          <a:prstGeom prst="rect">
            <a:avLst/>
          </a:prstGeom>
        </p:spPr>
        <p:txBody>
          <a:bodyPr lIns="0" tIns="0" rIns="0" bIns="0" rtlCol="0" anchor="t">
            <a:spAutoFit/>
          </a:bodyPr>
          <a:lstStyle/>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Cấu trúc module rõ ràng</a:t>
            </a:r>
          </a:p>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Hỗ trợ dependency injection</a:t>
            </a:r>
          </a:p>
          <a:p>
            <a:pPr marL="0" lvl="0" indent="0" algn="l">
              <a:lnSpc>
                <a:spcPts val="3566"/>
              </a:lnSpc>
              <a:spcBef>
                <a:spcPct val="0"/>
              </a:spcBef>
            </a:pPr>
            <a:endParaRPr lang="en-US" sz="2459">
              <a:solidFill>
                <a:srgbClr val="383838"/>
              </a:solidFill>
              <a:latin typeface="Decalotype"/>
              <a:ea typeface="Decalotype"/>
              <a:cs typeface="Decalotype"/>
              <a:sym typeface="Decalotype"/>
            </a:endParaRPr>
          </a:p>
        </p:txBody>
      </p:sp>
      <p:sp>
        <p:nvSpPr>
          <p:cNvPr id="18" name="TextBox 18"/>
          <p:cNvSpPr txBox="1"/>
          <p:nvPr/>
        </p:nvSpPr>
        <p:spPr>
          <a:xfrm>
            <a:off x="12517468" y="3348454"/>
            <a:ext cx="3603273" cy="438277"/>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Decalotype Ultra-Bold"/>
                <a:ea typeface="Decalotype Ultra-Bold"/>
                <a:cs typeface="Decalotype Ultra-Bold"/>
                <a:sym typeface="Decalotype Ultra-Bold"/>
              </a:rPr>
              <a:t>Kiến trúc Microservices</a:t>
            </a:r>
          </a:p>
        </p:txBody>
      </p:sp>
      <p:sp>
        <p:nvSpPr>
          <p:cNvPr id="19" name="TextBox 19"/>
          <p:cNvSpPr txBox="1"/>
          <p:nvPr/>
        </p:nvSpPr>
        <p:spPr>
          <a:xfrm>
            <a:off x="12618271" y="4015331"/>
            <a:ext cx="4512643" cy="2674620"/>
          </a:xfrm>
          <a:prstGeom prst="rect">
            <a:avLst/>
          </a:prstGeom>
        </p:spPr>
        <p:txBody>
          <a:bodyPr lIns="0" tIns="0" rIns="0" bIns="0" rtlCol="0" anchor="t">
            <a:spAutoFit/>
          </a:bodyPr>
          <a:lstStyle/>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Chia hệ thống thành nhiều service nhỏ: Product, User, Auth, Cart, Order...</a:t>
            </a:r>
          </a:p>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Mỗi service độc lập, giao tiếp qua API</a:t>
            </a:r>
          </a:p>
          <a:p>
            <a:pPr marL="0" lvl="0" indent="0" algn="l">
              <a:lnSpc>
                <a:spcPts val="3566"/>
              </a:lnSpc>
              <a:spcBef>
                <a:spcPct val="0"/>
              </a:spcBef>
            </a:pPr>
            <a:endParaRPr lang="en-US" sz="245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8859738" y="1932572"/>
            <a:ext cx="8954460" cy="5674889"/>
          </a:xfrm>
          <a:custGeom>
            <a:avLst/>
            <a:gdLst/>
            <a:ahLst/>
            <a:cxnLst/>
            <a:rect l="l" t="t" r="r" b="b"/>
            <a:pathLst>
              <a:path w="8954460" h="5674889">
                <a:moveTo>
                  <a:pt x="0" y="0"/>
                </a:moveTo>
                <a:lnTo>
                  <a:pt x="8954460" y="0"/>
                </a:lnTo>
                <a:lnTo>
                  <a:pt x="8954460" y="5674889"/>
                </a:lnTo>
                <a:lnTo>
                  <a:pt x="0" y="567488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877398" y="195781"/>
            <a:ext cx="4191025"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API Gateway</a:t>
            </a:r>
          </a:p>
        </p:txBody>
      </p:sp>
      <p:sp>
        <p:nvSpPr>
          <p:cNvPr id="5" name="TextBox 5"/>
          <p:cNvSpPr txBox="1"/>
          <p:nvPr/>
        </p:nvSpPr>
        <p:spPr>
          <a:xfrm>
            <a:off x="1270241" y="2249866"/>
            <a:ext cx="7047777" cy="5046346"/>
          </a:xfrm>
          <a:prstGeom prst="rect">
            <a:avLst/>
          </a:prstGeom>
        </p:spPr>
        <p:txBody>
          <a:bodyPr lIns="0" tIns="0" rIns="0" bIns="0" rtlCol="0" anchor="t">
            <a:spAutoFit/>
          </a:bodyPr>
          <a:lstStyle/>
          <a:p>
            <a:pPr algn="just">
              <a:lnSpc>
                <a:spcPts val="4436"/>
              </a:lnSpc>
              <a:spcBef>
                <a:spcPct val="0"/>
              </a:spcBef>
            </a:pPr>
            <a:r>
              <a:rPr lang="en-US" sz="3059">
                <a:solidFill>
                  <a:srgbClr val="383838"/>
                </a:solidFill>
                <a:latin typeface="Decalotype"/>
                <a:ea typeface="Decalotype"/>
                <a:cs typeface="Decalotype"/>
                <a:sym typeface="Decalotype"/>
              </a:rPr>
              <a:t>API Gateway là trung gian giữa client và các microservice. Client gửi request đến gateway, sau đó gateway chuyển đến service phù hợp.</a:t>
            </a:r>
          </a:p>
          <a:p>
            <a:pPr algn="just">
              <a:lnSpc>
                <a:spcPts val="4436"/>
              </a:lnSpc>
              <a:spcBef>
                <a:spcPct val="0"/>
              </a:spcBef>
            </a:pPr>
            <a:r>
              <a:rPr lang="en-US" sz="3059">
                <a:solidFill>
                  <a:srgbClr val="383838"/>
                </a:solidFill>
                <a:latin typeface="Decalotype"/>
                <a:ea typeface="Decalotype"/>
                <a:cs typeface="Decalotype"/>
                <a:sym typeface="Decalotype"/>
              </a:rPr>
              <a:t>Trong hệ thống, gateway dùng NestJS, xử lý:</a:t>
            </a:r>
          </a:p>
          <a:p>
            <a:pPr marL="660648" lvl="1" indent="-330324" algn="just">
              <a:lnSpc>
                <a:spcPts val="4436"/>
              </a:lnSpc>
              <a:buFont typeface="Arial"/>
              <a:buChar char="•"/>
            </a:pPr>
            <a:r>
              <a:rPr lang="en-US" sz="3059">
                <a:solidFill>
                  <a:srgbClr val="383838"/>
                </a:solidFill>
                <a:latin typeface="Decalotype"/>
                <a:ea typeface="Decalotype"/>
                <a:cs typeface="Decalotype"/>
                <a:sym typeface="Decalotype"/>
              </a:rPr>
              <a:t>Xác thực (JWT)</a:t>
            </a:r>
          </a:p>
          <a:p>
            <a:pPr marL="660648" lvl="1" indent="-330324" algn="just">
              <a:lnSpc>
                <a:spcPts val="4436"/>
              </a:lnSpc>
              <a:buFont typeface="Arial"/>
              <a:buChar char="•"/>
            </a:pPr>
            <a:r>
              <a:rPr lang="en-US" sz="3059">
                <a:solidFill>
                  <a:srgbClr val="383838"/>
                </a:solidFill>
                <a:latin typeface="Decalotype"/>
                <a:ea typeface="Decalotype"/>
                <a:cs typeface="Decalotype"/>
                <a:sym typeface="Decalotype"/>
              </a:rPr>
              <a:t>Phân quyền</a:t>
            </a:r>
          </a:p>
          <a:p>
            <a:pPr marL="660648" lvl="1" indent="-330324" algn="just">
              <a:lnSpc>
                <a:spcPts val="4436"/>
              </a:lnSpc>
              <a:buFont typeface="Arial"/>
              <a:buChar char="•"/>
            </a:pPr>
            <a:r>
              <a:rPr lang="en-US" sz="3059">
                <a:solidFill>
                  <a:srgbClr val="383838"/>
                </a:solidFill>
                <a:latin typeface="Decalotype"/>
                <a:ea typeface="Decalotype"/>
                <a:cs typeface="Decalotype"/>
                <a:sym typeface="Decalotype"/>
              </a:rPr>
              <a:t>Điều phối request</a:t>
            </a:r>
          </a:p>
          <a:p>
            <a:pPr algn="just">
              <a:lnSpc>
                <a:spcPts val="4436"/>
              </a:lnSpc>
              <a:spcBef>
                <a:spcPct val="0"/>
              </a:spcBef>
            </a:pPr>
            <a:r>
              <a:rPr lang="en-US" sz="3059">
                <a:solidFill>
                  <a:srgbClr val="383838"/>
                </a:solidFill>
                <a:latin typeface="Decalotype"/>
                <a:ea typeface="Decalotype"/>
                <a:cs typeface="Decalotype"/>
                <a:sym typeface="Decalotype"/>
              </a:rPr>
              <a:t>Lợi ích: đơn giản hóa client, tăng bảo mật, ẩn cấu trúc hệ thống.</a:t>
            </a:r>
          </a:p>
        </p:txBody>
      </p:sp>
      <p:sp>
        <p:nvSpPr>
          <p:cNvPr id="6" name="TextBox 6"/>
          <p:cNvSpPr txBox="1"/>
          <p:nvPr/>
        </p:nvSpPr>
        <p:spPr>
          <a:xfrm>
            <a:off x="12388135" y="8130896"/>
            <a:ext cx="2901255"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 Hình 14 : API Gateway</a:t>
            </a:r>
          </a:p>
        </p:txBody>
      </p:sp>
    </p:spTree>
  </p:cSld>
  <p:clrMapOvr>
    <a:masterClrMapping/>
  </p:clrMapOvr>
  <p:transition>
    <p:push/>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572182" y="4450312"/>
            <a:ext cx="13143635" cy="4486296"/>
          </a:xfrm>
          <a:custGeom>
            <a:avLst/>
            <a:gdLst/>
            <a:ahLst/>
            <a:cxnLst/>
            <a:rect l="l" t="t" r="r" b="b"/>
            <a:pathLst>
              <a:path w="13143635" h="4486296">
                <a:moveTo>
                  <a:pt x="0" y="0"/>
                </a:moveTo>
                <a:lnTo>
                  <a:pt x="13143636" y="0"/>
                </a:lnTo>
                <a:lnTo>
                  <a:pt x="13143636" y="4486297"/>
                </a:lnTo>
                <a:lnTo>
                  <a:pt x="0" y="448629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50880" y="195781"/>
            <a:ext cx="13821250" cy="1671119"/>
          </a:xfrm>
          <a:prstGeom prst="rect">
            <a:avLst/>
          </a:prstGeom>
        </p:spPr>
        <p:txBody>
          <a:bodyPr lIns="0" tIns="0" rIns="0" bIns="0" rtlCol="0" anchor="t">
            <a:spAutoFit/>
          </a:bodyPr>
          <a:lstStyle/>
          <a:p>
            <a:pPr algn="l">
              <a:lnSpc>
                <a:spcPts val="6665"/>
              </a:lnSpc>
            </a:pPr>
            <a:r>
              <a:rPr lang="en-US" sz="5207" b="1" spc="-130">
                <a:solidFill>
                  <a:srgbClr val="383838"/>
                </a:solidFill>
                <a:latin typeface="Decalotype Bold"/>
                <a:ea typeface="Decalotype Bold"/>
                <a:cs typeface="Decalotype Bold"/>
                <a:sym typeface="Decalotype Bold"/>
              </a:rPr>
              <a:t>Định hướng tích hợp hệ thống AI Agent</a:t>
            </a:r>
          </a:p>
          <a:p>
            <a:pPr algn="l">
              <a:lnSpc>
                <a:spcPts val="6665"/>
              </a:lnSpc>
              <a:spcBef>
                <a:spcPct val="0"/>
              </a:spcBef>
            </a:pPr>
            <a:endParaRPr lang="en-US" sz="5207" b="1" spc="-130">
              <a:solidFill>
                <a:srgbClr val="383838"/>
              </a:solidFill>
              <a:latin typeface="Decalotype Bold"/>
              <a:ea typeface="Decalotype Bold"/>
              <a:cs typeface="Decalotype Bold"/>
              <a:sym typeface="Decalotype Bold"/>
            </a:endParaRPr>
          </a:p>
        </p:txBody>
      </p:sp>
      <p:sp>
        <p:nvSpPr>
          <p:cNvPr id="5" name="TextBox 5"/>
          <p:cNvSpPr txBox="1"/>
          <p:nvPr/>
        </p:nvSpPr>
        <p:spPr>
          <a:xfrm>
            <a:off x="1028700" y="1366029"/>
            <a:ext cx="15131075" cy="2415159"/>
          </a:xfrm>
          <a:prstGeom prst="rect">
            <a:avLst/>
          </a:prstGeom>
        </p:spPr>
        <p:txBody>
          <a:bodyPr lIns="0" tIns="0" rIns="0" bIns="0" rtlCol="0" anchor="t">
            <a:spAutoFit/>
          </a:bodyPr>
          <a:lstStyle/>
          <a:p>
            <a:pPr algn="l">
              <a:lnSpc>
                <a:spcPts val="4818"/>
              </a:lnSpc>
            </a:pPr>
            <a:r>
              <a:rPr lang="en-US" sz="3300" b="1" spc="-82">
                <a:solidFill>
                  <a:srgbClr val="383838"/>
                </a:solidFill>
                <a:latin typeface="Decalotype Bold"/>
                <a:ea typeface="Decalotype Bold"/>
                <a:cs typeface="Decalotype Bold"/>
                <a:sym typeface="Decalotype Bold"/>
              </a:rPr>
              <a:t>AI Agent được tích hợp vào website bán quần áo nhằm tăng tính thông minh, hỗ trợ người dùng và cá nhân hóa trải nghiệm mua sắm. AI Agent không hoạt động độc lập mà được kết hợp với n8n, trong đó n8n đóng vai trò điều phối workflow, còn AI Agent đảm nhiệm xử lý ngữ cảnh, sinh phản hồi, gợi ý sản phẩm và hỗ trợ phân tích dữ liệu.</a:t>
            </a:r>
          </a:p>
        </p:txBody>
      </p:sp>
      <p:sp>
        <p:nvSpPr>
          <p:cNvPr id="6" name="TextBox 6"/>
          <p:cNvSpPr txBox="1"/>
          <p:nvPr/>
        </p:nvSpPr>
        <p:spPr>
          <a:xfrm>
            <a:off x="7638584" y="9364129"/>
            <a:ext cx="4113808" cy="403150"/>
          </a:xfrm>
          <a:prstGeom prst="rect">
            <a:avLst/>
          </a:prstGeom>
        </p:spPr>
        <p:txBody>
          <a:bodyPr lIns="0" tIns="0" rIns="0" bIns="0" rtlCol="0" anchor="t">
            <a:spAutoFit/>
          </a:bodyPr>
          <a:lstStyle/>
          <a:p>
            <a:pPr algn="ctr">
              <a:lnSpc>
                <a:spcPts val="3209"/>
              </a:lnSpc>
              <a:spcBef>
                <a:spcPct val="0"/>
              </a:spcBef>
            </a:pPr>
            <a:r>
              <a:rPr lang="en-US" sz="2507" i="1" spc="-62">
                <a:solidFill>
                  <a:srgbClr val="383838"/>
                </a:solidFill>
                <a:latin typeface="Noto Sans Italics"/>
                <a:ea typeface="Noto Sans Italics"/>
                <a:cs typeface="Noto Sans Italics"/>
                <a:sym typeface="Noto Sans Italics"/>
              </a:rPr>
              <a:t> Hình 15 : Các module AI Agent</a:t>
            </a:r>
          </a:p>
        </p:txBody>
      </p:sp>
    </p:spTree>
  </p:cSld>
  <p:clrMapOvr>
    <a:masterClrMapping/>
  </p:clrMapOvr>
  <p:transition>
    <p:push/>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872512" y="1523790"/>
            <a:ext cx="12091860" cy="8056202"/>
          </a:xfrm>
          <a:custGeom>
            <a:avLst/>
            <a:gdLst/>
            <a:ahLst/>
            <a:cxnLst/>
            <a:rect l="l" t="t" r="r" b="b"/>
            <a:pathLst>
              <a:path w="12091860" h="8056202">
                <a:moveTo>
                  <a:pt x="0" y="0"/>
                </a:moveTo>
                <a:lnTo>
                  <a:pt x="12091860" y="0"/>
                </a:lnTo>
                <a:lnTo>
                  <a:pt x="12091860" y="8056201"/>
                </a:lnTo>
                <a:lnTo>
                  <a:pt x="0" y="805620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279193" y="468728"/>
            <a:ext cx="10846244"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 Kiến trúc tích hợp AI Agent</a:t>
            </a:r>
          </a:p>
        </p:txBody>
      </p:sp>
      <p:sp>
        <p:nvSpPr>
          <p:cNvPr id="5" name="TextBox 5"/>
          <p:cNvSpPr txBox="1"/>
          <p:nvPr/>
        </p:nvSpPr>
        <p:spPr>
          <a:xfrm>
            <a:off x="6707535" y="9770491"/>
            <a:ext cx="4872930" cy="501829"/>
          </a:xfrm>
          <a:prstGeom prst="rect">
            <a:avLst/>
          </a:prstGeom>
        </p:spPr>
        <p:txBody>
          <a:bodyPr lIns="0" tIns="0" rIns="0" bIns="0" rtlCol="0" anchor="t">
            <a:spAutoFit/>
          </a:bodyPr>
          <a:lstStyle/>
          <a:p>
            <a:pPr algn="ctr">
              <a:lnSpc>
                <a:spcPts val="3977"/>
              </a:lnSpc>
              <a:spcBef>
                <a:spcPct val="0"/>
              </a:spcBef>
            </a:pPr>
            <a:r>
              <a:rPr lang="en-US" sz="3107" i="1" spc="-77">
                <a:solidFill>
                  <a:srgbClr val="383838"/>
                </a:solidFill>
                <a:latin typeface="Decalotype Italics"/>
                <a:ea typeface="Decalotype Italics"/>
                <a:cs typeface="Decalotype Italics"/>
                <a:sym typeface="Decalotype Italics"/>
              </a:rPr>
              <a:t> Hình 16:  Kiến trúc tích hợp AI Agent</a:t>
            </a:r>
          </a:p>
        </p:txBody>
      </p:sp>
    </p:spTree>
  </p:cSld>
  <p:clrMapOvr>
    <a:masterClrMapping/>
  </p:clrMapOvr>
  <p:transition>
    <p:push/>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3192163" y="1520540"/>
            <a:ext cx="10908360" cy="8059451"/>
          </a:xfrm>
          <a:custGeom>
            <a:avLst/>
            <a:gdLst/>
            <a:ahLst/>
            <a:cxnLst/>
            <a:rect l="l" t="t" r="r" b="b"/>
            <a:pathLst>
              <a:path w="10908360" h="8059451">
                <a:moveTo>
                  <a:pt x="0" y="0"/>
                </a:moveTo>
                <a:lnTo>
                  <a:pt x="10908360" y="0"/>
                </a:lnTo>
                <a:lnTo>
                  <a:pt x="10908360" y="8059451"/>
                </a:lnTo>
                <a:lnTo>
                  <a:pt x="0" y="8059451"/>
                </a:lnTo>
                <a:lnTo>
                  <a:pt x="0" y="0"/>
                </a:lnTo>
                <a:close/>
              </a:path>
            </a:pathLst>
          </a:custGeom>
          <a:blipFill>
            <a:blip r:embed="rId3"/>
            <a:stretch>
              <a:fillRect b="-1511"/>
            </a:stretch>
          </a:blipFill>
        </p:spPr>
        <p:txBody>
          <a:bodyPr/>
          <a:lstStyle/>
          <a:p>
            <a:endParaRPr lang="en-US"/>
          </a:p>
        </p:txBody>
      </p:sp>
      <p:sp>
        <p:nvSpPr>
          <p:cNvPr id="4" name="TextBox 4"/>
          <p:cNvSpPr txBox="1"/>
          <p:nvPr/>
        </p:nvSpPr>
        <p:spPr>
          <a:xfrm>
            <a:off x="279193" y="468728"/>
            <a:ext cx="10846244" cy="1671119"/>
          </a:xfrm>
          <a:prstGeom prst="rect">
            <a:avLst/>
          </a:prstGeom>
        </p:spPr>
        <p:txBody>
          <a:bodyPr lIns="0" tIns="0" rIns="0" bIns="0" rtlCol="0" anchor="t">
            <a:spAutoFit/>
          </a:bodyPr>
          <a:lstStyle/>
          <a:p>
            <a:pPr algn="l">
              <a:lnSpc>
                <a:spcPts val="6665"/>
              </a:lnSpc>
            </a:pPr>
            <a:r>
              <a:rPr lang="en-US" sz="5207" b="1" spc="-130">
                <a:solidFill>
                  <a:srgbClr val="383838"/>
                </a:solidFill>
                <a:latin typeface="Decalotype Bold"/>
                <a:ea typeface="Decalotype Bold"/>
                <a:cs typeface="Decalotype Bold"/>
                <a:sym typeface="Decalotype Bold"/>
              </a:rPr>
              <a:t>Luồng xử lý AI Agent cá thể hóa</a:t>
            </a:r>
          </a:p>
          <a:p>
            <a:pPr algn="l">
              <a:lnSpc>
                <a:spcPts val="6665"/>
              </a:lnSpc>
              <a:spcBef>
                <a:spcPct val="0"/>
              </a:spcBef>
            </a:pPr>
            <a:endParaRPr lang="en-US" sz="5207" b="1" spc="-130">
              <a:solidFill>
                <a:srgbClr val="383838"/>
              </a:solidFill>
              <a:latin typeface="Decalotype Bold"/>
              <a:ea typeface="Decalotype Bold"/>
              <a:cs typeface="Decalotype Bold"/>
              <a:sym typeface="Decalotype Bold"/>
            </a:endParaRPr>
          </a:p>
        </p:txBody>
      </p:sp>
      <p:sp>
        <p:nvSpPr>
          <p:cNvPr id="5" name="TextBox 5"/>
          <p:cNvSpPr txBox="1"/>
          <p:nvPr/>
        </p:nvSpPr>
        <p:spPr>
          <a:xfrm>
            <a:off x="5702315" y="9732085"/>
            <a:ext cx="6207919" cy="554915"/>
          </a:xfrm>
          <a:prstGeom prst="rect">
            <a:avLst/>
          </a:prstGeom>
        </p:spPr>
        <p:txBody>
          <a:bodyPr lIns="0" tIns="0" rIns="0" bIns="0" rtlCol="0" anchor="t">
            <a:spAutoFit/>
          </a:bodyPr>
          <a:lstStyle/>
          <a:p>
            <a:pPr algn="ctr">
              <a:lnSpc>
                <a:spcPts val="4489"/>
              </a:lnSpc>
              <a:spcBef>
                <a:spcPct val="0"/>
              </a:spcBef>
            </a:pPr>
            <a:r>
              <a:rPr lang="en-US" sz="3507" spc="-87">
                <a:solidFill>
                  <a:srgbClr val="383838"/>
                </a:solidFill>
                <a:latin typeface="Decalotype"/>
                <a:ea typeface="Decalotype"/>
                <a:cs typeface="Decalotype"/>
                <a:sym typeface="Decalotype"/>
              </a:rPr>
              <a:t> Hình 17: Luồng xử lý AI Agent cá thể hóa</a:t>
            </a:r>
          </a:p>
        </p:txBody>
      </p:sp>
    </p:spTree>
  </p:cSld>
  <p:clrMapOvr>
    <a:masterClrMapping/>
  </p:clrMapOvr>
  <p:transition>
    <p:push/>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976517" y="1351291"/>
          <a:ext cx="6334966" cy="2390775"/>
        </p:xfrm>
        <a:graphic>
          <a:graphicData uri="http://schemas.openxmlformats.org/drawingml/2006/table">
            <a:tbl>
              <a:tblPr/>
              <a:tblGrid>
                <a:gridCol w="6334966">
                  <a:extLst>
                    <a:ext uri="{9D8B030D-6E8A-4147-A177-3AD203B41FA5}">
                      <a16:colId xmlns:a16="http://schemas.microsoft.com/office/drawing/2014/main" val="20000"/>
                    </a:ext>
                  </a:extLst>
                </a:gridCol>
              </a:tblGrid>
              <a:tr h="2390775">
                <a:tc>
                  <a:txBody>
                    <a:bodyPr/>
                    <a:lstStyle/>
                    <a:p>
                      <a:pPr algn="ctr">
                        <a:lnSpc>
                          <a:spcPts val="13720"/>
                        </a:lnSpc>
                        <a:defRPr/>
                      </a:pPr>
                      <a:r>
                        <a:rPr lang="en-US" sz="9800" spc="-784">
                          <a:solidFill>
                            <a:srgbClr val="383838"/>
                          </a:solidFill>
                          <a:latin typeface="Roca Two"/>
                          <a:ea typeface="Roca Two"/>
                          <a:cs typeface="Roca Two"/>
                          <a:sym typeface="Roca Two"/>
                        </a:rPr>
                        <a:t>Chương 3</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3351976" y="4306570"/>
            <a:ext cx="12593369" cy="1588135"/>
          </a:xfrm>
          <a:prstGeom prst="rect">
            <a:avLst/>
          </a:prstGeom>
        </p:spPr>
        <p:txBody>
          <a:bodyPr lIns="0" tIns="0" rIns="0" bIns="0" rtlCol="0" anchor="t">
            <a:spAutoFit/>
          </a:bodyPr>
          <a:lstStyle/>
          <a:p>
            <a:pPr algn="ctr">
              <a:lnSpc>
                <a:spcPts val="6440"/>
              </a:lnSpc>
            </a:pPr>
            <a:r>
              <a:rPr lang="en-US" sz="4600" b="1">
                <a:solidFill>
                  <a:srgbClr val="000000"/>
                </a:solidFill>
                <a:latin typeface="Noto Sans Bold"/>
                <a:ea typeface="Noto Sans Bold"/>
                <a:cs typeface="Noto Sans Bold"/>
                <a:sym typeface="Noto Sans Bold"/>
              </a:rPr>
              <a:t>Phân tích yêu cầu và thiết kế hệ thống thương mại điện tử thông minh</a:t>
            </a:r>
          </a:p>
        </p:txBody>
      </p:sp>
    </p:spTree>
  </p:cSld>
  <p:clrMapOvr>
    <a:masterClrMapping/>
  </p:clrMapOvr>
  <p:transition>
    <p:push/>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350880" y="1701857"/>
            <a:ext cx="9672111" cy="6563793"/>
          </a:xfrm>
          <a:prstGeom prst="rect">
            <a:avLst/>
          </a:prstGeom>
        </p:spPr>
        <p:txBody>
          <a:bodyPr lIns="0" tIns="0" rIns="0" bIns="0" rtlCol="0" anchor="t">
            <a:spAutoFit/>
          </a:bodyPr>
          <a:lstStyle/>
          <a:p>
            <a:pPr marL="584527" lvl="1" indent="-292263" algn="l">
              <a:lnSpc>
                <a:spcPts val="3465"/>
              </a:lnSpc>
              <a:buFont typeface="Arial"/>
              <a:buChar char="•"/>
            </a:pPr>
            <a:r>
              <a:rPr lang="en-US" sz="2707" b="1" spc="-67">
                <a:solidFill>
                  <a:srgbClr val="383838"/>
                </a:solidFill>
                <a:latin typeface="Decalotype Bold"/>
                <a:ea typeface="Decalotype Bold"/>
                <a:cs typeface="Decalotype Bold"/>
                <a:sym typeface="Decalotype Bold"/>
              </a:rPr>
              <a:t>Use Case Diagram mô tả các chức năng chính của hệ thống và sự tương tác giữa ba tác nhân chính: Người mua, Người bán và Quản trị viên.</a:t>
            </a:r>
          </a:p>
          <a:p>
            <a:pPr marL="584527" lvl="1" indent="-292263" algn="l">
              <a:lnSpc>
                <a:spcPts val="3465"/>
              </a:lnSpc>
              <a:buFont typeface="Arial"/>
              <a:buChar char="•"/>
            </a:pPr>
            <a:r>
              <a:rPr lang="en-US" sz="2707" b="1" spc="-67">
                <a:solidFill>
                  <a:srgbClr val="383838"/>
                </a:solidFill>
                <a:latin typeface="Decalotype Bold"/>
                <a:ea typeface="Decalotype Bold"/>
                <a:cs typeface="Decalotype Bold"/>
                <a:sym typeface="Decalotype Bold"/>
              </a:rPr>
              <a:t>Người mua có thể đăng ký/đăng nhập, tìm kiếm sản phẩm, xem chi tiết sản phẩm, thêm vào giỏ hàng, đặt hàng, thanh toán, theo dõi đơn hàng và đánh giá sản phẩm.</a:t>
            </a:r>
          </a:p>
          <a:p>
            <a:pPr marL="584527" lvl="1" indent="-292263" algn="l">
              <a:lnSpc>
                <a:spcPts val="3465"/>
              </a:lnSpc>
              <a:buFont typeface="Arial"/>
              <a:buChar char="•"/>
            </a:pPr>
            <a:r>
              <a:rPr lang="en-US" sz="2707" b="1" spc="-67">
                <a:solidFill>
                  <a:srgbClr val="383838"/>
                </a:solidFill>
                <a:latin typeface="Decalotype Bold"/>
                <a:ea typeface="Decalotype Bold"/>
                <a:cs typeface="Decalotype Bold"/>
                <a:sym typeface="Decalotype Bold"/>
              </a:rPr>
              <a:t>Người bán thực hiện các chức năng như đăng ký tài khoản bán hàng, đăng sản phẩm, quản lý sản phẩm, xử lý đơn hàng và theo dõi doanh thu.</a:t>
            </a:r>
          </a:p>
          <a:p>
            <a:pPr marL="584527" lvl="1" indent="-292263" algn="l">
              <a:lnSpc>
                <a:spcPts val="3465"/>
              </a:lnSpc>
              <a:buFont typeface="Arial"/>
              <a:buChar char="•"/>
            </a:pPr>
            <a:r>
              <a:rPr lang="en-US" sz="2707" b="1" spc="-67">
                <a:solidFill>
                  <a:srgbClr val="383838"/>
                </a:solidFill>
                <a:latin typeface="Decalotype Bold"/>
                <a:ea typeface="Decalotype Bold"/>
                <a:cs typeface="Decalotype Bold"/>
                <a:sym typeface="Decalotype Bold"/>
              </a:rPr>
              <a:t>Quản trị viên chịu trách nhiệm quản lý người dùng, kiểm duyệt sản phẩm, quản lý đơn hàng và xem các báo cáo, thống kê của hệ thống.</a:t>
            </a:r>
          </a:p>
          <a:p>
            <a:pPr marL="584527" lvl="1" indent="-292263" algn="l">
              <a:lnSpc>
                <a:spcPts val="3465"/>
              </a:lnSpc>
              <a:buFont typeface="Arial"/>
              <a:buChar char="•"/>
            </a:pPr>
            <a:r>
              <a:rPr lang="en-US" sz="2707" b="1" spc="-67">
                <a:solidFill>
                  <a:srgbClr val="383838"/>
                </a:solidFill>
                <a:latin typeface="Decalotype Bold"/>
                <a:ea typeface="Decalotype Bold"/>
                <a:cs typeface="Decalotype Bold"/>
                <a:sym typeface="Decalotype Bold"/>
              </a:rPr>
              <a:t>Nhìn chung, Use Case Diagram giúp thể hiện rõ vai trò của từng tác nhân và các chức năng mà họ có thể thực hiện trong hệ thống thương mại điện tử.</a:t>
            </a:r>
          </a:p>
          <a:p>
            <a:pPr algn="l">
              <a:lnSpc>
                <a:spcPts val="3465"/>
              </a:lnSpc>
            </a:pPr>
            <a:endParaRPr lang="en-US" sz="2707" b="1" spc="-67">
              <a:solidFill>
                <a:srgbClr val="383838"/>
              </a:solidFill>
              <a:latin typeface="Decalotype Bold"/>
              <a:ea typeface="Decalotype Bold"/>
              <a:cs typeface="Decalotype Bold"/>
              <a:sym typeface="Decalotype Bold"/>
            </a:endParaRPr>
          </a:p>
        </p:txBody>
      </p:sp>
      <p:sp>
        <p:nvSpPr>
          <p:cNvPr id="4" name="Freeform 4"/>
          <p:cNvSpPr/>
          <p:nvPr/>
        </p:nvSpPr>
        <p:spPr>
          <a:xfrm>
            <a:off x="10366019" y="1720907"/>
            <a:ext cx="6768889" cy="6544743"/>
          </a:xfrm>
          <a:custGeom>
            <a:avLst/>
            <a:gdLst/>
            <a:ahLst/>
            <a:cxnLst/>
            <a:rect l="l" t="t" r="r" b="b"/>
            <a:pathLst>
              <a:path w="6768889" h="6544743">
                <a:moveTo>
                  <a:pt x="0" y="0"/>
                </a:moveTo>
                <a:lnTo>
                  <a:pt x="6768889" y="0"/>
                </a:lnTo>
                <a:lnTo>
                  <a:pt x="6768889" y="6544743"/>
                </a:lnTo>
                <a:lnTo>
                  <a:pt x="0" y="6544743"/>
                </a:lnTo>
                <a:lnTo>
                  <a:pt x="0" y="0"/>
                </a:lnTo>
                <a:close/>
              </a:path>
            </a:pathLst>
          </a:custGeom>
          <a:blipFill>
            <a:blip r:embed="rId3"/>
            <a:stretch>
              <a:fillRect l="-2405" r="-2405"/>
            </a:stretch>
          </a:blipFill>
        </p:spPr>
        <p:txBody>
          <a:bodyPr/>
          <a:lstStyle/>
          <a:p>
            <a:endParaRPr lang="en-US"/>
          </a:p>
        </p:txBody>
      </p:sp>
      <p:sp>
        <p:nvSpPr>
          <p:cNvPr id="5" name="TextBox 5"/>
          <p:cNvSpPr txBox="1"/>
          <p:nvPr/>
        </p:nvSpPr>
        <p:spPr>
          <a:xfrm>
            <a:off x="601784" y="588428"/>
            <a:ext cx="179371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Use case tổng quát</a:t>
            </a:r>
          </a:p>
        </p:txBody>
      </p:sp>
      <p:sp>
        <p:nvSpPr>
          <p:cNvPr id="6" name="TextBox 6"/>
          <p:cNvSpPr txBox="1"/>
          <p:nvPr/>
        </p:nvSpPr>
        <p:spPr>
          <a:xfrm>
            <a:off x="12354339" y="8685148"/>
            <a:ext cx="3257054" cy="436245"/>
          </a:xfrm>
          <a:prstGeom prst="rect">
            <a:avLst/>
          </a:prstGeom>
        </p:spPr>
        <p:txBody>
          <a:bodyPr lIns="0" tIns="0" rIns="0" bIns="0" rtlCol="0" anchor="t">
            <a:spAutoFit/>
          </a:bodyPr>
          <a:lstStyle/>
          <a:p>
            <a:pPr algn="ctr">
              <a:lnSpc>
                <a:spcPts val="3566"/>
              </a:lnSpc>
              <a:spcBef>
                <a:spcPct val="0"/>
              </a:spcBef>
            </a:pPr>
            <a:r>
              <a:rPr lang="en-US" sz="2459" i="1">
                <a:solidFill>
                  <a:srgbClr val="383838"/>
                </a:solidFill>
                <a:latin typeface="Decalotype Italics"/>
                <a:ea typeface="Decalotype Italics"/>
                <a:cs typeface="Decalotype Italics"/>
                <a:sym typeface="Decalotype Italics"/>
              </a:rPr>
              <a:t> Hình 18: Use case tổng quát</a:t>
            </a:r>
          </a:p>
        </p:txBody>
      </p:sp>
    </p:spTree>
  </p:cSld>
  <p:clrMapOvr>
    <a:masterClrMapping/>
  </p:clrMapOvr>
  <p:transition>
    <p:push/>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538838" y="1490820"/>
            <a:ext cx="9561205" cy="7445788"/>
          </a:xfrm>
          <a:custGeom>
            <a:avLst/>
            <a:gdLst/>
            <a:ahLst/>
            <a:cxnLst/>
            <a:rect l="l" t="t" r="r" b="b"/>
            <a:pathLst>
              <a:path w="9561205" h="7445788">
                <a:moveTo>
                  <a:pt x="0" y="0"/>
                </a:moveTo>
                <a:lnTo>
                  <a:pt x="9561204" y="0"/>
                </a:lnTo>
                <a:lnTo>
                  <a:pt x="9561204" y="7445789"/>
                </a:lnTo>
                <a:lnTo>
                  <a:pt x="0" y="744578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50880" y="195781"/>
            <a:ext cx="179371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Lược đồ dữ liệu ( ERD)</a:t>
            </a:r>
          </a:p>
        </p:txBody>
      </p:sp>
      <p:sp>
        <p:nvSpPr>
          <p:cNvPr id="5" name="TextBox 5"/>
          <p:cNvSpPr txBox="1"/>
          <p:nvPr/>
        </p:nvSpPr>
        <p:spPr>
          <a:xfrm>
            <a:off x="7918415" y="9336659"/>
            <a:ext cx="4028281" cy="436245"/>
          </a:xfrm>
          <a:prstGeom prst="rect">
            <a:avLst/>
          </a:prstGeom>
        </p:spPr>
        <p:txBody>
          <a:bodyPr lIns="0" tIns="0" rIns="0" bIns="0" rtlCol="0" anchor="t">
            <a:spAutoFit/>
          </a:bodyPr>
          <a:lstStyle/>
          <a:p>
            <a:pPr algn="ctr">
              <a:lnSpc>
                <a:spcPts val="3566"/>
              </a:lnSpc>
              <a:spcBef>
                <a:spcPct val="0"/>
              </a:spcBef>
            </a:pPr>
            <a:r>
              <a:rPr lang="en-US" sz="2459" i="1">
                <a:solidFill>
                  <a:srgbClr val="383838"/>
                </a:solidFill>
                <a:latin typeface="Decalotype Italics"/>
                <a:ea typeface="Decalotype Italics"/>
                <a:cs typeface="Decalotype Italics"/>
                <a:sym typeface="Decalotype Italics"/>
              </a:rPr>
              <a:t> Hình 19; Lược đồ dữ liệu hệ thống</a:t>
            </a:r>
          </a:p>
        </p:txBody>
      </p:sp>
    </p:spTree>
  </p:cSld>
  <p:clrMapOvr>
    <a:masterClrMapping/>
  </p:clrMapOvr>
  <p:transition>
    <p:push/>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0539893" y="1028700"/>
            <a:ext cx="5044611" cy="8229600"/>
          </a:xfrm>
          <a:custGeom>
            <a:avLst/>
            <a:gdLst/>
            <a:ahLst/>
            <a:cxnLst/>
            <a:rect l="l" t="t" r="r" b="b"/>
            <a:pathLst>
              <a:path w="5044611" h="8229600">
                <a:moveTo>
                  <a:pt x="0" y="0"/>
                </a:moveTo>
                <a:lnTo>
                  <a:pt x="5044611" y="0"/>
                </a:lnTo>
                <a:lnTo>
                  <a:pt x="5044611" y="8229600"/>
                </a:lnTo>
                <a:lnTo>
                  <a:pt x="0" y="822960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50880" y="195781"/>
            <a:ext cx="179371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Quy tắc Database per service</a:t>
            </a:r>
          </a:p>
        </p:txBody>
      </p:sp>
      <p:sp>
        <p:nvSpPr>
          <p:cNvPr id="5" name="TextBox 5"/>
          <p:cNvSpPr txBox="1"/>
          <p:nvPr/>
        </p:nvSpPr>
        <p:spPr>
          <a:xfrm>
            <a:off x="853260" y="1441165"/>
            <a:ext cx="9052023" cy="7832170"/>
          </a:xfrm>
          <a:prstGeom prst="rect">
            <a:avLst/>
          </a:prstGeom>
        </p:spPr>
        <p:txBody>
          <a:bodyPr lIns="0" tIns="0" rIns="0" bIns="0" rtlCol="0" anchor="t">
            <a:spAutoFit/>
          </a:bodyPr>
          <a:lstStyle/>
          <a:p>
            <a:pPr algn="l">
              <a:lnSpc>
                <a:spcPts val="4751"/>
              </a:lnSpc>
            </a:pPr>
            <a:r>
              <a:rPr lang="en-US" sz="3712" spc="-92">
                <a:solidFill>
                  <a:srgbClr val="383838"/>
                </a:solidFill>
                <a:latin typeface="Decalotype"/>
                <a:ea typeface="Decalotype"/>
                <a:cs typeface="Decalotype"/>
                <a:sym typeface="Decalotype"/>
              </a:rPr>
              <a:t>Database per Service là nguyên tắc mỗi microservice sở hữu database riêng và giao tiếp với nhau thông qua API hoặc message để tăng tính độc lập và khả năng mở rộng. Hệ thống sử dụng:</a:t>
            </a:r>
          </a:p>
          <a:p>
            <a:pPr algn="l">
              <a:lnSpc>
                <a:spcPts val="4751"/>
              </a:lnSpc>
            </a:pPr>
            <a:endParaRPr lang="en-US" sz="3712" spc="-92">
              <a:solidFill>
                <a:srgbClr val="383838"/>
              </a:solidFill>
              <a:latin typeface="Decalotype"/>
              <a:ea typeface="Decalotype"/>
              <a:cs typeface="Decalotype"/>
              <a:sym typeface="Decalotype"/>
            </a:endParaRPr>
          </a:p>
          <a:p>
            <a:pPr marL="801463" lvl="1" indent="-400732" algn="l">
              <a:lnSpc>
                <a:spcPts val="4751"/>
              </a:lnSpc>
              <a:buFont typeface="Arial"/>
              <a:buChar char="•"/>
            </a:pPr>
            <a:r>
              <a:rPr lang="en-US" sz="3712" spc="-92">
                <a:solidFill>
                  <a:srgbClr val="383838"/>
                </a:solidFill>
                <a:latin typeface="Decalotype"/>
                <a:ea typeface="Decalotype"/>
                <a:cs typeface="Decalotype"/>
                <a:sym typeface="Decalotype"/>
              </a:rPr>
              <a:t>PostgreSQL cho Auth, Payment, Order và Inventory Service do yêu cầu ACID và transaction chính xác</a:t>
            </a:r>
          </a:p>
          <a:p>
            <a:pPr algn="l">
              <a:lnSpc>
                <a:spcPts val="4751"/>
              </a:lnSpc>
            </a:pPr>
            <a:endParaRPr lang="en-US" sz="3712" spc="-92">
              <a:solidFill>
                <a:srgbClr val="383838"/>
              </a:solidFill>
              <a:latin typeface="Decalotype"/>
              <a:ea typeface="Decalotype"/>
              <a:cs typeface="Decalotype"/>
              <a:sym typeface="Decalotype"/>
            </a:endParaRPr>
          </a:p>
          <a:p>
            <a:pPr marL="801463" lvl="1" indent="-400732" algn="l">
              <a:lnSpc>
                <a:spcPts val="4751"/>
              </a:lnSpc>
              <a:buFont typeface="Arial"/>
              <a:buChar char="•"/>
            </a:pPr>
            <a:r>
              <a:rPr lang="en-US" sz="3712" spc="-92">
                <a:solidFill>
                  <a:srgbClr val="383838"/>
                </a:solidFill>
                <a:latin typeface="Decalotype"/>
                <a:ea typeface="Decalotype"/>
                <a:cs typeface="Decalotype"/>
                <a:sym typeface="Decalotype"/>
              </a:rPr>
              <a:t>MongoDB cho Product Service nhờ schema linh hoạt</a:t>
            </a:r>
          </a:p>
          <a:p>
            <a:pPr algn="l">
              <a:lnSpc>
                <a:spcPts val="4751"/>
              </a:lnSpc>
            </a:pPr>
            <a:endParaRPr lang="en-US" sz="3712" spc="-92">
              <a:solidFill>
                <a:srgbClr val="383838"/>
              </a:solidFill>
              <a:latin typeface="Decalotype"/>
              <a:ea typeface="Decalotype"/>
              <a:cs typeface="Decalotype"/>
              <a:sym typeface="Decalotype"/>
            </a:endParaRPr>
          </a:p>
          <a:p>
            <a:pPr marL="801463" lvl="1" indent="-400732" algn="l">
              <a:lnSpc>
                <a:spcPts val="4751"/>
              </a:lnSpc>
              <a:buFont typeface="Arial"/>
              <a:buChar char="•"/>
            </a:pPr>
            <a:r>
              <a:rPr lang="en-US" sz="3712" spc="-92">
                <a:solidFill>
                  <a:srgbClr val="383838"/>
                </a:solidFill>
                <a:latin typeface="Decalotype"/>
                <a:ea typeface="Decalotype"/>
                <a:cs typeface="Decalotype"/>
                <a:sym typeface="Decalotype"/>
              </a:rPr>
              <a:t>MySQL cho User Service để tối ưu truy vấn và mở rộng dữ liệu người dùng.</a:t>
            </a:r>
          </a:p>
        </p:txBody>
      </p:sp>
      <p:sp>
        <p:nvSpPr>
          <p:cNvPr id="6" name="TextBox 6"/>
          <p:cNvSpPr txBox="1"/>
          <p:nvPr/>
        </p:nvSpPr>
        <p:spPr>
          <a:xfrm>
            <a:off x="11239011" y="9513316"/>
            <a:ext cx="4484092" cy="436245"/>
          </a:xfrm>
          <a:prstGeom prst="rect">
            <a:avLst/>
          </a:prstGeom>
        </p:spPr>
        <p:txBody>
          <a:bodyPr lIns="0" tIns="0" rIns="0" bIns="0" rtlCol="0" anchor="t">
            <a:spAutoFit/>
          </a:bodyPr>
          <a:lstStyle/>
          <a:p>
            <a:pPr algn="ctr">
              <a:lnSpc>
                <a:spcPts val="3566"/>
              </a:lnSpc>
              <a:spcBef>
                <a:spcPct val="0"/>
              </a:spcBef>
            </a:pPr>
            <a:r>
              <a:rPr lang="en-US" sz="2459" i="1">
                <a:solidFill>
                  <a:srgbClr val="383838"/>
                </a:solidFill>
                <a:latin typeface="Decalotype Italics"/>
                <a:ea typeface="Decalotype Italics"/>
                <a:cs typeface="Decalotype Italics"/>
                <a:sym typeface="Decalotype Italics"/>
              </a:rPr>
              <a:t> Hình 20: Quy tắc Database per service </a:t>
            </a:r>
          </a:p>
        </p:txBody>
      </p:sp>
    </p:spTree>
  </p:cSld>
  <p:clrMapOvr>
    <a:masterClrMapping/>
  </p:clrMapOvr>
  <p:transition>
    <p:push/>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235794" y="4673562"/>
            <a:ext cx="8997421" cy="4584738"/>
          </a:xfrm>
          <a:custGeom>
            <a:avLst/>
            <a:gdLst/>
            <a:ahLst/>
            <a:cxnLst/>
            <a:rect l="l" t="t" r="r" b="b"/>
            <a:pathLst>
              <a:path w="8997421" h="4584738">
                <a:moveTo>
                  <a:pt x="0" y="0"/>
                </a:moveTo>
                <a:lnTo>
                  <a:pt x="8997421" y="0"/>
                </a:lnTo>
                <a:lnTo>
                  <a:pt x="8997421" y="4584738"/>
                </a:lnTo>
                <a:lnTo>
                  <a:pt x="0" y="458473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50880" y="195781"/>
            <a:ext cx="179371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Compoment Diagram</a:t>
            </a:r>
          </a:p>
        </p:txBody>
      </p:sp>
      <p:sp>
        <p:nvSpPr>
          <p:cNvPr id="5" name="TextBox 5"/>
          <p:cNvSpPr txBox="1"/>
          <p:nvPr/>
        </p:nvSpPr>
        <p:spPr>
          <a:xfrm>
            <a:off x="2390751" y="1470063"/>
            <a:ext cx="12224355" cy="3203500"/>
          </a:xfrm>
          <a:prstGeom prst="rect">
            <a:avLst/>
          </a:prstGeom>
        </p:spPr>
        <p:txBody>
          <a:bodyPr lIns="0" tIns="0" rIns="0" bIns="0" rtlCol="0" anchor="t">
            <a:spAutoFit/>
          </a:bodyPr>
          <a:lstStyle/>
          <a:p>
            <a:pPr algn="l">
              <a:lnSpc>
                <a:spcPts val="3209"/>
              </a:lnSpc>
            </a:pPr>
            <a:r>
              <a:rPr lang="en-US" sz="2507" spc="-62">
                <a:solidFill>
                  <a:srgbClr val="383838"/>
                </a:solidFill>
                <a:latin typeface="Decalotype"/>
                <a:ea typeface="Decalotype"/>
                <a:cs typeface="Decalotype"/>
                <a:sym typeface="Decalotype"/>
              </a:rPr>
              <a:t>Component Diagram mô tả cấu trúc bên trong của một container và cách các component tương tác với nhau.</a:t>
            </a:r>
          </a:p>
          <a:p>
            <a:pPr algn="l">
              <a:lnSpc>
                <a:spcPts val="3209"/>
              </a:lnSpc>
            </a:pPr>
            <a:r>
              <a:rPr lang="en-US" sz="2507" spc="-62">
                <a:solidFill>
                  <a:srgbClr val="383838"/>
                </a:solidFill>
                <a:latin typeface="Decalotype"/>
                <a:ea typeface="Decalotype"/>
                <a:cs typeface="Decalotype"/>
                <a:sym typeface="Decalotype"/>
              </a:rPr>
              <a:t>Các component thường là controller, service, repository hoặc module xử lý nghiệp vụ, mỗi component đảm nhận một chức năng riêng biệt.</a:t>
            </a:r>
          </a:p>
          <a:p>
            <a:pPr algn="l">
              <a:lnSpc>
                <a:spcPts val="3209"/>
              </a:lnSpc>
            </a:pPr>
            <a:r>
              <a:rPr lang="en-US" sz="2507" spc="-62">
                <a:solidFill>
                  <a:srgbClr val="383838"/>
                </a:solidFill>
                <a:latin typeface="Decalotype"/>
                <a:ea typeface="Decalotype"/>
                <a:cs typeface="Decalotype"/>
                <a:sym typeface="Decalotype"/>
              </a:rPr>
              <a:t>Sơ đồ giúp thể hiện:</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Chức năng của từng component</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Mối quan hệ giữa các component</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Cách component giao tiếp với các container hoặc hệ thống bên ngoài.</a:t>
            </a:r>
          </a:p>
          <a:p>
            <a:pPr algn="l">
              <a:lnSpc>
                <a:spcPts val="3209"/>
              </a:lnSpc>
            </a:pPr>
            <a:endParaRPr lang="en-US" sz="2507" spc="-62">
              <a:solidFill>
                <a:srgbClr val="383838"/>
              </a:solidFill>
              <a:latin typeface="Decalotype"/>
              <a:ea typeface="Decalotype"/>
              <a:cs typeface="Decalotype"/>
              <a:sym typeface="Decalotype"/>
            </a:endParaRPr>
          </a:p>
        </p:txBody>
      </p:sp>
      <p:sp>
        <p:nvSpPr>
          <p:cNvPr id="6" name="TextBox 6"/>
          <p:cNvSpPr txBox="1"/>
          <p:nvPr/>
        </p:nvSpPr>
        <p:spPr>
          <a:xfrm>
            <a:off x="7224585" y="9560941"/>
            <a:ext cx="4189710" cy="438202"/>
          </a:xfrm>
          <a:prstGeom prst="rect">
            <a:avLst/>
          </a:prstGeom>
        </p:spPr>
        <p:txBody>
          <a:bodyPr lIns="0" tIns="0" rIns="0" bIns="0" rtlCol="0" anchor="t">
            <a:spAutoFit/>
          </a:bodyPr>
          <a:lstStyle/>
          <a:p>
            <a:pPr algn="ctr">
              <a:lnSpc>
                <a:spcPts val="3593"/>
              </a:lnSpc>
              <a:spcBef>
                <a:spcPct val="0"/>
              </a:spcBef>
            </a:pPr>
            <a:r>
              <a:rPr lang="en-US" sz="2807" i="1" spc="-70">
                <a:solidFill>
                  <a:srgbClr val="383838"/>
                </a:solidFill>
                <a:latin typeface="Decalotype Italics"/>
                <a:ea typeface="Decalotype Italics"/>
                <a:cs typeface="Decalotype Italics"/>
                <a:sym typeface="Decalotype Italics"/>
              </a:rPr>
              <a:t> Hình 21:  Compoment Diagram C1 </a:t>
            </a:r>
          </a:p>
        </p:txBody>
      </p:sp>
    </p:spTree>
  </p:cSld>
  <p:clrMapOvr>
    <a:masterClrMapping/>
  </p:clrMapOvr>
  <p:transition>
    <p:push/>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395789" y="1790973"/>
          <a:ext cx="11496422" cy="2390775"/>
        </p:xfrm>
        <a:graphic>
          <a:graphicData uri="http://schemas.openxmlformats.org/drawingml/2006/table">
            <a:tbl>
              <a:tblPr/>
              <a:tblGrid>
                <a:gridCol w="11496422">
                  <a:extLst>
                    <a:ext uri="{9D8B030D-6E8A-4147-A177-3AD203B41FA5}">
                      <a16:colId xmlns:a16="http://schemas.microsoft.com/office/drawing/2014/main" val="20000"/>
                    </a:ext>
                  </a:extLst>
                </a:gridCol>
              </a:tblGrid>
              <a:tr h="2390775">
                <a:tc>
                  <a:txBody>
                    <a:bodyPr/>
                    <a:lstStyle/>
                    <a:p>
                      <a:pPr algn="ctr">
                        <a:lnSpc>
                          <a:spcPts val="13720"/>
                        </a:lnSpc>
                        <a:defRPr/>
                      </a:pPr>
                      <a:r>
                        <a:rPr lang="en-US" sz="9800" spc="-784">
                          <a:solidFill>
                            <a:srgbClr val="383838"/>
                          </a:solidFill>
                          <a:latin typeface="Roca Two"/>
                          <a:ea typeface="Roca Two"/>
                          <a:cs typeface="Roca Two"/>
                          <a:sym typeface="Roca Two"/>
                        </a:rPr>
                        <a:t>Chương 4</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4166129" y="5048250"/>
            <a:ext cx="10499675"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Thiết kế hệ thống Microservices</a:t>
            </a:r>
          </a:p>
        </p:txBody>
      </p:sp>
    </p:spTree>
  </p:cSld>
  <p:clrMapOvr>
    <a:masterClrMapping/>
  </p:clrMapOvr>
  <p:transition>
    <p:push/>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8908315" y="1749960"/>
            <a:ext cx="6955965" cy="7293279"/>
          </a:xfrm>
          <a:custGeom>
            <a:avLst/>
            <a:gdLst/>
            <a:ahLst/>
            <a:cxnLst/>
            <a:rect l="l" t="t" r="r" b="b"/>
            <a:pathLst>
              <a:path w="6955965" h="7293279">
                <a:moveTo>
                  <a:pt x="0" y="0"/>
                </a:moveTo>
                <a:lnTo>
                  <a:pt x="6955965" y="0"/>
                </a:lnTo>
                <a:lnTo>
                  <a:pt x="6955965" y="7293279"/>
                </a:lnTo>
                <a:lnTo>
                  <a:pt x="0" y="729327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701511" y="608330"/>
            <a:ext cx="5358904" cy="755015"/>
          </a:xfrm>
          <a:prstGeom prst="rect">
            <a:avLst/>
          </a:prstGeom>
        </p:spPr>
        <p:txBody>
          <a:bodyPr lIns="0" tIns="0" rIns="0" bIns="0" rtlCol="0" anchor="t">
            <a:spAutoFit/>
          </a:bodyPr>
          <a:lstStyle/>
          <a:p>
            <a:pPr algn="ctr">
              <a:lnSpc>
                <a:spcPts val="6160"/>
              </a:lnSpc>
            </a:pPr>
            <a:r>
              <a:rPr lang="en-US" sz="4400" b="1">
                <a:solidFill>
                  <a:srgbClr val="000000"/>
                </a:solidFill>
                <a:latin typeface="Decalotype Bold"/>
                <a:ea typeface="Decalotype Bold"/>
                <a:cs typeface="Decalotype Bold"/>
                <a:sym typeface="Decalotype Bold"/>
              </a:rPr>
              <a:t>System Context Diagram</a:t>
            </a:r>
          </a:p>
        </p:txBody>
      </p:sp>
      <p:sp>
        <p:nvSpPr>
          <p:cNvPr id="4" name="TextBox 4"/>
          <p:cNvSpPr txBox="1"/>
          <p:nvPr/>
        </p:nvSpPr>
        <p:spPr>
          <a:xfrm>
            <a:off x="1028700" y="1985782"/>
            <a:ext cx="6704526" cy="4939029"/>
          </a:xfrm>
          <a:prstGeom prst="rect">
            <a:avLst/>
          </a:prstGeom>
        </p:spPr>
        <p:txBody>
          <a:bodyPr lIns="0" tIns="0" rIns="0" bIns="0" rtlCol="0" anchor="t">
            <a:spAutoFit/>
          </a:bodyPr>
          <a:lstStyle/>
          <a:p>
            <a:pPr algn="l">
              <a:lnSpc>
                <a:spcPts val="3920"/>
              </a:lnSpc>
            </a:pPr>
            <a:r>
              <a:rPr lang="en-US" sz="2800">
                <a:solidFill>
                  <a:srgbClr val="000000"/>
                </a:solidFill>
                <a:latin typeface="Decalotype"/>
                <a:ea typeface="Decalotype"/>
                <a:cs typeface="Decalotype"/>
                <a:sym typeface="Decalotype"/>
              </a:rPr>
              <a:t>Mô tả phạm vi tổng thể hệ thống</a:t>
            </a:r>
          </a:p>
          <a:p>
            <a:pPr algn="l">
              <a:lnSpc>
                <a:spcPts val="3920"/>
              </a:lnSpc>
            </a:pPr>
            <a:r>
              <a:rPr lang="en-US" sz="2800">
                <a:solidFill>
                  <a:srgbClr val="000000"/>
                </a:solidFill>
                <a:latin typeface="Decalotype"/>
                <a:ea typeface="Decalotype"/>
                <a:cs typeface="Decalotype"/>
                <a:sym typeface="Decalotype"/>
              </a:rPr>
              <a:t>Các actor:</a:t>
            </a:r>
          </a:p>
          <a:p>
            <a:pPr marL="604532" lvl="1" indent="-302266" algn="l">
              <a:lnSpc>
                <a:spcPts val="3920"/>
              </a:lnSpc>
              <a:buFont typeface="Arial"/>
              <a:buChar char="•"/>
            </a:pPr>
            <a:r>
              <a:rPr lang="en-US" sz="2800">
                <a:solidFill>
                  <a:srgbClr val="000000"/>
                </a:solidFill>
                <a:latin typeface="Decalotype"/>
                <a:ea typeface="Decalotype"/>
                <a:cs typeface="Decalotype"/>
                <a:sym typeface="Decalotype"/>
              </a:rPr>
              <a:t>Customer</a:t>
            </a:r>
          </a:p>
          <a:p>
            <a:pPr marL="604532" lvl="1" indent="-302266" algn="l">
              <a:lnSpc>
                <a:spcPts val="3920"/>
              </a:lnSpc>
              <a:buFont typeface="Arial"/>
              <a:buChar char="•"/>
            </a:pPr>
            <a:r>
              <a:rPr lang="en-US" sz="2800">
                <a:solidFill>
                  <a:srgbClr val="000000"/>
                </a:solidFill>
                <a:latin typeface="Decalotype"/>
                <a:ea typeface="Decalotype"/>
                <a:cs typeface="Decalotype"/>
                <a:sym typeface="Decalotype"/>
              </a:rPr>
              <a:t>Seller</a:t>
            </a:r>
          </a:p>
          <a:p>
            <a:pPr marL="604532" lvl="1" indent="-302266" algn="l">
              <a:lnSpc>
                <a:spcPts val="3920"/>
              </a:lnSpc>
              <a:buFont typeface="Arial"/>
              <a:buChar char="•"/>
            </a:pPr>
            <a:r>
              <a:rPr lang="en-US" sz="2800">
                <a:solidFill>
                  <a:srgbClr val="000000"/>
                </a:solidFill>
                <a:latin typeface="Decalotype"/>
                <a:ea typeface="Decalotype"/>
                <a:cs typeface="Decalotype"/>
                <a:sym typeface="Decalotype"/>
              </a:rPr>
              <a:t>Admin</a:t>
            </a:r>
          </a:p>
          <a:p>
            <a:pPr algn="l">
              <a:lnSpc>
                <a:spcPts val="3920"/>
              </a:lnSpc>
            </a:pPr>
            <a:r>
              <a:rPr lang="en-US" sz="2800">
                <a:solidFill>
                  <a:srgbClr val="000000"/>
                </a:solidFill>
                <a:latin typeface="Decalotype"/>
                <a:ea typeface="Decalotype"/>
                <a:cs typeface="Decalotype"/>
                <a:sym typeface="Decalotype"/>
              </a:rPr>
              <a:t>Kết nối với:</a:t>
            </a:r>
          </a:p>
          <a:p>
            <a:pPr marL="604532" lvl="1" indent="-302266" algn="l">
              <a:lnSpc>
                <a:spcPts val="3920"/>
              </a:lnSpc>
              <a:buFont typeface="Arial"/>
              <a:buChar char="•"/>
            </a:pPr>
            <a:r>
              <a:rPr lang="en-US" sz="2800">
                <a:solidFill>
                  <a:srgbClr val="000000"/>
                </a:solidFill>
                <a:latin typeface="Decalotype"/>
                <a:ea typeface="Decalotype"/>
                <a:cs typeface="Decalotype"/>
                <a:sym typeface="Decalotype"/>
              </a:rPr>
              <a:t>Payment Gateway</a:t>
            </a:r>
          </a:p>
          <a:p>
            <a:pPr marL="604532" lvl="1" indent="-302266" algn="l">
              <a:lnSpc>
                <a:spcPts val="3920"/>
              </a:lnSpc>
              <a:buFont typeface="Arial"/>
              <a:buChar char="•"/>
            </a:pPr>
            <a:r>
              <a:rPr lang="en-US" sz="2800">
                <a:solidFill>
                  <a:srgbClr val="000000"/>
                </a:solidFill>
                <a:latin typeface="Decalotype"/>
                <a:ea typeface="Decalotype"/>
                <a:cs typeface="Decalotype"/>
                <a:sym typeface="Decalotype"/>
              </a:rPr>
              <a:t>Cloudinary</a:t>
            </a:r>
          </a:p>
          <a:p>
            <a:pPr marL="604532" lvl="1" indent="-302266" algn="l">
              <a:lnSpc>
                <a:spcPts val="3920"/>
              </a:lnSpc>
              <a:buFont typeface="Arial"/>
              <a:buChar char="•"/>
            </a:pPr>
            <a:r>
              <a:rPr lang="en-US" sz="2800">
                <a:solidFill>
                  <a:srgbClr val="000000"/>
                </a:solidFill>
                <a:latin typeface="Decalotype"/>
                <a:ea typeface="Decalotype"/>
                <a:cs typeface="Decalotype"/>
                <a:sym typeface="Decalotype"/>
              </a:rPr>
              <a:t>AI Agent</a:t>
            </a:r>
          </a:p>
          <a:p>
            <a:pPr marL="604532" lvl="1" indent="-302266" algn="l">
              <a:lnSpc>
                <a:spcPts val="3920"/>
              </a:lnSpc>
              <a:buFont typeface="Arial"/>
              <a:buChar char="•"/>
            </a:pPr>
            <a:r>
              <a:rPr lang="en-US" sz="2800">
                <a:solidFill>
                  <a:srgbClr val="000000"/>
                </a:solidFill>
                <a:latin typeface="Decalotype"/>
                <a:ea typeface="Decalotype"/>
                <a:cs typeface="Decalotype"/>
                <a:sym typeface="Decalotype"/>
              </a:rPr>
              <a:t>Luồng dữ liệu giữa hệ thống và bên ngoài</a:t>
            </a:r>
          </a:p>
        </p:txBody>
      </p:sp>
      <p:sp>
        <p:nvSpPr>
          <p:cNvPr id="5" name="TextBox 5"/>
          <p:cNvSpPr txBox="1"/>
          <p:nvPr/>
        </p:nvSpPr>
        <p:spPr>
          <a:xfrm>
            <a:off x="10821918" y="9248775"/>
            <a:ext cx="3965674" cy="321489"/>
          </a:xfrm>
          <a:prstGeom prst="rect">
            <a:avLst/>
          </a:prstGeom>
        </p:spPr>
        <p:txBody>
          <a:bodyPr lIns="0" tIns="0" rIns="0" bIns="0" rtlCol="0" anchor="t">
            <a:spAutoFit/>
          </a:bodyPr>
          <a:lstStyle/>
          <a:p>
            <a:pPr algn="ctr">
              <a:lnSpc>
                <a:spcPts val="2697"/>
              </a:lnSpc>
              <a:spcBef>
                <a:spcPct val="0"/>
              </a:spcBef>
            </a:pPr>
            <a:r>
              <a:rPr lang="en-US" sz="2107" i="1" spc="-52">
                <a:solidFill>
                  <a:srgbClr val="000000"/>
                </a:solidFill>
                <a:latin typeface="Noto Sans Italics"/>
                <a:ea typeface="Noto Sans Italics"/>
                <a:cs typeface="Noto Sans Italics"/>
                <a:sym typeface="Noto Sans Italics"/>
              </a:rPr>
              <a:t> Hình 22: System Context Diagram  </a:t>
            </a:r>
          </a:p>
        </p:txBody>
      </p:sp>
    </p:spTree>
  </p:cSld>
  <p:clrMapOvr>
    <a:masterClrMapping/>
  </p:clrMapOvr>
  <p:transition>
    <p:push/>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9108446" y="1698723"/>
            <a:ext cx="7696511" cy="6159464"/>
          </a:xfrm>
          <a:custGeom>
            <a:avLst/>
            <a:gdLst/>
            <a:ahLst/>
            <a:cxnLst/>
            <a:rect l="l" t="t" r="r" b="b"/>
            <a:pathLst>
              <a:path w="7696511" h="6159464">
                <a:moveTo>
                  <a:pt x="0" y="0"/>
                </a:moveTo>
                <a:lnTo>
                  <a:pt x="7696511" y="0"/>
                </a:lnTo>
                <a:lnTo>
                  <a:pt x="7696511" y="6159464"/>
                </a:lnTo>
                <a:lnTo>
                  <a:pt x="0" y="615946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877398" y="195781"/>
            <a:ext cx="5839824"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Container Diagram</a:t>
            </a:r>
          </a:p>
        </p:txBody>
      </p:sp>
      <p:sp>
        <p:nvSpPr>
          <p:cNvPr id="5" name="TextBox 5"/>
          <p:cNvSpPr txBox="1"/>
          <p:nvPr/>
        </p:nvSpPr>
        <p:spPr>
          <a:xfrm>
            <a:off x="1270241" y="1875216"/>
            <a:ext cx="7047777" cy="5982971"/>
          </a:xfrm>
          <a:prstGeom prst="rect">
            <a:avLst/>
          </a:prstGeom>
        </p:spPr>
        <p:txBody>
          <a:bodyPr lIns="0" tIns="0" rIns="0" bIns="0" rtlCol="0" anchor="t">
            <a:spAutoFit/>
          </a:bodyPr>
          <a:lstStyle/>
          <a:p>
            <a:pPr algn="just">
              <a:lnSpc>
                <a:spcPts val="4726"/>
              </a:lnSpc>
              <a:spcBef>
                <a:spcPct val="0"/>
              </a:spcBef>
            </a:pPr>
            <a:r>
              <a:rPr lang="en-US" sz="3259">
                <a:solidFill>
                  <a:srgbClr val="383838"/>
                </a:solidFill>
                <a:latin typeface="Decalotype"/>
                <a:ea typeface="Decalotype"/>
                <a:cs typeface="Decalotype"/>
                <a:sym typeface="Decalotype"/>
              </a:rPr>
              <a:t>Container Diagram mô tả các thành phần chính của hệ thống và cách chúng giao tiếp với nhau. Các container có thể là Frontend, Backend, Database hoặc các dịch vụ khác. Sơ đồ giúp thể hiện:</a:t>
            </a:r>
          </a:p>
          <a:p>
            <a:pPr marL="703826" lvl="1" indent="-351913" algn="just">
              <a:lnSpc>
                <a:spcPts val="4726"/>
              </a:lnSpc>
              <a:spcBef>
                <a:spcPct val="0"/>
              </a:spcBef>
              <a:buFont typeface="Arial"/>
              <a:buChar char="•"/>
            </a:pPr>
            <a:r>
              <a:rPr lang="en-US" sz="3259">
                <a:solidFill>
                  <a:srgbClr val="383838"/>
                </a:solidFill>
                <a:latin typeface="Decalotype"/>
                <a:ea typeface="Decalotype"/>
                <a:cs typeface="Decalotype"/>
                <a:sym typeface="Decalotype"/>
              </a:rPr>
              <a:t>Công nghệ sử dụng</a:t>
            </a:r>
          </a:p>
          <a:p>
            <a:pPr marL="703826" lvl="1" indent="-351913" algn="just">
              <a:lnSpc>
                <a:spcPts val="4726"/>
              </a:lnSpc>
              <a:buFont typeface="Arial"/>
              <a:buChar char="•"/>
            </a:pPr>
            <a:r>
              <a:rPr lang="en-US" sz="3259">
                <a:solidFill>
                  <a:srgbClr val="383838"/>
                </a:solidFill>
                <a:latin typeface="Decalotype"/>
                <a:ea typeface="Decalotype"/>
                <a:cs typeface="Decalotype"/>
                <a:sym typeface="Decalotype"/>
              </a:rPr>
              <a:t>Mối quan hệ giữa các container</a:t>
            </a:r>
          </a:p>
          <a:p>
            <a:pPr marL="703826" lvl="1" indent="-351913" algn="just">
              <a:lnSpc>
                <a:spcPts val="4726"/>
              </a:lnSpc>
              <a:spcBef>
                <a:spcPct val="0"/>
              </a:spcBef>
              <a:buFont typeface="Arial"/>
              <a:buChar char="•"/>
            </a:pPr>
            <a:r>
              <a:rPr lang="en-US" sz="3259">
                <a:solidFill>
                  <a:srgbClr val="383838"/>
                </a:solidFill>
                <a:latin typeface="Decalotype"/>
                <a:ea typeface="Decalotype"/>
                <a:cs typeface="Decalotype"/>
                <a:sym typeface="Decalotype"/>
              </a:rPr>
              <a:t>Cách hệ thống tương tác với người dùng và dịch vụ bên ngoài.</a:t>
            </a:r>
          </a:p>
          <a:p>
            <a:pPr algn="just">
              <a:lnSpc>
                <a:spcPts val="4726"/>
              </a:lnSpc>
              <a:spcBef>
                <a:spcPct val="0"/>
              </a:spcBef>
            </a:pPr>
            <a:endParaRPr lang="en-US" sz="3259">
              <a:solidFill>
                <a:srgbClr val="383838"/>
              </a:solidFill>
              <a:latin typeface="Decalotype"/>
              <a:ea typeface="Decalotype"/>
              <a:cs typeface="Decalotype"/>
              <a:sym typeface="Decalotype"/>
            </a:endParaRPr>
          </a:p>
        </p:txBody>
      </p:sp>
      <p:sp>
        <p:nvSpPr>
          <p:cNvPr id="6" name="TextBox 6"/>
          <p:cNvSpPr txBox="1"/>
          <p:nvPr/>
        </p:nvSpPr>
        <p:spPr>
          <a:xfrm>
            <a:off x="11954499" y="8130896"/>
            <a:ext cx="3768527"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 Hình 23 : Container Diagram</a:t>
            </a:r>
          </a:p>
        </p:txBody>
      </p:sp>
    </p:spTree>
  </p:cSld>
  <p:clrMapOvr>
    <a:masterClrMapping/>
  </p:clrMapOvr>
  <p:transition>
    <p:push/>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8761705" y="2071039"/>
            <a:ext cx="8703153" cy="5787148"/>
          </a:xfrm>
          <a:custGeom>
            <a:avLst/>
            <a:gdLst/>
            <a:ahLst/>
            <a:cxnLst/>
            <a:rect l="l" t="t" r="r" b="b"/>
            <a:pathLst>
              <a:path w="8703153" h="5787148">
                <a:moveTo>
                  <a:pt x="0" y="0"/>
                </a:moveTo>
                <a:lnTo>
                  <a:pt x="8703153" y="0"/>
                </a:lnTo>
                <a:lnTo>
                  <a:pt x="8703153" y="5787148"/>
                </a:lnTo>
                <a:lnTo>
                  <a:pt x="0" y="578714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42762" y="588428"/>
            <a:ext cx="8302735"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Giao tiếp trong microservice</a:t>
            </a:r>
          </a:p>
        </p:txBody>
      </p:sp>
      <p:sp>
        <p:nvSpPr>
          <p:cNvPr id="5" name="TextBox 5"/>
          <p:cNvSpPr txBox="1"/>
          <p:nvPr/>
        </p:nvSpPr>
        <p:spPr>
          <a:xfrm>
            <a:off x="1270241" y="1875216"/>
            <a:ext cx="7047777" cy="5982971"/>
          </a:xfrm>
          <a:prstGeom prst="rect">
            <a:avLst/>
          </a:prstGeom>
        </p:spPr>
        <p:txBody>
          <a:bodyPr lIns="0" tIns="0" rIns="0" bIns="0" rtlCol="0" anchor="t">
            <a:spAutoFit/>
          </a:bodyPr>
          <a:lstStyle/>
          <a:p>
            <a:pPr algn="just">
              <a:lnSpc>
                <a:spcPts val="4726"/>
              </a:lnSpc>
              <a:spcBef>
                <a:spcPct val="0"/>
              </a:spcBef>
            </a:pPr>
            <a:r>
              <a:rPr lang="en-US" sz="3259">
                <a:solidFill>
                  <a:srgbClr val="383838"/>
                </a:solidFill>
                <a:latin typeface="Decalotype"/>
                <a:ea typeface="Decalotype"/>
                <a:cs typeface="Decalotype"/>
                <a:sym typeface="Decalotype"/>
              </a:rPr>
              <a:t>Trong kiến trúc Microservices, hệ thống được chia thành nhiều service nhỏ và giao tiếp với nhau để xử lý nghiệp vụ. Có hai hình thức giao tiếp chính:</a:t>
            </a:r>
          </a:p>
          <a:p>
            <a:pPr marL="703826" lvl="1" indent="-351913" algn="just">
              <a:lnSpc>
                <a:spcPts val="4726"/>
              </a:lnSpc>
              <a:spcBef>
                <a:spcPct val="0"/>
              </a:spcBef>
              <a:buFont typeface="Arial"/>
              <a:buChar char="•"/>
            </a:pPr>
            <a:r>
              <a:rPr lang="en-US" sz="3259">
                <a:solidFill>
                  <a:srgbClr val="383838"/>
                </a:solidFill>
                <a:latin typeface="Decalotype"/>
                <a:ea typeface="Decalotype"/>
                <a:cs typeface="Decalotype"/>
                <a:sym typeface="Decalotype"/>
              </a:rPr>
              <a:t>Giao tiếp đồng bộ (Synchronous)</a:t>
            </a:r>
          </a:p>
          <a:p>
            <a:pPr marL="703826" lvl="1" indent="-351913" algn="just">
              <a:lnSpc>
                <a:spcPts val="4726"/>
              </a:lnSpc>
              <a:buFont typeface="Arial"/>
              <a:buChar char="•"/>
            </a:pPr>
            <a:r>
              <a:rPr lang="en-US" sz="3259">
                <a:solidFill>
                  <a:srgbClr val="383838"/>
                </a:solidFill>
                <a:latin typeface="Decalotype"/>
                <a:ea typeface="Decalotype"/>
                <a:cs typeface="Decalotype"/>
                <a:sym typeface="Decalotype"/>
              </a:rPr>
              <a:t>Giao tiếp bất đồng bộ (Asynchronous)</a:t>
            </a:r>
          </a:p>
          <a:p>
            <a:pPr algn="just">
              <a:lnSpc>
                <a:spcPts val="4726"/>
              </a:lnSpc>
              <a:spcBef>
                <a:spcPct val="0"/>
              </a:spcBef>
            </a:pPr>
            <a:r>
              <a:rPr lang="en-US" sz="3259">
                <a:solidFill>
                  <a:srgbClr val="383838"/>
                </a:solidFill>
                <a:latin typeface="Decalotype"/>
                <a:ea typeface="Decalotype"/>
                <a:cs typeface="Decalotype"/>
                <a:sym typeface="Decalotype"/>
              </a:rPr>
              <a:t>Trong hệ thống thương mại điện tử, cả hai được sử dụng để đảm bảo hiệu năng, tính ổn định và khả năng mở rộng hệ thống.</a:t>
            </a:r>
          </a:p>
          <a:p>
            <a:pPr algn="just">
              <a:lnSpc>
                <a:spcPts val="4726"/>
              </a:lnSpc>
              <a:spcBef>
                <a:spcPct val="0"/>
              </a:spcBef>
            </a:pPr>
            <a:endParaRPr lang="en-US" sz="3259">
              <a:solidFill>
                <a:srgbClr val="383838"/>
              </a:solidFill>
              <a:latin typeface="Decalotype"/>
              <a:ea typeface="Decalotype"/>
              <a:cs typeface="Decalotype"/>
              <a:sym typeface="Decalotype"/>
            </a:endParaRPr>
          </a:p>
        </p:txBody>
      </p:sp>
      <p:sp>
        <p:nvSpPr>
          <p:cNvPr id="6" name="TextBox 6"/>
          <p:cNvSpPr txBox="1"/>
          <p:nvPr/>
        </p:nvSpPr>
        <p:spPr>
          <a:xfrm>
            <a:off x="11380271" y="8130896"/>
            <a:ext cx="4916984"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 Hình 24 : Giao tiếp trong microservice</a:t>
            </a:r>
          </a:p>
        </p:txBody>
      </p:sp>
    </p:spTree>
  </p:cSld>
  <p:clrMapOvr>
    <a:masterClrMapping/>
  </p:clrMapOvr>
  <p:transition>
    <p:push/>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8579892" y="2358357"/>
            <a:ext cx="8555015" cy="5570286"/>
          </a:xfrm>
          <a:custGeom>
            <a:avLst/>
            <a:gdLst/>
            <a:ahLst/>
            <a:cxnLst/>
            <a:rect l="l" t="t" r="r" b="b"/>
            <a:pathLst>
              <a:path w="8555015" h="5570286">
                <a:moveTo>
                  <a:pt x="0" y="0"/>
                </a:moveTo>
                <a:lnTo>
                  <a:pt x="8555016" y="0"/>
                </a:lnTo>
                <a:lnTo>
                  <a:pt x="8555016" y="5570286"/>
                </a:lnTo>
                <a:lnTo>
                  <a:pt x="0" y="557028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RESTful API trong kiến trúc Microservices</a:t>
            </a:r>
          </a:p>
        </p:txBody>
      </p:sp>
      <p:sp>
        <p:nvSpPr>
          <p:cNvPr id="5" name="TextBox 5"/>
          <p:cNvSpPr txBox="1"/>
          <p:nvPr/>
        </p:nvSpPr>
        <p:spPr>
          <a:xfrm>
            <a:off x="1270241" y="1865691"/>
            <a:ext cx="6484370" cy="7210425"/>
          </a:xfrm>
          <a:prstGeom prst="rect">
            <a:avLst/>
          </a:prstGeom>
        </p:spPr>
        <p:txBody>
          <a:bodyPr lIns="0" tIns="0" rIns="0" bIns="0" rtlCol="0" anchor="t">
            <a:spAutoFit/>
          </a:bodyPr>
          <a:lstStyle/>
          <a:p>
            <a:pPr marL="777238" lvl="1" indent="-388619" algn="l">
              <a:lnSpc>
                <a:spcPts val="5219"/>
              </a:lnSpc>
              <a:buFont typeface="Arial"/>
              <a:buChar char="•"/>
            </a:pPr>
            <a:r>
              <a:rPr lang="en-US" sz="3599">
                <a:solidFill>
                  <a:srgbClr val="383838"/>
                </a:solidFill>
                <a:latin typeface="Decalotype"/>
                <a:ea typeface="Decalotype"/>
                <a:cs typeface="Decalotype"/>
                <a:sym typeface="Decalotype"/>
              </a:rPr>
              <a:t>RESTful API là cơ chế giao tiếp giữa Client và Server qua HTTP/HTTPS, sử dụng các phương thức như GET, POST, PUT, DELETE và dữ liệu dạng JSON/XML.</a:t>
            </a:r>
          </a:p>
          <a:p>
            <a:pPr marL="777238" lvl="1" indent="-388619" algn="l">
              <a:lnSpc>
                <a:spcPts val="5219"/>
              </a:lnSpc>
              <a:buFont typeface="Arial"/>
              <a:buChar char="•"/>
            </a:pPr>
            <a:r>
              <a:rPr lang="en-US" sz="3599">
                <a:solidFill>
                  <a:srgbClr val="383838"/>
                </a:solidFill>
                <a:latin typeface="Decalotype"/>
                <a:ea typeface="Decalotype"/>
                <a:cs typeface="Decalotype"/>
                <a:sym typeface="Decalotype"/>
              </a:rPr>
              <a:t>Trong hệ thống Shop Micro, RESTful API giúp kết nối các Microservices một cách chuẩn hóa và bảo mật.</a:t>
            </a:r>
          </a:p>
          <a:p>
            <a:pPr algn="l">
              <a:lnSpc>
                <a:spcPts val="5219"/>
              </a:lnSpc>
            </a:pPr>
            <a:endParaRPr lang="en-US" sz="3599">
              <a:solidFill>
                <a:srgbClr val="383838"/>
              </a:solidFill>
              <a:latin typeface="Decalotype"/>
              <a:ea typeface="Decalotype"/>
              <a:cs typeface="Decalotype"/>
              <a:sym typeface="Decalotype"/>
            </a:endParaRPr>
          </a:p>
        </p:txBody>
      </p:sp>
      <p:sp>
        <p:nvSpPr>
          <p:cNvPr id="6" name="TextBox 6"/>
          <p:cNvSpPr txBox="1"/>
          <p:nvPr/>
        </p:nvSpPr>
        <p:spPr>
          <a:xfrm>
            <a:off x="9875878" y="8345957"/>
            <a:ext cx="6563717"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 Hình 25 : RESTful API trong kiến trúc Microservices </a:t>
            </a:r>
          </a:p>
        </p:txBody>
      </p:sp>
    </p:spTree>
  </p:cSld>
  <p:clrMapOvr>
    <a:masterClrMapping/>
  </p:clrMapOvr>
  <p:transition>
    <p:push/>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9080540" y="1725900"/>
            <a:ext cx="8054368" cy="6835201"/>
          </a:xfrm>
          <a:custGeom>
            <a:avLst/>
            <a:gdLst/>
            <a:ahLst/>
            <a:cxnLst/>
            <a:rect l="l" t="t" r="r" b="b"/>
            <a:pathLst>
              <a:path w="8054368" h="6835201">
                <a:moveTo>
                  <a:pt x="0" y="0"/>
                </a:moveTo>
                <a:lnTo>
                  <a:pt x="8054368" y="0"/>
                </a:lnTo>
                <a:lnTo>
                  <a:pt x="8054368" y="6835200"/>
                </a:lnTo>
                <a:lnTo>
                  <a:pt x="0" y="683520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Triển khai hệ thống</a:t>
            </a:r>
          </a:p>
        </p:txBody>
      </p:sp>
      <p:sp>
        <p:nvSpPr>
          <p:cNvPr id="5" name="TextBox 5"/>
          <p:cNvSpPr txBox="1"/>
          <p:nvPr/>
        </p:nvSpPr>
        <p:spPr>
          <a:xfrm>
            <a:off x="1289291" y="1884741"/>
            <a:ext cx="6484370" cy="7715250"/>
          </a:xfrm>
          <a:prstGeom prst="rect">
            <a:avLst/>
          </a:prstGeom>
        </p:spPr>
        <p:txBody>
          <a:bodyPr lIns="0" tIns="0" rIns="0" bIns="0" rtlCol="0" anchor="t">
            <a:spAutoFit/>
          </a:bodyPr>
          <a:lstStyle/>
          <a:p>
            <a:pPr algn="l">
              <a:lnSpc>
                <a:spcPts val="4350"/>
              </a:lnSpc>
            </a:pPr>
            <a:r>
              <a:rPr lang="en-US" sz="3000">
                <a:solidFill>
                  <a:srgbClr val="383838"/>
                </a:solidFill>
                <a:latin typeface="Decalotype"/>
                <a:ea typeface="Decalotype"/>
                <a:cs typeface="Decalotype"/>
                <a:sym typeface="Decalotype"/>
              </a:rPr>
              <a:t>Docker giúp đóng gói và chạy ứng dụng ổn định trên nhiều môi trường.</a:t>
            </a:r>
          </a:p>
          <a:p>
            <a:pPr algn="l">
              <a:lnSpc>
                <a:spcPts val="4350"/>
              </a:lnSpc>
              <a:spcBef>
                <a:spcPct val="0"/>
              </a:spcBef>
            </a:pPr>
            <a:r>
              <a:rPr lang="en-US" sz="3000">
                <a:solidFill>
                  <a:srgbClr val="383838"/>
                </a:solidFill>
                <a:latin typeface="Decalotype"/>
                <a:ea typeface="Decalotype"/>
                <a:cs typeface="Decalotype"/>
                <a:sym typeface="Decalotype"/>
              </a:rPr>
              <a:t>Hệ thống sử dụng kiến trúc Microservices, các service giao tiếp qua REST API hoặc Message Queue.</a:t>
            </a:r>
          </a:p>
          <a:p>
            <a:pPr algn="l">
              <a:lnSpc>
                <a:spcPts val="4350"/>
              </a:lnSpc>
              <a:spcBef>
                <a:spcPct val="0"/>
              </a:spcBef>
            </a:pPr>
            <a:r>
              <a:rPr lang="en-US" sz="3000">
                <a:solidFill>
                  <a:srgbClr val="383838"/>
                </a:solidFill>
                <a:latin typeface="Decalotype"/>
                <a:ea typeface="Decalotype"/>
                <a:cs typeface="Decalotype"/>
                <a:sym typeface="Decalotype"/>
              </a:rPr>
              <a:t>Quy trình triển khai:</a:t>
            </a:r>
          </a:p>
          <a:p>
            <a:pPr marL="647702" lvl="1" indent="-323851" algn="l">
              <a:lnSpc>
                <a:spcPts val="4350"/>
              </a:lnSpc>
              <a:spcBef>
                <a:spcPct val="0"/>
              </a:spcBef>
              <a:buFont typeface="Arial"/>
              <a:buChar char="•"/>
            </a:pPr>
            <a:r>
              <a:rPr lang="en-US" sz="3000">
                <a:solidFill>
                  <a:srgbClr val="383838"/>
                </a:solidFill>
                <a:latin typeface="Decalotype"/>
                <a:ea typeface="Decalotype"/>
                <a:cs typeface="Decalotype"/>
                <a:sym typeface="Decalotype"/>
              </a:rPr>
              <a:t>Viết mã nguồn cho từng service</a:t>
            </a:r>
          </a:p>
          <a:p>
            <a:pPr marL="647702" lvl="1" indent="-323851" algn="l">
              <a:lnSpc>
                <a:spcPts val="4350"/>
              </a:lnSpc>
              <a:spcBef>
                <a:spcPct val="0"/>
              </a:spcBef>
              <a:buFont typeface="Arial"/>
              <a:buChar char="•"/>
            </a:pPr>
            <a:r>
              <a:rPr lang="en-US" sz="3000">
                <a:solidFill>
                  <a:srgbClr val="383838"/>
                </a:solidFill>
                <a:latin typeface="Decalotype"/>
                <a:ea typeface="Decalotype"/>
                <a:cs typeface="Decalotype"/>
                <a:sym typeface="Decalotype"/>
              </a:rPr>
              <a:t>Tạo Dockerfile để build Docker Image</a:t>
            </a:r>
          </a:p>
          <a:p>
            <a:pPr marL="647702" lvl="1" indent="-323851" algn="l">
              <a:lnSpc>
                <a:spcPts val="4350"/>
              </a:lnSpc>
              <a:spcBef>
                <a:spcPct val="0"/>
              </a:spcBef>
              <a:buFont typeface="Arial"/>
              <a:buChar char="•"/>
            </a:pPr>
            <a:r>
              <a:rPr lang="en-US" sz="3000">
                <a:solidFill>
                  <a:srgbClr val="383838"/>
                </a:solidFill>
                <a:latin typeface="Decalotype"/>
                <a:ea typeface="Decalotype"/>
                <a:cs typeface="Decalotype"/>
                <a:sym typeface="Decalotype"/>
              </a:rPr>
              <a:t>Dùng docker-compose up --build để build và chạy container</a:t>
            </a:r>
          </a:p>
          <a:p>
            <a:pPr marL="647702" lvl="1" indent="-323851" algn="l">
              <a:lnSpc>
                <a:spcPts val="4350"/>
              </a:lnSpc>
              <a:spcBef>
                <a:spcPct val="0"/>
              </a:spcBef>
              <a:buFont typeface="Arial"/>
              <a:buChar char="•"/>
            </a:pPr>
            <a:r>
              <a:rPr lang="en-US" sz="3000">
                <a:solidFill>
                  <a:srgbClr val="383838"/>
                </a:solidFill>
                <a:latin typeface="Decalotype"/>
                <a:ea typeface="Decalotype"/>
                <a:cs typeface="Decalotype"/>
                <a:sym typeface="Decalotype"/>
              </a:rPr>
              <a:t>Các container hoạt động độc lập nhưng vẫn giao tiếp với nhau trong hệ thống.</a:t>
            </a:r>
          </a:p>
          <a:p>
            <a:pPr algn="l">
              <a:lnSpc>
                <a:spcPts val="4350"/>
              </a:lnSpc>
            </a:pPr>
            <a:endParaRPr lang="en-US" sz="3000">
              <a:solidFill>
                <a:srgbClr val="383838"/>
              </a:solidFill>
              <a:latin typeface="Decalotype"/>
              <a:ea typeface="Decalotype"/>
              <a:cs typeface="Decalotype"/>
              <a:sym typeface="Decalotype"/>
            </a:endParaRPr>
          </a:p>
          <a:p>
            <a:pPr algn="l">
              <a:lnSpc>
                <a:spcPts val="4350"/>
              </a:lnSpc>
            </a:pPr>
            <a:endParaRPr lang="en-US" sz="3000">
              <a:solidFill>
                <a:srgbClr val="383838"/>
              </a:solidFill>
              <a:latin typeface="Decalotype"/>
              <a:ea typeface="Decalotype"/>
              <a:cs typeface="Decalotype"/>
              <a:sym typeface="Decalotype"/>
            </a:endParaRPr>
          </a:p>
        </p:txBody>
      </p:sp>
      <p:sp>
        <p:nvSpPr>
          <p:cNvPr id="6" name="TextBox 6"/>
          <p:cNvSpPr txBox="1"/>
          <p:nvPr/>
        </p:nvSpPr>
        <p:spPr>
          <a:xfrm>
            <a:off x="11664725" y="8744051"/>
            <a:ext cx="3774579"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 Hình 26 : Triển khai hệ thống</a:t>
            </a:r>
          </a:p>
        </p:txBody>
      </p:sp>
    </p:spTree>
  </p:cSld>
  <p:clrMapOvr>
    <a:masterClrMapping/>
  </p:clrMapOvr>
  <p:transition>
    <p:push/>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364287" y="5501485"/>
            <a:ext cx="13559427" cy="2621842"/>
          </a:xfrm>
          <a:custGeom>
            <a:avLst/>
            <a:gdLst/>
            <a:ahLst/>
            <a:cxnLst/>
            <a:rect l="l" t="t" r="r" b="b"/>
            <a:pathLst>
              <a:path w="13559427" h="2621842">
                <a:moveTo>
                  <a:pt x="0" y="0"/>
                </a:moveTo>
                <a:lnTo>
                  <a:pt x="13559426" y="0"/>
                </a:lnTo>
                <a:lnTo>
                  <a:pt x="13559426" y="2621843"/>
                </a:lnTo>
                <a:lnTo>
                  <a:pt x="0" y="262184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CI-CD với github action</a:t>
            </a:r>
          </a:p>
        </p:txBody>
      </p:sp>
      <p:sp>
        <p:nvSpPr>
          <p:cNvPr id="5" name="TextBox 5"/>
          <p:cNvSpPr txBox="1"/>
          <p:nvPr/>
        </p:nvSpPr>
        <p:spPr>
          <a:xfrm>
            <a:off x="1815662" y="1777211"/>
            <a:ext cx="14656676" cy="3295650"/>
          </a:xfrm>
          <a:prstGeom prst="rect">
            <a:avLst/>
          </a:prstGeom>
        </p:spPr>
        <p:txBody>
          <a:bodyPr lIns="0" tIns="0" rIns="0" bIns="0" rtlCol="0" anchor="t">
            <a:spAutoFit/>
          </a:bodyPr>
          <a:lstStyle/>
          <a:p>
            <a:pPr algn="l">
              <a:lnSpc>
                <a:spcPts val="4350"/>
              </a:lnSpc>
            </a:pPr>
            <a:r>
              <a:rPr lang="en-US" sz="3000">
                <a:solidFill>
                  <a:srgbClr val="383838"/>
                </a:solidFill>
                <a:latin typeface="Decalotype"/>
                <a:ea typeface="Decalotype"/>
                <a:cs typeface="Decalotype"/>
                <a:sym typeface="Decalotype"/>
              </a:rPr>
              <a:t>Hệ thống CI/CD giúp tự động hóa quá trình kiểm thử và triển khai ứng dụng.</a:t>
            </a:r>
          </a:p>
          <a:p>
            <a:pPr algn="l">
              <a:lnSpc>
                <a:spcPts val="4350"/>
              </a:lnSpc>
            </a:pPr>
            <a:r>
              <a:rPr lang="en-US" sz="3000">
                <a:solidFill>
                  <a:srgbClr val="383838"/>
                </a:solidFill>
                <a:latin typeface="Decalotype"/>
                <a:ea typeface="Decalotype"/>
                <a:cs typeface="Decalotype"/>
                <a:sym typeface="Decalotype"/>
              </a:rPr>
              <a:t>Hệ thống sử dụng:</a:t>
            </a:r>
          </a:p>
          <a:p>
            <a:pPr marL="647702" lvl="1" indent="-323851" algn="l">
              <a:lnSpc>
                <a:spcPts val="4350"/>
              </a:lnSpc>
              <a:spcBef>
                <a:spcPct val="0"/>
              </a:spcBef>
              <a:buFont typeface="Arial"/>
              <a:buChar char="•"/>
            </a:pPr>
            <a:r>
              <a:rPr lang="en-US" sz="3000">
                <a:solidFill>
                  <a:srgbClr val="383838"/>
                </a:solidFill>
                <a:latin typeface="Decalotype"/>
                <a:ea typeface="Decalotype"/>
                <a:cs typeface="Decalotype"/>
                <a:sym typeface="Decalotype"/>
              </a:rPr>
              <a:t>GitHub để quản lý mã nguồn</a:t>
            </a:r>
          </a:p>
          <a:p>
            <a:pPr marL="647702" lvl="1" indent="-323851" algn="l">
              <a:lnSpc>
                <a:spcPts val="4350"/>
              </a:lnSpc>
              <a:spcBef>
                <a:spcPct val="0"/>
              </a:spcBef>
              <a:buFont typeface="Arial"/>
              <a:buChar char="•"/>
            </a:pPr>
            <a:r>
              <a:rPr lang="en-US" sz="3000">
                <a:solidFill>
                  <a:srgbClr val="383838"/>
                </a:solidFill>
                <a:latin typeface="Decalotype"/>
                <a:ea typeface="Decalotype"/>
                <a:cs typeface="Decalotype"/>
                <a:sym typeface="Decalotype"/>
              </a:rPr>
              <a:t>GitHub Actions để tự động CI</a:t>
            </a:r>
          </a:p>
          <a:p>
            <a:pPr marL="647702" lvl="1" indent="-323851" algn="l">
              <a:lnSpc>
                <a:spcPts val="4350"/>
              </a:lnSpc>
              <a:buFont typeface="Arial"/>
              <a:buChar char="•"/>
            </a:pPr>
            <a:r>
              <a:rPr lang="en-US" sz="3000">
                <a:solidFill>
                  <a:srgbClr val="383838"/>
                </a:solidFill>
                <a:latin typeface="Decalotype"/>
                <a:ea typeface="Decalotype"/>
                <a:cs typeface="Decalotype"/>
                <a:sym typeface="Decalotype"/>
              </a:rPr>
              <a:t>Vercel để triển khai và hosting ứng dụng web.</a:t>
            </a:r>
          </a:p>
          <a:p>
            <a:pPr algn="l">
              <a:lnSpc>
                <a:spcPts val="4350"/>
              </a:lnSpc>
            </a:pPr>
            <a:endParaRPr lang="en-US" sz="3000">
              <a:solidFill>
                <a:srgbClr val="383838"/>
              </a:solidFill>
              <a:latin typeface="Decalotype"/>
              <a:ea typeface="Decalotype"/>
              <a:cs typeface="Decalotype"/>
              <a:sym typeface="Decalotype"/>
            </a:endParaRPr>
          </a:p>
        </p:txBody>
      </p:sp>
      <p:sp>
        <p:nvSpPr>
          <p:cNvPr id="6" name="TextBox 6"/>
          <p:cNvSpPr txBox="1"/>
          <p:nvPr/>
        </p:nvSpPr>
        <p:spPr>
          <a:xfrm>
            <a:off x="6990904" y="8744051"/>
            <a:ext cx="4306193"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 Hình 27 : CI-CD với github action </a:t>
            </a:r>
          </a:p>
        </p:txBody>
      </p:sp>
    </p:spTree>
  </p:cSld>
  <p:clrMapOvr>
    <a:masterClrMapping/>
  </p:clrMapOvr>
  <p:transition>
    <p:push/>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134196" y="1028700"/>
          <a:ext cx="8019608" cy="2389436"/>
        </p:xfrm>
        <a:graphic>
          <a:graphicData uri="http://schemas.openxmlformats.org/drawingml/2006/table">
            <a:tbl>
              <a:tblPr/>
              <a:tblGrid>
                <a:gridCol w="8019608">
                  <a:extLst>
                    <a:ext uri="{9D8B030D-6E8A-4147-A177-3AD203B41FA5}">
                      <a16:colId xmlns:a16="http://schemas.microsoft.com/office/drawing/2014/main" val="20000"/>
                    </a:ext>
                  </a:extLst>
                </a:gridCol>
              </a:tblGrid>
              <a:tr h="2389436">
                <a:tc>
                  <a:txBody>
                    <a:bodyPr/>
                    <a:lstStyle/>
                    <a:p>
                      <a:pPr algn="ctr">
                        <a:lnSpc>
                          <a:spcPts val="13720"/>
                        </a:lnSpc>
                        <a:defRPr/>
                      </a:pPr>
                      <a:r>
                        <a:rPr lang="en-US" sz="9800" spc="-784">
                          <a:solidFill>
                            <a:srgbClr val="383838"/>
                          </a:solidFill>
                          <a:latin typeface="Decalotype"/>
                          <a:ea typeface="Decalotype"/>
                          <a:cs typeface="Decalotype"/>
                          <a:sym typeface="Decalotype"/>
                        </a:rPr>
                        <a:t>Chương 5</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3483097" y="4190365"/>
            <a:ext cx="11865740" cy="1811020"/>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Tích hợp AI agent vào hệ thống Microservice</a:t>
            </a:r>
          </a:p>
        </p:txBody>
      </p:sp>
    </p:spTree>
  </p:cSld>
  <p:clrMapOvr>
    <a:masterClrMapping/>
  </p:clrMapOvr>
  <p:transition>
    <p:push/>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Tổng quan kiến trúc hệ thống</a:t>
            </a:r>
          </a:p>
        </p:txBody>
      </p:sp>
      <p:sp>
        <p:nvSpPr>
          <p:cNvPr id="4" name="TextBox 4"/>
          <p:cNvSpPr txBox="1"/>
          <p:nvPr/>
        </p:nvSpPr>
        <p:spPr>
          <a:xfrm>
            <a:off x="2281217" y="2080752"/>
            <a:ext cx="14853691" cy="6569076"/>
          </a:xfrm>
          <a:prstGeom prst="rect">
            <a:avLst/>
          </a:prstGeom>
        </p:spPr>
        <p:txBody>
          <a:bodyPr lIns="0" tIns="0" rIns="0" bIns="0" rtlCol="0" anchor="t">
            <a:spAutoFit/>
          </a:bodyPr>
          <a:lstStyle/>
          <a:p>
            <a:pPr marL="863596" lvl="1" indent="-431798" algn="l">
              <a:lnSpc>
                <a:spcPts val="5799"/>
              </a:lnSpc>
              <a:buFont typeface="Arial"/>
              <a:buChar char="•"/>
            </a:pPr>
            <a:r>
              <a:rPr lang="en-US" sz="3999">
                <a:solidFill>
                  <a:srgbClr val="383838"/>
                </a:solidFill>
                <a:latin typeface="Decalotype"/>
                <a:ea typeface="Decalotype"/>
                <a:cs typeface="Decalotype"/>
                <a:sym typeface="Decalotype"/>
              </a:rPr>
              <a:t>Hệ thống được xây dựng theo kiến trúc Microservices nhằm tăng khả năng mở rộng, bảo trì và ổn định.</a:t>
            </a:r>
          </a:p>
          <a:p>
            <a:pPr marL="863596" lvl="1" indent="-431798" algn="l">
              <a:lnSpc>
                <a:spcPts val="5799"/>
              </a:lnSpc>
              <a:buFont typeface="Arial"/>
              <a:buChar char="•"/>
            </a:pPr>
            <a:r>
              <a:rPr lang="en-US" sz="3999">
                <a:solidFill>
                  <a:srgbClr val="383838"/>
                </a:solidFill>
                <a:latin typeface="Decalotype"/>
                <a:ea typeface="Decalotype"/>
                <a:cs typeface="Decalotype"/>
                <a:sym typeface="Decalotype"/>
              </a:rPr>
              <a:t>Các service chính gồm Authentication, Product, Inventory, Order, Payment và AI Agent Service, kết hợp với Redis, RabbitMQ, MongoDB và PostgreSQL.</a:t>
            </a:r>
          </a:p>
          <a:p>
            <a:pPr marL="863596" lvl="1" indent="-431798" algn="l">
              <a:lnSpc>
                <a:spcPts val="5799"/>
              </a:lnSpc>
              <a:buFont typeface="Arial"/>
              <a:buChar char="•"/>
            </a:pPr>
            <a:r>
              <a:rPr lang="en-US" sz="3999">
                <a:solidFill>
                  <a:srgbClr val="383838"/>
                </a:solidFill>
                <a:latin typeface="Decalotype"/>
                <a:ea typeface="Decalotype"/>
                <a:cs typeface="Decalotype"/>
                <a:sym typeface="Decalotype"/>
              </a:rPr>
              <a:t>Hệ thống sử dụng Event-Driven Architecture và RabbitMQ để giao tiếp bất đồng bộ, đồng thời tích hợp AI Agent bằng n8n nhằm hỗ trợ tự động hóa và nâng cao trải nghiệm người dùng.</a:t>
            </a:r>
          </a:p>
          <a:p>
            <a:pPr algn="l">
              <a:lnSpc>
                <a:spcPts val="5799"/>
              </a:lnSpc>
            </a:pPr>
            <a:endParaRPr lang="en-US" sz="39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Authentication Service</a:t>
            </a:r>
          </a:p>
        </p:txBody>
      </p:sp>
      <p:sp>
        <p:nvSpPr>
          <p:cNvPr id="4" name="TextBox 4"/>
          <p:cNvSpPr txBox="1"/>
          <p:nvPr/>
        </p:nvSpPr>
        <p:spPr>
          <a:xfrm>
            <a:off x="1951266" y="2021458"/>
            <a:ext cx="14853691" cy="6915151"/>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Authentication Service là trung tâm xác thực và phân quyền của hệ thống, sử dụng JWT theo mô hình stateless để tăng khả năng mở rộng.</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Service được xây dựng bằng Node.js, ExpressJS và PassportJS; mật khẩu được mã hóa bằng bcrypt và Refresh Token được lưu trong Redis.</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JWT được lựa chọn vì phù hợp với kiến trúc Microservices, giúp giảm tải server và dễ dàng mở rộng hệ thống.</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Logging Service</a:t>
            </a:r>
          </a:p>
        </p:txBody>
      </p:sp>
      <p:sp>
        <p:nvSpPr>
          <p:cNvPr id="4" name="TextBox 4"/>
          <p:cNvSpPr txBox="1"/>
          <p:nvPr/>
        </p:nvSpPr>
        <p:spPr>
          <a:xfrm>
            <a:off x="1951266" y="2021458"/>
            <a:ext cx="14853691" cy="5372101"/>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Logging Service giúp tập trung log từ các microservices để hỗ trợ monitoring, debugging và audit hệ thống.</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Các service sử dụng Winston Logger để gửi log qua RabbitMQ hoặc HTTP, sau đó lưu vào Elasticsearch và hiển thị bằng Kibana.</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Mô hình này giúp tìm kiếm log nhanh, theo dõi lỗi realtime và hỗ trợ phân tích hiệu năng hệ thống.</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Product Service</a:t>
            </a:r>
          </a:p>
        </p:txBody>
      </p:sp>
      <p:sp>
        <p:nvSpPr>
          <p:cNvPr id="4" name="TextBox 4"/>
          <p:cNvSpPr txBox="1"/>
          <p:nvPr/>
        </p:nvSpPr>
        <p:spPr>
          <a:xfrm>
            <a:off x="1951266" y="2021458"/>
            <a:ext cx="14853691" cy="6143626"/>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Product Service quản lý dữ liệu sản phẩm, danh mục, biến thể và hình ảnh của hệ thống.</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Service sử dụng MongoDB do dữ liệu sản phẩm có cấu trúc linh hoạt, kết hợp Redis Cache để tăng tốc truy xuất dữ liệu và giảm tải database.</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Hình ảnh sản phẩm được lưu trên Cloudinary nhằm tối ưu tốc độ tải và phân phối nội dung.</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Inventory Service</a:t>
            </a:r>
          </a:p>
        </p:txBody>
      </p:sp>
      <p:sp>
        <p:nvSpPr>
          <p:cNvPr id="4" name="TextBox 4"/>
          <p:cNvSpPr txBox="1"/>
          <p:nvPr/>
        </p:nvSpPr>
        <p:spPr>
          <a:xfrm>
            <a:off x="1951266" y="2021458"/>
            <a:ext cx="14853691" cy="6143626"/>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Product Service quản lý dữ liệu sản phẩm, danh mục, biến thể và hình ảnh của hệ thống.</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Service sử dụng MongoDB do dữ liệu sản phẩm có cấu trúc linh hoạt, kết hợp Redis Cache để tăng tốc truy xuất dữ liệu và giảm tải database.</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Hình ảnh sản phẩm được lưu trên Cloudinary nhằm tối ưu tốc độ tải và phân phối nội dung.</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Order Service</a:t>
            </a:r>
          </a:p>
        </p:txBody>
      </p:sp>
      <p:sp>
        <p:nvSpPr>
          <p:cNvPr id="4" name="TextBox 4"/>
          <p:cNvSpPr txBox="1"/>
          <p:nvPr/>
        </p:nvSpPr>
        <p:spPr>
          <a:xfrm>
            <a:off x="1951266" y="2021458"/>
            <a:ext cx="14853691" cy="6143626"/>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Order Service quản lý toàn bộ vòng đời đơn hàng và điều phối giữa Inventory, Payment và Notification Service.</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Hệ thống sử dụng State Machine để kiểm soát trạng thái đơn hàng như PENDING, PAID, SHIPPING, COMPLETED và tránh chuyển trạng thái không hợp lệ.</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Ngoài ra, Saga Pattern được áp dụng để xử lý transaction phân tán và rollback khi có lỗi xảy ra.</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Payment Service</a:t>
            </a:r>
          </a:p>
        </p:txBody>
      </p:sp>
      <p:sp>
        <p:nvSpPr>
          <p:cNvPr id="4" name="TextBox 4"/>
          <p:cNvSpPr txBox="1"/>
          <p:nvPr/>
        </p:nvSpPr>
        <p:spPr>
          <a:xfrm>
            <a:off x="1951266" y="2021458"/>
            <a:ext cx="14853691" cy="5372101"/>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Payment Service tích hợp Stripe để xử lý thanh toán trực tuyến an toàn và chính xác.</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Quy trình gồm tạo Payment Intent, xác nhận thanh toán và xử lý webhook từ Stripe để cập nhật trạng thái đơn hàng.</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Hệ thống sử dụng verify signature, retry mechanism và idempotency key để tăng bảo mật và tránh xử lý trùng lặp.</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16711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n8n AI Agent Service</a:t>
            </a:r>
          </a:p>
          <a:p>
            <a:pPr algn="l">
              <a:lnSpc>
                <a:spcPts val="6665"/>
              </a:lnSpc>
              <a:spcBef>
                <a:spcPct val="0"/>
              </a:spcBef>
            </a:pPr>
            <a:endParaRPr lang="en-US" sz="5207" b="1" spc="-130">
              <a:solidFill>
                <a:srgbClr val="383838"/>
              </a:solidFill>
              <a:latin typeface="Decalotype Bold"/>
              <a:ea typeface="Decalotype Bold"/>
              <a:cs typeface="Decalotype Bold"/>
              <a:sym typeface="Decalotype Bold"/>
            </a:endParaRPr>
          </a:p>
        </p:txBody>
      </p:sp>
      <p:sp>
        <p:nvSpPr>
          <p:cNvPr id="4" name="TextBox 4"/>
          <p:cNvSpPr txBox="1"/>
          <p:nvPr/>
        </p:nvSpPr>
        <p:spPr>
          <a:xfrm>
            <a:off x="1951266" y="2021458"/>
            <a:ext cx="14853691" cy="5372101"/>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n8n được sử dụng như AI Orchestration Layer để tự động hóa workflow và tích hợp AI vào hệ thống.</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AI Agent hỗ trợ chatbot, recommendation system, smart notification và business analytics thông qua workflow automation.</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n8n được lựa chọn vì mã nguồn mở, dễ tích hợp API và hỗ trợ xây dựng workflow trực quan.</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RabbitMQ và Event-Driven Architecture</a:t>
            </a:r>
          </a:p>
        </p:txBody>
      </p:sp>
      <p:sp>
        <p:nvSpPr>
          <p:cNvPr id="4" name="TextBox 4"/>
          <p:cNvSpPr txBox="1"/>
          <p:nvPr/>
        </p:nvSpPr>
        <p:spPr>
          <a:xfrm>
            <a:off x="1951266" y="2021458"/>
            <a:ext cx="14853691" cy="5372101"/>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RabbitMQ là message broker trung tâm giúp các service giao tiếp theo mô hình event-driven thay vì gọi trực tiếp lẫn nhau.</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Mô hình này giúp tăng khả năng mở rộng, xử lý bất đồng bộ, retry và giảm coupling giữa các service.</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RabbitMQ còn hỗ trợ Dead Letter Queue, Retry Queue và Topic Routing để tăng độ ổn định hệ thống.</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4304199" y="1505425"/>
          <a:ext cx="8378042" cy="2390775"/>
        </p:xfrm>
        <a:graphic>
          <a:graphicData uri="http://schemas.openxmlformats.org/drawingml/2006/table">
            <a:tbl>
              <a:tblPr/>
              <a:tblGrid>
                <a:gridCol w="8378042">
                  <a:extLst>
                    <a:ext uri="{9D8B030D-6E8A-4147-A177-3AD203B41FA5}">
                      <a16:colId xmlns:a16="http://schemas.microsoft.com/office/drawing/2014/main" val="20000"/>
                    </a:ext>
                  </a:extLst>
                </a:gridCol>
              </a:tblGrid>
              <a:tr h="2390775">
                <a:tc>
                  <a:txBody>
                    <a:bodyPr/>
                    <a:lstStyle/>
                    <a:p>
                      <a:pPr algn="ctr">
                        <a:lnSpc>
                          <a:spcPts val="13720"/>
                        </a:lnSpc>
                        <a:defRPr/>
                      </a:pPr>
                      <a:r>
                        <a:rPr lang="en-US" sz="9800" spc="-784">
                          <a:solidFill>
                            <a:srgbClr val="383838"/>
                          </a:solidFill>
                          <a:latin typeface="Roca Two"/>
                          <a:ea typeface="Roca Two"/>
                          <a:cs typeface="Roca Two"/>
                          <a:sym typeface="Roca Two"/>
                        </a:rPr>
                        <a:t>Chương 6</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5881311" y="4652327"/>
            <a:ext cx="5869285"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Tích hợp AI Agent</a:t>
            </a:r>
          </a:p>
        </p:txBody>
      </p:sp>
    </p:spTree>
  </p:cSld>
  <p:clrMapOvr>
    <a:masterClrMapping/>
  </p:clrMapOvr>
  <p:transition>
    <p:push/>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084762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Mục tiêu tích hợp AI</a:t>
            </a:r>
          </a:p>
        </p:txBody>
      </p:sp>
      <p:sp>
        <p:nvSpPr>
          <p:cNvPr id="4" name="TextBox 4"/>
          <p:cNvSpPr txBox="1"/>
          <p:nvPr/>
        </p:nvSpPr>
        <p:spPr>
          <a:xfrm>
            <a:off x="1951266" y="2021458"/>
            <a:ext cx="14853691" cy="3829051"/>
          </a:xfrm>
          <a:prstGeom prst="rect">
            <a:avLst/>
          </a:prstGeom>
        </p:spPr>
        <p:txBody>
          <a:bodyPr lIns="0" tIns="0" rIns="0" bIns="0" rtlCol="0" anchor="t">
            <a:spAutoFit/>
          </a:bodyPr>
          <a:lstStyle/>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AI Agent giúp hệ thống thương mại điện tử cá nhân hóa trải nghiệm người dùng, tự động tương tác và phân tích hành vi khách hàng.</a:t>
            </a:r>
          </a:p>
          <a:p>
            <a:pPr marL="906775" lvl="1" indent="-453388" algn="l">
              <a:lnSpc>
                <a:spcPts val="6089"/>
              </a:lnSpc>
              <a:buFont typeface="Arial"/>
              <a:buChar char="•"/>
            </a:pPr>
            <a:r>
              <a:rPr lang="en-US" sz="4199">
                <a:solidFill>
                  <a:srgbClr val="383838"/>
                </a:solidFill>
                <a:latin typeface="Decalotype"/>
                <a:ea typeface="Decalotype"/>
                <a:cs typeface="Decalotype"/>
                <a:sym typeface="Decalotype"/>
              </a:rPr>
              <a:t>Việc tích hợp AI vào Microservices giúp tăng tỷ lệ chuyển đổi, nâng cao trải nghiệm và cải thiện khả năng giữ chân người dùng.</a:t>
            </a:r>
          </a:p>
          <a:p>
            <a:pPr algn="l">
              <a:lnSpc>
                <a:spcPts val="6089"/>
              </a:lnSpc>
            </a:pPr>
            <a:endParaRPr lang="en-US" sz="41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aphicFrame>
        <p:nvGraphicFramePr>
          <p:cNvPr id="3" name="Object 3"/>
          <p:cNvGraphicFramePr/>
          <p:nvPr/>
        </p:nvGraphicFramePr>
        <p:xfrm>
          <a:off x="8416356" y="2624293"/>
          <a:ext cx="9201150" cy="3676460"/>
        </p:xfrm>
        <a:graphic>
          <a:graphicData uri="http://schemas.openxmlformats.org/presentationml/2006/ole">
            <mc:AlternateContent xmlns:mc="http://schemas.openxmlformats.org/markup-compatibility/2006">
              <mc:Choice xmlns:v="urn:schemas-microsoft-com:vml" Requires="v">
                <p:oleObj name="Worksheet" r:id="rId3" imgW="11036300" imgH="5511800" progId="Excel.Sheet.12">
                  <p:embed/>
                </p:oleObj>
              </mc:Choice>
              <mc:Fallback>
                <p:oleObj name="Worksheet" r:id="rId3" imgW="11036300" imgH="5511800" progId="Excel.Sheet.12">
                  <p:embed/>
                  <p:pic>
                    <p:nvPicPr>
                      <p:cNvPr id="0" name=""/>
                      <p:cNvPicPr/>
                      <p:nvPr/>
                    </p:nvPicPr>
                    <p:blipFill>
                      <a:blip r:embed="rId4"/>
                      <a:stretch>
                        <a:fillRect/>
                      </a:stretch>
                    </p:blipFill>
                    <p:spPr>
                      <a:xfrm>
                        <a:off x="8416356" y="2624293"/>
                        <a:ext cx="9201150" cy="3676460"/>
                      </a:xfrm>
                      <a:prstGeom prst="rect">
                        <a:avLst/>
                      </a:prstGeom>
                    </p:spPr>
                  </p:pic>
                </p:oleObj>
              </mc:Fallback>
            </mc:AlternateContent>
          </a:graphicData>
        </a:graphic>
      </p:graphicFrame>
      <p:sp>
        <p:nvSpPr>
          <p:cNvPr id="4" name="TextBox 4"/>
          <p:cNvSpPr txBox="1"/>
          <p:nvPr/>
        </p:nvSpPr>
        <p:spPr>
          <a:xfrm>
            <a:off x="642762" y="588428"/>
            <a:ext cx="13034070"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Cách tiếp cận là triển khai Chatbot tư vấn qua n8n </a:t>
            </a:r>
          </a:p>
        </p:txBody>
      </p:sp>
      <p:sp>
        <p:nvSpPr>
          <p:cNvPr id="5" name="TextBox 5"/>
          <p:cNvSpPr txBox="1"/>
          <p:nvPr/>
        </p:nvSpPr>
        <p:spPr>
          <a:xfrm>
            <a:off x="1449458" y="2388153"/>
            <a:ext cx="6573854" cy="5505450"/>
          </a:xfrm>
          <a:prstGeom prst="rect">
            <a:avLst/>
          </a:prstGeom>
        </p:spPr>
        <p:txBody>
          <a:bodyPr lIns="0" tIns="0" rIns="0" bIns="0" rtlCol="0" anchor="t">
            <a:spAutoFit/>
          </a:bodyPr>
          <a:lstStyle/>
          <a:p>
            <a:pPr marL="647702" lvl="1" indent="-323851" algn="l">
              <a:lnSpc>
                <a:spcPts val="4350"/>
              </a:lnSpc>
              <a:buFont typeface="Arial"/>
              <a:buChar char="•"/>
            </a:pPr>
            <a:r>
              <a:rPr lang="en-US" sz="3000">
                <a:solidFill>
                  <a:srgbClr val="383838"/>
                </a:solidFill>
                <a:latin typeface="Decalotype"/>
                <a:ea typeface="Decalotype"/>
                <a:cs typeface="Decalotype"/>
                <a:sym typeface="Decalotype"/>
              </a:rPr>
              <a:t>n8n được sử dụng để xây dựng AI Agent theo mô hình Workflow-as-a-Service, giúp tách biệt logic chatbot khỏi backend và dễ mở rộng hệ thống.</a:t>
            </a:r>
          </a:p>
          <a:p>
            <a:pPr marL="647702" lvl="1" indent="-323851" algn="l">
              <a:lnSpc>
                <a:spcPts val="4350"/>
              </a:lnSpc>
              <a:buFont typeface="Arial"/>
              <a:buChar char="•"/>
            </a:pPr>
            <a:r>
              <a:rPr lang="en-US" sz="3000">
                <a:solidFill>
                  <a:srgbClr val="383838"/>
                </a:solidFill>
                <a:latin typeface="Decalotype"/>
                <a:ea typeface="Decalotype"/>
                <a:cs typeface="Decalotype"/>
                <a:sym typeface="Decalotype"/>
              </a:rPr>
              <a:t>AI Agent giao tiếp qua Webhook và sử dụng RAG kết hợp Vector Database để truy xuất dữ liệu thực tế từ microservices hoặc tài liệu, giúp tăng độ chính xác khi tư vấn.</a:t>
            </a:r>
          </a:p>
          <a:p>
            <a:pPr algn="l">
              <a:lnSpc>
                <a:spcPts val="4350"/>
              </a:lnSpc>
            </a:pPr>
            <a:endParaRPr lang="en-US" sz="3000">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97953"/>
            <a:ext cx="16822096" cy="778816"/>
          </a:xfrm>
          <a:prstGeom prst="rect">
            <a:avLst/>
          </a:prstGeom>
        </p:spPr>
        <p:txBody>
          <a:bodyPr lIns="0" tIns="0" rIns="0" bIns="0" rtlCol="0" anchor="t">
            <a:spAutoFit/>
          </a:bodyPr>
          <a:lstStyle/>
          <a:p>
            <a:pPr algn="l">
              <a:lnSpc>
                <a:spcPts val="6281"/>
              </a:lnSpc>
              <a:spcBef>
                <a:spcPct val="0"/>
              </a:spcBef>
            </a:pPr>
            <a:r>
              <a:rPr lang="en-US" sz="4907" b="1" spc="-122">
                <a:solidFill>
                  <a:srgbClr val="383838"/>
                </a:solidFill>
                <a:latin typeface="Decalotype Bold"/>
                <a:ea typeface="Decalotype Bold"/>
                <a:cs typeface="Decalotype Bold"/>
                <a:sym typeface="Decalotype Bold"/>
              </a:rPr>
              <a:t>Xây dựng 1 workflow cho chatbot tư vấn sản phẩm và chính sách</a:t>
            </a:r>
          </a:p>
        </p:txBody>
      </p:sp>
      <p:sp>
        <p:nvSpPr>
          <p:cNvPr id="4" name="TextBox 4"/>
          <p:cNvSpPr txBox="1"/>
          <p:nvPr/>
        </p:nvSpPr>
        <p:spPr>
          <a:xfrm>
            <a:off x="1951266" y="2016125"/>
            <a:ext cx="14853691" cy="6169025"/>
          </a:xfrm>
          <a:prstGeom prst="rect">
            <a:avLst/>
          </a:prstGeom>
        </p:spPr>
        <p:txBody>
          <a:bodyPr lIns="0" tIns="0" rIns="0" bIns="0" rtlCol="0" anchor="t">
            <a:spAutoFit/>
          </a:bodyPr>
          <a:lstStyle/>
          <a:p>
            <a:pPr algn="l">
              <a:lnSpc>
                <a:spcPts val="4929"/>
              </a:lnSpc>
            </a:pPr>
            <a:r>
              <a:rPr lang="en-US" sz="3399">
                <a:solidFill>
                  <a:srgbClr val="383838"/>
                </a:solidFill>
                <a:latin typeface="Decalotype"/>
                <a:ea typeface="Decalotype"/>
                <a:cs typeface="Decalotype"/>
                <a:sym typeface="Decalotype"/>
              </a:rPr>
              <a:t>Workflow AI được xây dựng gồm 4 tầng:</a:t>
            </a:r>
          </a:p>
          <a:p>
            <a:pPr marL="734059" lvl="1" indent="-367030" algn="l">
              <a:lnSpc>
                <a:spcPts val="4929"/>
              </a:lnSpc>
              <a:buFont typeface="Arial"/>
              <a:buChar char="•"/>
            </a:pPr>
            <a:r>
              <a:rPr lang="en-US" sz="3399">
                <a:solidFill>
                  <a:srgbClr val="383838"/>
                </a:solidFill>
                <a:latin typeface="Decalotype"/>
                <a:ea typeface="Decalotype"/>
                <a:cs typeface="Decalotype"/>
                <a:sym typeface="Decalotype"/>
              </a:rPr>
              <a:t>Tiếp nhận yêu cầu người dùng</a:t>
            </a:r>
          </a:p>
          <a:p>
            <a:pPr marL="734059" lvl="1" indent="-367030" algn="l">
              <a:lnSpc>
                <a:spcPts val="4929"/>
              </a:lnSpc>
              <a:buFont typeface="Arial"/>
              <a:buChar char="•"/>
            </a:pPr>
            <a:r>
              <a:rPr lang="en-US" sz="3399">
                <a:solidFill>
                  <a:srgbClr val="383838"/>
                </a:solidFill>
                <a:latin typeface="Decalotype"/>
                <a:ea typeface="Decalotype"/>
                <a:cs typeface="Decalotype"/>
                <a:sym typeface="Decalotype"/>
              </a:rPr>
              <a:t>AI Router phân loại ý định</a:t>
            </a:r>
          </a:p>
          <a:p>
            <a:pPr marL="734059" lvl="1" indent="-367030" algn="l">
              <a:lnSpc>
                <a:spcPts val="4929"/>
              </a:lnSpc>
              <a:buFont typeface="Arial"/>
              <a:buChar char="•"/>
            </a:pPr>
            <a:r>
              <a:rPr lang="en-US" sz="3399">
                <a:solidFill>
                  <a:srgbClr val="383838"/>
                </a:solidFill>
                <a:latin typeface="Decalotype"/>
                <a:ea typeface="Decalotype"/>
                <a:cs typeface="Decalotype"/>
                <a:sym typeface="Decalotype"/>
              </a:rPr>
              <a:t>If Node điều hướng workflow</a:t>
            </a:r>
          </a:p>
          <a:p>
            <a:pPr marL="734059" lvl="1" indent="-367030" algn="l">
              <a:lnSpc>
                <a:spcPts val="4929"/>
              </a:lnSpc>
              <a:buFont typeface="Arial"/>
              <a:buChar char="•"/>
            </a:pPr>
            <a:r>
              <a:rPr lang="en-US" sz="3399">
                <a:solidFill>
                  <a:srgbClr val="383838"/>
                </a:solidFill>
                <a:latin typeface="Decalotype"/>
                <a:ea typeface="Decalotype"/>
                <a:cs typeface="Decalotype"/>
                <a:sym typeface="Decalotype"/>
              </a:rPr>
              <a:t>AI Agent chuyên biệt xử lý nghiệp vụ</a:t>
            </a:r>
          </a:p>
          <a:p>
            <a:pPr algn="l">
              <a:lnSpc>
                <a:spcPts val="4929"/>
              </a:lnSpc>
            </a:pPr>
            <a:r>
              <a:rPr lang="en-US" sz="3399">
                <a:solidFill>
                  <a:srgbClr val="383838"/>
                </a:solidFill>
                <a:latin typeface="Decalotype"/>
                <a:ea typeface="Decalotype"/>
                <a:cs typeface="Decalotype"/>
                <a:sym typeface="Decalotype"/>
              </a:rPr>
              <a:t>Trong đó:</a:t>
            </a:r>
          </a:p>
          <a:p>
            <a:pPr marL="734059" lvl="1" indent="-367030" algn="l">
              <a:lnSpc>
                <a:spcPts val="4929"/>
              </a:lnSpc>
              <a:buFont typeface="Arial"/>
              <a:buChar char="•"/>
            </a:pPr>
            <a:r>
              <a:rPr lang="en-US" sz="3399">
                <a:solidFill>
                  <a:srgbClr val="383838"/>
                </a:solidFill>
                <a:latin typeface="Decalotype"/>
                <a:ea typeface="Decalotype"/>
                <a:cs typeface="Decalotype"/>
                <a:sym typeface="Decalotype"/>
              </a:rPr>
              <a:t>AI Agent tư vấn sản phẩm kết nối MongoDB để lấy dữ liệu realtime</a:t>
            </a:r>
          </a:p>
          <a:p>
            <a:pPr marL="734059" lvl="1" indent="-367030" algn="l">
              <a:lnSpc>
                <a:spcPts val="4929"/>
              </a:lnSpc>
              <a:buFont typeface="Arial"/>
              <a:buChar char="•"/>
            </a:pPr>
            <a:r>
              <a:rPr lang="en-US" sz="3399">
                <a:solidFill>
                  <a:srgbClr val="383838"/>
                </a:solidFill>
                <a:latin typeface="Decalotype"/>
                <a:ea typeface="Decalotype"/>
                <a:cs typeface="Decalotype"/>
                <a:sym typeface="Decalotype"/>
              </a:rPr>
              <a:t>AI Agent tư vấn chính sách sử dụng Memory và Vector Database để trả lời chính xác hơn.</a:t>
            </a:r>
          </a:p>
          <a:p>
            <a:pPr algn="l">
              <a:lnSpc>
                <a:spcPts val="4929"/>
              </a:lnSpc>
            </a:pPr>
            <a:endParaRPr lang="en-US" sz="33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88428"/>
            <a:ext cx="16822096" cy="832919"/>
          </a:xfrm>
          <a:prstGeom prst="rect">
            <a:avLst/>
          </a:prstGeom>
        </p:spPr>
        <p:txBody>
          <a:bodyPr lIns="0" tIns="0" rIns="0" bIns="0" rtlCol="0" anchor="t">
            <a:spAutoFit/>
          </a:bodyPr>
          <a:lstStyle/>
          <a:p>
            <a:pPr algn="l">
              <a:lnSpc>
                <a:spcPts val="6665"/>
              </a:lnSpc>
            </a:pPr>
            <a:r>
              <a:rPr lang="en-US" sz="5207" b="1" spc="-130">
                <a:solidFill>
                  <a:srgbClr val="383838"/>
                </a:solidFill>
                <a:latin typeface="Decalotype Bold"/>
                <a:ea typeface="Decalotype Bold"/>
                <a:cs typeface="Decalotype Bold"/>
                <a:sym typeface="Decalotype Bold"/>
              </a:rPr>
              <a:t>Cách xây dựng Agent tư vấn Chính sách (AI Agent 1)</a:t>
            </a:r>
          </a:p>
        </p:txBody>
      </p:sp>
      <p:sp>
        <p:nvSpPr>
          <p:cNvPr id="4" name="TextBox 4"/>
          <p:cNvSpPr txBox="1"/>
          <p:nvPr/>
        </p:nvSpPr>
        <p:spPr>
          <a:xfrm>
            <a:off x="1951266" y="1997075"/>
            <a:ext cx="14287555" cy="5696728"/>
          </a:xfrm>
          <a:prstGeom prst="rect">
            <a:avLst/>
          </a:prstGeom>
        </p:spPr>
        <p:txBody>
          <a:bodyPr lIns="0" tIns="0" rIns="0" bIns="0" rtlCol="0" anchor="t">
            <a:spAutoFit/>
          </a:bodyPr>
          <a:lstStyle/>
          <a:p>
            <a:pPr marL="966262" lvl="1" indent="-483131" algn="l">
              <a:lnSpc>
                <a:spcPts val="6489"/>
              </a:lnSpc>
              <a:buFont typeface="Arial"/>
              <a:buChar char="•"/>
            </a:pPr>
            <a:r>
              <a:rPr lang="en-US" sz="4475">
                <a:solidFill>
                  <a:srgbClr val="383838"/>
                </a:solidFill>
                <a:latin typeface="Decalotype"/>
                <a:ea typeface="Decalotype"/>
                <a:cs typeface="Decalotype"/>
                <a:sym typeface="Decalotype"/>
              </a:rPr>
              <a:t>AI Agent tư vấn chính sách hoạt động như một chuyên viên chăm sóc khách hàng, hỗ trợ giải đáp các vấn đề về bảo hành, đổi trả, hoàn tiền và vận chuyển.</a:t>
            </a:r>
          </a:p>
          <a:p>
            <a:pPr marL="966262" lvl="1" indent="-483131" algn="l">
              <a:lnSpc>
                <a:spcPts val="6489"/>
              </a:lnSpc>
              <a:buFont typeface="Arial"/>
              <a:buChar char="•"/>
            </a:pPr>
            <a:r>
              <a:rPr lang="en-US" sz="4475">
                <a:solidFill>
                  <a:srgbClr val="383838"/>
                </a:solidFill>
                <a:latin typeface="Decalotype"/>
                <a:ea typeface="Decalotype"/>
                <a:cs typeface="Decalotype"/>
                <a:sym typeface="Decalotype"/>
              </a:rPr>
              <a:t>Agent được kết nối với kho tài liệu chính sách để cung cấp thông tin chính xác, đồng thời sử dụng Memory để duy trì ngữ cảnh hội thoại và hỗ trợ người dùng hiệu quả hơn.</a:t>
            </a:r>
          </a:p>
          <a:p>
            <a:pPr algn="l">
              <a:lnSpc>
                <a:spcPts val="6489"/>
              </a:lnSpc>
            </a:pPr>
            <a:endParaRPr lang="en-US" sz="4475">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97953"/>
            <a:ext cx="16822096" cy="1569391"/>
          </a:xfrm>
          <a:prstGeom prst="rect">
            <a:avLst/>
          </a:prstGeom>
        </p:spPr>
        <p:txBody>
          <a:bodyPr lIns="0" tIns="0" rIns="0" bIns="0" rtlCol="0" anchor="t">
            <a:spAutoFit/>
          </a:bodyPr>
          <a:lstStyle/>
          <a:p>
            <a:pPr algn="l">
              <a:lnSpc>
                <a:spcPts val="6281"/>
              </a:lnSpc>
            </a:pPr>
            <a:r>
              <a:rPr lang="en-US" sz="4907" b="1" spc="-122">
                <a:solidFill>
                  <a:srgbClr val="383838"/>
                </a:solidFill>
                <a:latin typeface="Decalotype Bold"/>
                <a:ea typeface="Decalotype Bold"/>
                <a:cs typeface="Decalotype Bold"/>
                <a:sym typeface="Decalotype Bold"/>
              </a:rPr>
              <a:t>Cách xây dựng Agent tư vấn Sản phẩm (AI Agent 2)</a:t>
            </a:r>
          </a:p>
          <a:p>
            <a:pPr algn="l">
              <a:lnSpc>
                <a:spcPts val="6281"/>
              </a:lnSpc>
              <a:spcBef>
                <a:spcPct val="0"/>
              </a:spcBef>
            </a:pPr>
            <a:endParaRPr lang="en-US" sz="4907" b="1" spc="-122">
              <a:solidFill>
                <a:srgbClr val="383838"/>
              </a:solidFill>
              <a:latin typeface="Decalotype Bold"/>
              <a:ea typeface="Decalotype Bold"/>
              <a:cs typeface="Decalotype Bold"/>
              <a:sym typeface="Decalotype Bold"/>
            </a:endParaRPr>
          </a:p>
        </p:txBody>
      </p:sp>
      <p:sp>
        <p:nvSpPr>
          <p:cNvPr id="4" name="TextBox 4"/>
          <p:cNvSpPr txBox="1"/>
          <p:nvPr/>
        </p:nvSpPr>
        <p:spPr>
          <a:xfrm>
            <a:off x="1951266" y="2006600"/>
            <a:ext cx="14853691" cy="5537200"/>
          </a:xfrm>
          <a:prstGeom prst="rect">
            <a:avLst/>
          </a:prstGeom>
        </p:spPr>
        <p:txBody>
          <a:bodyPr lIns="0" tIns="0" rIns="0" bIns="0" rtlCol="0" anchor="t">
            <a:spAutoFit/>
          </a:bodyPr>
          <a:lstStyle/>
          <a:p>
            <a:pPr marL="820417" lvl="1" indent="-410209" algn="l">
              <a:lnSpc>
                <a:spcPts val="5509"/>
              </a:lnSpc>
              <a:buFont typeface="Arial"/>
              <a:buChar char="•"/>
            </a:pPr>
            <a:r>
              <a:rPr lang="en-US" sz="3799">
                <a:solidFill>
                  <a:srgbClr val="383838"/>
                </a:solidFill>
                <a:latin typeface="Decalotype"/>
                <a:ea typeface="Decalotype"/>
                <a:cs typeface="Decalotype"/>
                <a:sym typeface="Decalotype"/>
              </a:rPr>
              <a:t>AI Agent đóng vai trò như một nhân viên tư vấn sản phẩm thông minh, có khả năng truy xuất dữ liệu thực tế từ MongoDB để cung cấp thông tin chính xác về giá, mô tả, thông số kỹ thuật và tình trạng tồn kho.</a:t>
            </a:r>
          </a:p>
          <a:p>
            <a:pPr marL="820417" lvl="1" indent="-410209" algn="l">
              <a:lnSpc>
                <a:spcPts val="5509"/>
              </a:lnSpc>
              <a:buFont typeface="Arial"/>
              <a:buChar char="•"/>
            </a:pPr>
            <a:r>
              <a:rPr lang="en-US" sz="3799">
                <a:solidFill>
                  <a:srgbClr val="383838"/>
                </a:solidFill>
                <a:latin typeface="Decalotype"/>
                <a:ea typeface="Decalotype"/>
                <a:cs typeface="Decalotype"/>
                <a:sym typeface="Decalotype"/>
              </a:rPr>
              <a:t>Agent sử dụng mô hình RAG (Retrieval-Augmented Generation) nhằm hạn chế hiện tượng hallucination và tăng độ chính xác khi phản hồi người dùng. Ngoài ra, hệ thống còn có khả năng đề xuất các sản phẩm tương tự nếu không tìm thấy sản phẩm phù hợp trong cơ sở dữ liệu.</a:t>
            </a:r>
          </a:p>
          <a:p>
            <a:pPr algn="l">
              <a:lnSpc>
                <a:spcPts val="5509"/>
              </a:lnSpc>
            </a:pPr>
            <a:endParaRPr lang="en-US" sz="37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aphicFrame>
        <p:nvGraphicFramePr>
          <p:cNvPr id="3" name="Object 3"/>
          <p:cNvGraphicFramePr/>
          <p:nvPr/>
        </p:nvGraphicFramePr>
        <p:xfrm>
          <a:off x="2965814" y="1858231"/>
          <a:ext cx="8915400" cy="2914507"/>
        </p:xfrm>
        <a:graphic>
          <a:graphicData uri="http://schemas.openxmlformats.org/presentationml/2006/ole">
            <mc:AlternateContent xmlns:mc="http://schemas.openxmlformats.org/markup-compatibility/2006">
              <mc:Choice xmlns:v="urn:schemas-microsoft-com:vml" Requires="v">
                <p:oleObj name="Worksheet" r:id="rId3" imgW="10693400" imgH="4686300" progId="Excel.Sheet.12">
                  <p:embed/>
                </p:oleObj>
              </mc:Choice>
              <mc:Fallback>
                <p:oleObj name="Worksheet" r:id="rId3" imgW="10693400" imgH="4686300" progId="Excel.Sheet.12">
                  <p:embed/>
                  <p:pic>
                    <p:nvPicPr>
                      <p:cNvPr id="0" name=""/>
                      <p:cNvPicPr/>
                      <p:nvPr/>
                    </p:nvPicPr>
                    <p:blipFill>
                      <a:blip r:embed="rId4"/>
                      <a:stretch>
                        <a:fillRect/>
                      </a:stretch>
                    </p:blipFill>
                    <p:spPr>
                      <a:xfrm>
                        <a:off x="2965814" y="1858231"/>
                        <a:ext cx="8915400" cy="2914507"/>
                      </a:xfrm>
                      <a:prstGeom prst="rect">
                        <a:avLst/>
                      </a:prstGeom>
                    </p:spPr>
                  </p:pic>
                </p:oleObj>
              </mc:Fallback>
            </mc:AlternateContent>
          </a:graphicData>
        </a:graphic>
      </p:graphicFrame>
      <p:sp>
        <p:nvSpPr>
          <p:cNvPr id="4" name="TextBox 4"/>
          <p:cNvSpPr txBox="1"/>
          <p:nvPr/>
        </p:nvSpPr>
        <p:spPr>
          <a:xfrm>
            <a:off x="642762" y="597953"/>
            <a:ext cx="16822096" cy="778816"/>
          </a:xfrm>
          <a:prstGeom prst="rect">
            <a:avLst/>
          </a:prstGeom>
        </p:spPr>
        <p:txBody>
          <a:bodyPr lIns="0" tIns="0" rIns="0" bIns="0" rtlCol="0" anchor="t">
            <a:spAutoFit/>
          </a:bodyPr>
          <a:lstStyle/>
          <a:p>
            <a:pPr algn="l">
              <a:lnSpc>
                <a:spcPts val="6281"/>
              </a:lnSpc>
              <a:spcBef>
                <a:spcPct val="0"/>
              </a:spcBef>
            </a:pPr>
            <a:r>
              <a:rPr lang="en-US" sz="4907" b="1" spc="-122">
                <a:solidFill>
                  <a:srgbClr val="383838"/>
                </a:solidFill>
                <a:latin typeface="Decalotype Bold"/>
                <a:ea typeface="Decalotype Bold"/>
                <a:cs typeface="Decalotype Bold"/>
                <a:sym typeface="Decalotype Bold"/>
              </a:rPr>
              <a:t>So sánh đặc tính hai Agent</a:t>
            </a:r>
          </a:p>
        </p:txBody>
      </p:sp>
    </p:spTree>
  </p:cSld>
  <p:clrMapOvr>
    <a:masterClrMapping/>
  </p:clrMapOvr>
  <p:transition>
    <p:push/>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400484" y="1821468"/>
            <a:ext cx="14404473" cy="6644063"/>
          </a:xfrm>
          <a:custGeom>
            <a:avLst/>
            <a:gdLst/>
            <a:ahLst/>
            <a:cxnLst/>
            <a:rect l="l" t="t" r="r" b="b"/>
            <a:pathLst>
              <a:path w="14404473" h="6644063">
                <a:moveTo>
                  <a:pt x="0" y="0"/>
                </a:moveTo>
                <a:lnTo>
                  <a:pt x="14404473" y="0"/>
                </a:lnTo>
                <a:lnTo>
                  <a:pt x="14404473" y="6644064"/>
                </a:lnTo>
                <a:lnTo>
                  <a:pt x="0" y="664406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42762" y="597953"/>
            <a:ext cx="16822096" cy="778816"/>
          </a:xfrm>
          <a:prstGeom prst="rect">
            <a:avLst/>
          </a:prstGeom>
        </p:spPr>
        <p:txBody>
          <a:bodyPr lIns="0" tIns="0" rIns="0" bIns="0" rtlCol="0" anchor="t">
            <a:spAutoFit/>
          </a:bodyPr>
          <a:lstStyle/>
          <a:p>
            <a:pPr algn="l">
              <a:lnSpc>
                <a:spcPts val="6281"/>
              </a:lnSpc>
              <a:spcBef>
                <a:spcPct val="0"/>
              </a:spcBef>
            </a:pPr>
            <a:r>
              <a:rPr lang="en-US" sz="4907" b="1" spc="-122">
                <a:solidFill>
                  <a:srgbClr val="383838"/>
                </a:solidFill>
                <a:latin typeface="Decalotype Bold"/>
                <a:ea typeface="Decalotype Bold"/>
                <a:cs typeface="Decalotype Bold"/>
                <a:sym typeface="Decalotype Bold"/>
              </a:rPr>
              <a:t>Workflow hệ thống </a:t>
            </a:r>
          </a:p>
        </p:txBody>
      </p:sp>
      <p:sp>
        <p:nvSpPr>
          <p:cNvPr id="5" name="TextBox 5"/>
          <p:cNvSpPr txBox="1"/>
          <p:nvPr/>
        </p:nvSpPr>
        <p:spPr>
          <a:xfrm>
            <a:off x="7279779" y="8744051"/>
            <a:ext cx="3728442"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 Hình 28: Workflow hệ thống </a:t>
            </a:r>
          </a:p>
        </p:txBody>
      </p:sp>
    </p:spTree>
  </p:cSld>
  <p:clrMapOvr>
    <a:masterClrMapping/>
  </p:clrMapOvr>
  <p:transition>
    <p:push/>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4304199" y="1505425"/>
          <a:ext cx="8378042" cy="2390775"/>
        </p:xfrm>
        <a:graphic>
          <a:graphicData uri="http://schemas.openxmlformats.org/drawingml/2006/table">
            <a:tbl>
              <a:tblPr/>
              <a:tblGrid>
                <a:gridCol w="8378042">
                  <a:extLst>
                    <a:ext uri="{9D8B030D-6E8A-4147-A177-3AD203B41FA5}">
                      <a16:colId xmlns:a16="http://schemas.microsoft.com/office/drawing/2014/main" val="20000"/>
                    </a:ext>
                  </a:extLst>
                </a:gridCol>
              </a:tblGrid>
              <a:tr h="2390775">
                <a:tc>
                  <a:txBody>
                    <a:bodyPr/>
                    <a:lstStyle/>
                    <a:p>
                      <a:pPr algn="ctr">
                        <a:lnSpc>
                          <a:spcPts val="13720"/>
                        </a:lnSpc>
                        <a:defRPr/>
                      </a:pPr>
                      <a:r>
                        <a:rPr lang="en-US" sz="9800" spc="-784">
                          <a:solidFill>
                            <a:srgbClr val="383838"/>
                          </a:solidFill>
                          <a:latin typeface="Roca Two"/>
                          <a:ea typeface="Roca Two"/>
                          <a:cs typeface="Roca Two"/>
                          <a:sym typeface="Roca Two"/>
                        </a:rPr>
                        <a:t>Chương 7</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4015254" y="4652327"/>
            <a:ext cx="9601399"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Kết luận và hướng phát triển</a:t>
            </a:r>
          </a:p>
        </p:txBody>
      </p:sp>
    </p:spTree>
  </p:cSld>
  <p:clrMapOvr>
    <a:masterClrMapping/>
  </p:clrMapOvr>
  <p:transition>
    <p:push/>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97953"/>
            <a:ext cx="16822096" cy="778816"/>
          </a:xfrm>
          <a:prstGeom prst="rect">
            <a:avLst/>
          </a:prstGeom>
        </p:spPr>
        <p:txBody>
          <a:bodyPr lIns="0" tIns="0" rIns="0" bIns="0" rtlCol="0" anchor="t">
            <a:spAutoFit/>
          </a:bodyPr>
          <a:lstStyle/>
          <a:p>
            <a:pPr algn="l">
              <a:lnSpc>
                <a:spcPts val="6281"/>
              </a:lnSpc>
              <a:spcBef>
                <a:spcPct val="0"/>
              </a:spcBef>
            </a:pPr>
            <a:r>
              <a:rPr lang="en-US" sz="4907" b="1" spc="-122">
                <a:solidFill>
                  <a:srgbClr val="383838"/>
                </a:solidFill>
                <a:latin typeface="Decalotype Bold"/>
                <a:ea typeface="Decalotype Bold"/>
                <a:cs typeface="Decalotype Bold"/>
                <a:sym typeface="Decalotype Bold"/>
              </a:rPr>
              <a:t>Kết luận</a:t>
            </a:r>
          </a:p>
        </p:txBody>
      </p:sp>
      <p:sp>
        <p:nvSpPr>
          <p:cNvPr id="4" name="TextBox 4"/>
          <p:cNvSpPr txBox="1"/>
          <p:nvPr/>
        </p:nvSpPr>
        <p:spPr>
          <a:xfrm>
            <a:off x="1951266" y="2006600"/>
            <a:ext cx="14853691" cy="7623175"/>
          </a:xfrm>
          <a:prstGeom prst="rect">
            <a:avLst/>
          </a:prstGeom>
        </p:spPr>
        <p:txBody>
          <a:bodyPr lIns="0" tIns="0" rIns="0" bIns="0" rtlCol="0" anchor="t">
            <a:spAutoFit/>
          </a:bodyPr>
          <a:lstStyle/>
          <a:p>
            <a:pPr marL="820417" lvl="1" indent="-410209" algn="l">
              <a:lnSpc>
                <a:spcPts val="5509"/>
              </a:lnSpc>
              <a:buFont typeface="Arial"/>
              <a:buChar char="•"/>
            </a:pPr>
            <a:r>
              <a:rPr lang="en-US" sz="3799">
                <a:solidFill>
                  <a:srgbClr val="383838"/>
                </a:solidFill>
                <a:latin typeface="Decalotype"/>
                <a:ea typeface="Decalotype"/>
                <a:cs typeface="Decalotype"/>
                <a:sym typeface="Decalotype"/>
              </a:rPr>
              <a:t>Đề tài đã xây dựng thành công hệ thống thương mại điện tử theo kiến trúc Microservices, tích hợp AI Agent và workflow automation bằng n8n nhằm nâng cao khả năng mở rộng, tự động hóa và trải nghiệm người dùng.</a:t>
            </a:r>
          </a:p>
          <a:p>
            <a:pPr marL="820417" lvl="1" indent="-410209" algn="l">
              <a:lnSpc>
                <a:spcPts val="5509"/>
              </a:lnSpc>
              <a:buFont typeface="Arial"/>
              <a:buChar char="•"/>
            </a:pPr>
            <a:r>
              <a:rPr lang="en-US" sz="3799">
                <a:solidFill>
                  <a:srgbClr val="383838"/>
                </a:solidFill>
                <a:latin typeface="Decalotype"/>
                <a:ea typeface="Decalotype"/>
                <a:cs typeface="Decalotype"/>
                <a:sym typeface="Decalotype"/>
              </a:rPr>
              <a:t>Hệ thống sử dụng các công nghệ hiện đại như Next.js, NestJS, PostgreSQL, MongoDB, Redis, RabbitMQ và Docker, đồng thời triển khai nhiều AI Agent hỗ trợ tư vấn và cá nhân hóa mua sắm.</a:t>
            </a:r>
          </a:p>
          <a:p>
            <a:pPr marL="820417" lvl="1" indent="-410209" algn="l">
              <a:lnSpc>
                <a:spcPts val="5509"/>
              </a:lnSpc>
              <a:buFont typeface="Arial"/>
              <a:buChar char="•"/>
            </a:pPr>
            <a:r>
              <a:rPr lang="en-US" sz="3799">
                <a:solidFill>
                  <a:srgbClr val="383838"/>
                </a:solidFill>
                <a:latin typeface="Decalotype"/>
                <a:ea typeface="Decalotype"/>
                <a:cs typeface="Decalotype"/>
                <a:sym typeface="Decalotype"/>
              </a:rPr>
              <a:t>Bên cạnh những kết quả đạt được, hệ thống vẫn còn hạn chế về khả năng triển khai thực tế quy mô lớn và các tính năng AI chuyên sâu, tuy nhiên đề tài đã đáp ứng tốt mục tiêu nghiên cứu và giúp nhóm tích lũy nhiều kinh nghiệm thực tế.</a:t>
            </a:r>
          </a:p>
          <a:p>
            <a:pPr algn="l">
              <a:lnSpc>
                <a:spcPts val="5509"/>
              </a:lnSpc>
            </a:pPr>
            <a:endParaRPr lang="en-US" sz="379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42762" y="597953"/>
            <a:ext cx="16822096" cy="778816"/>
          </a:xfrm>
          <a:prstGeom prst="rect">
            <a:avLst/>
          </a:prstGeom>
        </p:spPr>
        <p:txBody>
          <a:bodyPr lIns="0" tIns="0" rIns="0" bIns="0" rtlCol="0" anchor="t">
            <a:spAutoFit/>
          </a:bodyPr>
          <a:lstStyle/>
          <a:p>
            <a:pPr algn="l">
              <a:lnSpc>
                <a:spcPts val="6281"/>
              </a:lnSpc>
              <a:spcBef>
                <a:spcPct val="0"/>
              </a:spcBef>
            </a:pPr>
            <a:r>
              <a:rPr lang="en-US" sz="4907" b="1" spc="-122">
                <a:solidFill>
                  <a:srgbClr val="383838"/>
                </a:solidFill>
                <a:latin typeface="Decalotype Bold"/>
                <a:ea typeface="Decalotype Bold"/>
                <a:cs typeface="Decalotype Bold"/>
                <a:sym typeface="Decalotype Bold"/>
              </a:rPr>
              <a:t>Hướng phát triển</a:t>
            </a:r>
          </a:p>
        </p:txBody>
      </p:sp>
      <p:sp>
        <p:nvSpPr>
          <p:cNvPr id="4" name="TextBox 4"/>
          <p:cNvSpPr txBox="1"/>
          <p:nvPr/>
        </p:nvSpPr>
        <p:spPr>
          <a:xfrm>
            <a:off x="1717155" y="2093912"/>
            <a:ext cx="14853691" cy="5994401"/>
          </a:xfrm>
          <a:prstGeom prst="rect">
            <a:avLst/>
          </a:prstGeom>
        </p:spPr>
        <p:txBody>
          <a:bodyPr lIns="0" tIns="0" rIns="0" bIns="0" rtlCol="0" anchor="t">
            <a:spAutoFit/>
          </a:bodyPr>
          <a:lstStyle/>
          <a:p>
            <a:pPr marL="885186" lvl="1" indent="-442593" algn="l">
              <a:lnSpc>
                <a:spcPts val="5944"/>
              </a:lnSpc>
              <a:buFont typeface="Arial"/>
              <a:buChar char="•"/>
            </a:pPr>
            <a:r>
              <a:rPr lang="en-US" sz="4099">
                <a:solidFill>
                  <a:srgbClr val="383838"/>
                </a:solidFill>
                <a:latin typeface="Decalotype"/>
                <a:ea typeface="Decalotype"/>
                <a:cs typeface="Decalotype"/>
                <a:sym typeface="Decalotype"/>
              </a:rPr>
              <a:t>Trong tương lai, hệ thống có thể mở rộng AI Agent, tích hợp LLM, Computer Vision và triển khai trên cloud kết hợp Kubernetes để tăng khả năng mở rộng.</a:t>
            </a:r>
          </a:p>
          <a:p>
            <a:pPr marL="885186" lvl="1" indent="-442593" algn="l">
              <a:lnSpc>
                <a:spcPts val="5944"/>
              </a:lnSpc>
              <a:buFont typeface="Arial"/>
              <a:buChar char="•"/>
            </a:pPr>
            <a:r>
              <a:rPr lang="en-US" sz="4099">
                <a:solidFill>
                  <a:srgbClr val="383838"/>
                </a:solidFill>
                <a:latin typeface="Decalotype"/>
                <a:ea typeface="Decalotype"/>
                <a:cs typeface="Decalotype"/>
                <a:sym typeface="Decalotype"/>
              </a:rPr>
              <a:t>Ngoài ra, hệ thống sẽ phát triển thêm các tính năng phân tích dữ liệu, mobile app, livestream bán hàng và bảo mật nâng cao nhằm hoàn thiện nền tảng thương mại điện tử thông minh.</a:t>
            </a:r>
          </a:p>
          <a:p>
            <a:pPr algn="l">
              <a:lnSpc>
                <a:spcPts val="5944"/>
              </a:lnSpc>
            </a:pPr>
            <a:endParaRPr lang="en-US" sz="4099">
              <a:solidFill>
                <a:srgbClr val="383838"/>
              </a:solidFill>
              <a:latin typeface="Decalotype"/>
              <a:ea typeface="Decalotype"/>
              <a:cs typeface="Decalotype"/>
              <a:sym typeface="Decalotype"/>
            </a:endParaRPr>
          </a:p>
          <a:p>
            <a:pPr algn="l">
              <a:lnSpc>
                <a:spcPts val="5944"/>
              </a:lnSpc>
            </a:pPr>
            <a:endParaRPr lang="en-US" sz="4099">
              <a:solidFill>
                <a:srgbClr val="383838"/>
              </a:solidFill>
              <a:latin typeface="Decalotype"/>
              <a:ea typeface="Decalotype"/>
              <a:cs typeface="Decalotype"/>
              <a:sym typeface="Decalotype"/>
            </a:endParaRP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4615</Words>
  <Application>Microsoft Office PowerPoint</Application>
  <PresentationFormat>Custom</PresentationFormat>
  <Paragraphs>360</Paragraphs>
  <Slides>62</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5" baseType="lpstr">
      <vt:lpstr>Decalotype Bold</vt:lpstr>
      <vt:lpstr>Decalotype Italics</vt:lpstr>
      <vt:lpstr>Decalotype</vt:lpstr>
      <vt:lpstr>Roca Two</vt:lpstr>
      <vt:lpstr>Noto Sans Bold</vt:lpstr>
      <vt:lpstr>Poppins Bold</vt:lpstr>
      <vt:lpstr>Arial</vt:lpstr>
      <vt:lpstr>Noto Sans Italics</vt:lpstr>
      <vt:lpstr>Noto Sans</vt:lpstr>
      <vt:lpstr>Decalotype Ultra-Bold</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Grey Simple Dynamic Professional Portfolio Presentation</dc:title>
  <cp:lastModifiedBy>Đức Nguyễn Việt</cp:lastModifiedBy>
  <cp:revision>2</cp:revision>
  <dcterms:created xsi:type="dcterms:W3CDTF">2006-08-16T00:00:00Z</dcterms:created>
  <dcterms:modified xsi:type="dcterms:W3CDTF">2026-05-20T07:58:56Z</dcterms:modified>
  <dc:identifier>DAHFHT22sL4</dc:identifier>
</cp:coreProperties>
</file>