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x="18288000" cy="10287000"/>
  <p:notesSz cx="6858000" cy="9144000"/>
  <p:embeddedFontLst>
    <p:embeddedFont>
      <p:font typeface="Noto Sans Bold" charset="1" panose="020B0802040504020204"/>
      <p:regular r:id="rId68"/>
    </p:embeddedFont>
    <p:embeddedFont>
      <p:font typeface="Noto Sans" charset="1" panose="020B0502040504020204"/>
      <p:regular r:id="rId69"/>
    </p:embeddedFont>
    <p:embeddedFont>
      <p:font typeface="Poppins Bold" charset="1" panose="00000800000000000000"/>
      <p:regular r:id="rId70"/>
    </p:embeddedFont>
    <p:embeddedFont>
      <p:font typeface="Noto Sans Italics" charset="1" panose="020B0502040504090204"/>
      <p:regular r:id="rId71"/>
    </p:embeddedFont>
    <p:embeddedFont>
      <p:font typeface="Decalotype Bold" charset="1" panose="00000800000000000000"/>
      <p:regular r:id="rId72"/>
    </p:embeddedFont>
    <p:embeddedFont>
      <p:font typeface="Decalotype" charset="1" panose="00000500000000000000"/>
      <p:regular r:id="rId73"/>
    </p:embeddedFont>
    <p:embeddedFont>
      <p:font typeface="Decalotype Italics" charset="1" panose="00000500000000000000"/>
      <p:regular r:id="rId74"/>
    </p:embeddedFont>
    <p:embeddedFont>
      <p:font typeface="Decalotype Ultra-Bold" charset="1" panose="00000900000000000000"/>
      <p:regular r:id="rId75"/>
    </p:embeddedFont>
    <p:embeddedFont>
      <p:font typeface="Roca Two" charset="1" panose="00000500000000000000"/>
      <p:regular r:id="rId7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70" Target="fonts/font70.fntdata" Type="http://schemas.openxmlformats.org/officeDocument/2006/relationships/font"/><Relationship Id="rId71" Target="fonts/font71.fntdata" Type="http://schemas.openxmlformats.org/officeDocument/2006/relationships/font"/><Relationship Id="rId72" Target="fonts/font72.fntdata" Type="http://schemas.openxmlformats.org/officeDocument/2006/relationships/font"/><Relationship Id="rId73" Target="fonts/font73.fntdata" Type="http://schemas.openxmlformats.org/officeDocument/2006/relationships/font"/><Relationship Id="rId74" Target="fonts/font74.fntdata" Type="http://schemas.openxmlformats.org/officeDocument/2006/relationships/font"/><Relationship Id="rId75" Target="fonts/font75.fntdata" Type="http://schemas.openxmlformats.org/officeDocument/2006/relationships/font"/><Relationship Id="rId76" Target="fonts/font76.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1.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2.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 Id="rId5" Target="../embeddings/oleObject1.bin" Type="http://schemas.openxmlformats.org/officeDocument/2006/relationships/oleObject"/></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embeddings/oleObject2.bin" Type="http://schemas.openxmlformats.org/officeDocument/2006/relationships/oleObject"/></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5.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TextBox 2" id="2"/>
          <p:cNvSpPr txBox="true"/>
          <p:nvPr/>
        </p:nvSpPr>
        <p:spPr>
          <a:xfrm rot="0">
            <a:off x="1028700" y="1438275"/>
            <a:ext cx="13113220" cy="5416281"/>
          </a:xfrm>
          <a:prstGeom prst="rect">
            <a:avLst/>
          </a:prstGeom>
        </p:spPr>
        <p:txBody>
          <a:bodyPr anchor="t" rtlCol="false" tIns="0" lIns="0" bIns="0" rIns="0">
            <a:spAutoFit/>
          </a:bodyPr>
          <a:lstStyle/>
          <a:p>
            <a:pPr algn="l">
              <a:lnSpc>
                <a:spcPts val="20864"/>
              </a:lnSpc>
            </a:pPr>
            <a:r>
              <a:rPr lang="en-US" sz="20864" b="true">
                <a:solidFill>
                  <a:srgbClr val="383838"/>
                </a:solidFill>
                <a:latin typeface="Noto Sans Bold"/>
                <a:ea typeface="Noto Sans Bold"/>
                <a:cs typeface="Noto Sans Bold"/>
                <a:sym typeface="Noto Sans Bold"/>
              </a:rPr>
              <a:t>VELIN SHOP</a:t>
            </a:r>
          </a:p>
        </p:txBody>
      </p:sp>
      <p:sp>
        <p:nvSpPr>
          <p:cNvPr name="Freeform 3" id="3"/>
          <p:cNvSpPr/>
          <p:nvPr/>
        </p:nvSpPr>
        <p:spPr>
          <a:xfrm flipH="false" flipV="false" rot="0">
            <a:off x="9330091" y="1624581"/>
            <a:ext cx="3907547" cy="3809736"/>
          </a:xfrm>
          <a:custGeom>
            <a:avLst/>
            <a:gdLst/>
            <a:ahLst/>
            <a:cxnLst/>
            <a:rect r="r" b="b" t="t" l="l"/>
            <a:pathLst>
              <a:path h="3809736" w="3907547">
                <a:moveTo>
                  <a:pt x="0" y="0"/>
                </a:moveTo>
                <a:lnTo>
                  <a:pt x="3907547" y="0"/>
                </a:lnTo>
                <a:lnTo>
                  <a:pt x="3907547" y="3809736"/>
                </a:lnTo>
                <a:lnTo>
                  <a:pt x="0" y="38097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38225" y="7022809"/>
            <a:ext cx="11850409" cy="638175"/>
          </a:xfrm>
          <a:prstGeom prst="rect">
            <a:avLst/>
          </a:prstGeom>
        </p:spPr>
        <p:txBody>
          <a:bodyPr anchor="t" rtlCol="false" tIns="0" lIns="0" bIns="0" rIns="0">
            <a:spAutoFit/>
          </a:bodyPr>
          <a:lstStyle/>
          <a:p>
            <a:pPr algn="l">
              <a:lnSpc>
                <a:spcPts val="5040"/>
              </a:lnSpc>
            </a:pPr>
            <a:r>
              <a:rPr lang="en-US" sz="4200" b="true">
                <a:solidFill>
                  <a:srgbClr val="383838"/>
                </a:solidFill>
                <a:latin typeface="Noto Sans Bold"/>
                <a:ea typeface="Noto Sans Bold"/>
                <a:cs typeface="Noto Sans Bold"/>
                <a:sym typeface="Noto Sans Bold"/>
              </a:rPr>
              <a:t>Môn học: Các công nghệ lập trình hiện đại</a:t>
            </a:r>
          </a:p>
        </p:txBody>
      </p:sp>
      <p:sp>
        <p:nvSpPr>
          <p:cNvPr name="TextBox 5" id="5"/>
          <p:cNvSpPr txBox="true"/>
          <p:nvPr/>
        </p:nvSpPr>
        <p:spPr>
          <a:xfrm rot="0">
            <a:off x="1028700" y="8030592"/>
            <a:ext cx="9888783" cy="628651"/>
          </a:xfrm>
          <a:prstGeom prst="rect">
            <a:avLst/>
          </a:prstGeom>
        </p:spPr>
        <p:txBody>
          <a:bodyPr anchor="t" rtlCol="false" tIns="0" lIns="0" bIns="0" rIns="0">
            <a:spAutoFit/>
          </a:bodyPr>
          <a:lstStyle/>
          <a:p>
            <a:pPr algn="l" marL="0" indent="0" lvl="0">
              <a:lnSpc>
                <a:spcPts val="5219"/>
              </a:lnSpc>
            </a:pPr>
            <a:r>
              <a:rPr lang="en-US" b="true" sz="3599">
                <a:solidFill>
                  <a:srgbClr val="000000"/>
                </a:solidFill>
                <a:latin typeface="Noto Sans Bold"/>
                <a:ea typeface="Noto Sans Bold"/>
                <a:cs typeface="Noto Sans Bold"/>
                <a:sym typeface="Noto Sans Bold"/>
              </a:rPr>
              <a:t> Giảng viên hướng dẫn: Thầy Đỗ Như Tài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453131"/>
            <a:ext cx="6656741" cy="5380738"/>
          </a:xfrm>
          <a:custGeom>
            <a:avLst/>
            <a:gdLst/>
            <a:ahLst/>
            <a:cxnLst/>
            <a:rect r="r" b="b" t="t" l="l"/>
            <a:pathLst>
              <a:path h="5380738" w="6656741">
                <a:moveTo>
                  <a:pt x="0" y="0"/>
                </a:moveTo>
                <a:lnTo>
                  <a:pt x="6656741" y="0"/>
                </a:lnTo>
                <a:lnTo>
                  <a:pt x="6656741" y="5380738"/>
                </a:lnTo>
                <a:lnTo>
                  <a:pt x="0" y="5380738"/>
                </a:lnTo>
                <a:lnTo>
                  <a:pt x="0" y="0"/>
                </a:lnTo>
                <a:close/>
              </a:path>
            </a:pathLst>
          </a:custGeom>
          <a:blipFill>
            <a:blip r:embed="rId2"/>
            <a:stretch>
              <a:fillRect l="0" t="0" r="0" b="0"/>
            </a:stretch>
          </a:blipFill>
        </p:spPr>
      </p:sp>
      <p:grpSp>
        <p:nvGrpSpPr>
          <p:cNvPr name="Group 3" id="3"/>
          <p:cNvGrpSpPr/>
          <p:nvPr/>
        </p:nvGrpSpPr>
        <p:grpSpPr>
          <a:xfrm rot="0">
            <a:off x="8762813" y="4802318"/>
            <a:ext cx="8496487" cy="2841050"/>
            <a:chOff x="0" y="0"/>
            <a:chExt cx="11328650" cy="3788067"/>
          </a:xfrm>
        </p:grpSpPr>
        <p:sp>
          <p:nvSpPr>
            <p:cNvPr name="TextBox 4" id="4"/>
            <p:cNvSpPr txBox="true"/>
            <p:nvPr/>
          </p:nvSpPr>
          <p:spPr>
            <a:xfrm rot="0">
              <a:off x="0" y="-76200"/>
              <a:ext cx="11328650" cy="736601"/>
            </a:xfrm>
            <a:prstGeom prst="rect">
              <a:avLst/>
            </a:prstGeom>
          </p:spPr>
          <p:txBody>
            <a:bodyPr anchor="t" rtlCol="false" tIns="0" lIns="0" bIns="0" rIns="0">
              <a:spAutoFit/>
            </a:bodyPr>
            <a:lstStyle/>
            <a:p>
              <a:pPr algn="l" marL="0" indent="0" lvl="0">
                <a:lnSpc>
                  <a:spcPts val="4784"/>
                </a:lnSpc>
              </a:pPr>
              <a:r>
                <a:rPr lang="en-US" b="true" sz="3299">
                  <a:solidFill>
                    <a:srgbClr val="000000"/>
                  </a:solidFill>
                  <a:latin typeface="Noto Sans Bold"/>
                  <a:ea typeface="Noto Sans Bold"/>
                  <a:cs typeface="Noto Sans Bold"/>
                  <a:sym typeface="Noto Sans Bold"/>
                </a:rPr>
                <a:t>3122411169 - Nguyễn Phạm Hoàng Quân </a:t>
              </a:r>
            </a:p>
          </p:txBody>
        </p:sp>
        <p:sp>
          <p:nvSpPr>
            <p:cNvPr name="TextBox 5" id="5"/>
            <p:cNvSpPr txBox="true"/>
            <p:nvPr/>
          </p:nvSpPr>
          <p:spPr>
            <a:xfrm rot="0">
              <a:off x="0" y="966355"/>
              <a:ext cx="11328650" cy="736601"/>
            </a:xfrm>
            <a:prstGeom prst="rect">
              <a:avLst/>
            </a:prstGeom>
          </p:spPr>
          <p:txBody>
            <a:bodyPr anchor="t" rtlCol="false" tIns="0" lIns="0" bIns="0" rIns="0">
              <a:spAutoFit/>
            </a:bodyPr>
            <a:lstStyle/>
            <a:p>
              <a:pPr algn="l" marL="0" indent="0" lvl="0">
                <a:lnSpc>
                  <a:spcPts val="4784"/>
                </a:lnSpc>
              </a:pPr>
              <a:r>
                <a:rPr lang="en-US" b="true" sz="3299">
                  <a:solidFill>
                    <a:srgbClr val="000000"/>
                  </a:solidFill>
                  <a:latin typeface="Noto Sans Bold"/>
                  <a:ea typeface="Noto Sans Bold"/>
                  <a:cs typeface="Noto Sans Bold"/>
                  <a:sym typeface="Noto Sans Bold"/>
                </a:rPr>
                <a:t>3122411208 - Nguyễn Trần Quốc Tiến </a:t>
              </a:r>
            </a:p>
          </p:txBody>
        </p:sp>
        <p:sp>
          <p:nvSpPr>
            <p:cNvPr name="TextBox 6" id="6"/>
            <p:cNvSpPr txBox="true"/>
            <p:nvPr/>
          </p:nvSpPr>
          <p:spPr>
            <a:xfrm rot="0">
              <a:off x="0" y="2008911"/>
              <a:ext cx="11328650" cy="736601"/>
            </a:xfrm>
            <a:prstGeom prst="rect">
              <a:avLst/>
            </a:prstGeom>
          </p:spPr>
          <p:txBody>
            <a:bodyPr anchor="t" rtlCol="false" tIns="0" lIns="0" bIns="0" rIns="0">
              <a:spAutoFit/>
            </a:bodyPr>
            <a:lstStyle/>
            <a:p>
              <a:pPr algn="l" marL="0" indent="0" lvl="0">
                <a:lnSpc>
                  <a:spcPts val="4784"/>
                </a:lnSpc>
              </a:pPr>
              <a:r>
                <a:rPr lang="en-US" b="true" sz="3299">
                  <a:solidFill>
                    <a:srgbClr val="000000"/>
                  </a:solidFill>
                  <a:latin typeface="Noto Sans Bold"/>
                  <a:ea typeface="Noto Sans Bold"/>
                  <a:cs typeface="Noto Sans Bold"/>
                  <a:sym typeface="Noto Sans Bold"/>
                </a:rPr>
                <a:t>3122411117 - Nguyễn Huỳnh Phương Lộc </a:t>
              </a:r>
            </a:p>
          </p:txBody>
        </p:sp>
        <p:sp>
          <p:nvSpPr>
            <p:cNvPr name="TextBox 7" id="7"/>
            <p:cNvSpPr txBox="true"/>
            <p:nvPr/>
          </p:nvSpPr>
          <p:spPr>
            <a:xfrm rot="0">
              <a:off x="0" y="3051466"/>
              <a:ext cx="11328650" cy="736601"/>
            </a:xfrm>
            <a:prstGeom prst="rect">
              <a:avLst/>
            </a:prstGeom>
          </p:spPr>
          <p:txBody>
            <a:bodyPr anchor="t" rtlCol="false" tIns="0" lIns="0" bIns="0" rIns="0">
              <a:spAutoFit/>
            </a:bodyPr>
            <a:lstStyle/>
            <a:p>
              <a:pPr algn="l" marL="0" indent="0" lvl="0">
                <a:lnSpc>
                  <a:spcPts val="4784"/>
                </a:lnSpc>
              </a:pPr>
              <a:r>
                <a:rPr lang="en-US" b="true" sz="3299">
                  <a:solidFill>
                    <a:srgbClr val="000000"/>
                  </a:solidFill>
                  <a:latin typeface="Noto Sans Bold"/>
                  <a:ea typeface="Noto Sans Bold"/>
                  <a:cs typeface="Noto Sans Bold"/>
                  <a:sym typeface="Noto Sans Bold"/>
                </a:rPr>
                <a:t>3122411044 - Nguyễn Việt Đức</a:t>
              </a:r>
            </a:p>
          </p:txBody>
        </p:sp>
      </p:grpSp>
      <p:sp>
        <p:nvSpPr>
          <p:cNvPr name="TextBox 8" id="8"/>
          <p:cNvSpPr txBox="true"/>
          <p:nvPr/>
        </p:nvSpPr>
        <p:spPr>
          <a:xfrm rot="0">
            <a:off x="8547752" y="2602016"/>
            <a:ext cx="8496487" cy="1581150"/>
          </a:xfrm>
          <a:prstGeom prst="rect">
            <a:avLst/>
          </a:prstGeom>
        </p:spPr>
        <p:txBody>
          <a:bodyPr anchor="t" rtlCol="false" tIns="0" lIns="0" bIns="0" rIns="0">
            <a:spAutoFit/>
          </a:bodyPr>
          <a:lstStyle/>
          <a:p>
            <a:pPr algn="ctr">
              <a:lnSpc>
                <a:spcPts val="13050"/>
              </a:lnSpc>
              <a:spcBef>
                <a:spcPct val="0"/>
              </a:spcBef>
            </a:pPr>
            <a:r>
              <a:rPr lang="en-US" b="true" sz="9000">
                <a:solidFill>
                  <a:srgbClr val="000000"/>
                </a:solidFill>
                <a:latin typeface="Noto Sans Bold"/>
                <a:ea typeface="Noto Sans Bold"/>
                <a:cs typeface="Noto Sans Bold"/>
                <a:sym typeface="Noto Sans Bold"/>
              </a:rPr>
              <a:t>THÀNH VIÊN</a:t>
            </a: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028700"/>
          <a:ext cx="9395535" cy="2389436"/>
        </p:xfrm>
        <a:graphic>
          <a:graphicData uri="http://schemas.openxmlformats.org/drawingml/2006/table">
            <a:tbl>
              <a:tblPr/>
              <a:tblGrid>
                <a:gridCol w="9395535"/>
              </a:tblGrid>
              <a:tr h="2389436">
                <a:tc>
                  <a:txBody>
                    <a:bodyPr anchor="t" rtlCol="false"/>
                    <a:lstStyle/>
                    <a:p>
                      <a:pPr algn="ctr">
                        <a:lnSpc>
                          <a:spcPts val="9801"/>
                        </a:lnSpc>
                        <a:defRPr/>
                      </a:pPr>
                      <a:r>
                        <a:rPr lang="en-US" b="true" sz="7000" spc="-560">
                          <a:solidFill>
                            <a:srgbClr val="000000"/>
                          </a:solidFill>
                          <a:latin typeface="Noto Sans Bold"/>
                          <a:ea typeface="Noto Sans Bold"/>
                          <a:cs typeface="Noto Sans Bold"/>
                          <a:sym typeface="Noto Sans Bold"/>
                        </a:rPr>
                        <a:t>THƯƠNG MẠI ĐIỆN TỬ</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sp>
        <p:nvSpPr>
          <p:cNvPr name="TextBox 3" id="3"/>
          <p:cNvSpPr txBox="true"/>
          <p:nvPr/>
        </p:nvSpPr>
        <p:spPr>
          <a:xfrm rot="0">
            <a:off x="1239031" y="3638940"/>
            <a:ext cx="12474009" cy="5471538"/>
          </a:xfrm>
          <a:prstGeom prst="rect">
            <a:avLst/>
          </a:prstGeom>
        </p:spPr>
        <p:txBody>
          <a:bodyPr anchor="t" rtlCol="false" tIns="0" lIns="0" bIns="0" rIns="0">
            <a:spAutoFit/>
          </a:bodyPr>
          <a:lstStyle/>
          <a:p>
            <a:pPr algn="l">
              <a:lnSpc>
                <a:spcPts val="4929"/>
              </a:lnSpc>
            </a:pPr>
            <a:r>
              <a:rPr lang="en-US" sz="3399">
                <a:solidFill>
                  <a:srgbClr val="000000"/>
                </a:solidFill>
                <a:latin typeface="Noto Sans"/>
                <a:ea typeface="Noto Sans"/>
                <a:cs typeface="Noto Sans"/>
                <a:sym typeface="Noto Sans"/>
              </a:rPr>
              <a:t>Trong những năm gần đây, thương mại điện tử đã trở thành một xu hướng tất yếu trong quá trình chuyển đổi số. Các hệ thống phần mềm hiện đại không chỉ cần đáp ứng chức năng mua bán trực tuyến mà còn phải:</a:t>
            </a:r>
          </a:p>
          <a:p>
            <a:pPr algn="l">
              <a:lnSpc>
                <a:spcPts val="4929"/>
              </a:lnSpc>
            </a:pPr>
          </a:p>
          <a:p>
            <a:pPr algn="l" marL="734059" indent="-367030" lvl="1">
              <a:lnSpc>
                <a:spcPts val="4929"/>
              </a:lnSpc>
              <a:buFont typeface="Arial"/>
              <a:buChar char="•"/>
            </a:pPr>
            <a:r>
              <a:rPr lang="en-US" sz="3399">
                <a:solidFill>
                  <a:srgbClr val="000000"/>
                </a:solidFill>
                <a:latin typeface="Noto Sans"/>
                <a:ea typeface="Noto Sans"/>
                <a:cs typeface="Noto Sans"/>
                <a:sym typeface="Noto Sans"/>
              </a:rPr>
              <a:t>Linh hoạt và dễ mở rộng</a:t>
            </a:r>
          </a:p>
          <a:p>
            <a:pPr algn="l" marL="734059" indent="-367030" lvl="1">
              <a:lnSpc>
                <a:spcPts val="4929"/>
              </a:lnSpc>
              <a:buFont typeface="Arial"/>
              <a:buChar char="•"/>
            </a:pPr>
            <a:r>
              <a:rPr lang="en-US" sz="3399">
                <a:solidFill>
                  <a:srgbClr val="000000"/>
                </a:solidFill>
                <a:latin typeface="Noto Sans"/>
                <a:ea typeface="Noto Sans"/>
                <a:cs typeface="Noto Sans"/>
                <a:sym typeface="Noto Sans"/>
              </a:rPr>
              <a:t>Tích hợp được nhiều công nghệ mới</a:t>
            </a:r>
          </a:p>
          <a:p>
            <a:pPr algn="l" marL="734059" indent="-367030" lvl="1">
              <a:lnSpc>
                <a:spcPts val="4929"/>
              </a:lnSpc>
              <a:buFont typeface="Arial"/>
              <a:buChar char="•"/>
            </a:pPr>
            <a:r>
              <a:rPr lang="en-US" sz="3399">
                <a:solidFill>
                  <a:srgbClr val="000000"/>
                </a:solidFill>
                <a:latin typeface="Noto Sans"/>
                <a:ea typeface="Noto Sans"/>
                <a:cs typeface="Noto Sans"/>
                <a:sym typeface="Noto Sans"/>
              </a:rPr>
              <a:t>Tự động hóa các quy trình nghiệp vụ</a:t>
            </a:r>
          </a:p>
          <a:p>
            <a:pPr algn="l" marL="0" indent="0" lvl="0">
              <a:lnSpc>
                <a:spcPts val="4257"/>
              </a:lnSpc>
              <a:spcBef>
                <a:spcPct val="0"/>
              </a:spcBef>
            </a:pPr>
          </a:p>
        </p:txBody>
      </p:sp>
    </p:spTree>
  </p:cSld>
  <p:clrMapOvr>
    <a:masterClrMapping/>
  </p:clrMapOvr>
  <p:transition spd="fast">
    <p:push dir="l"/>
  </p:transition>
</p:sld>
</file>

<file path=ppt/slides/slide4.xml><?xml version="1.0" encoding="utf-8"?>
<p:sld xmlns:p="http://schemas.openxmlformats.org/presentationml/2006/main" xmlns:a="http://schemas.openxmlformats.org/drawingml/2006/main">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028700"/>
          <a:ext cx="9395535" cy="2389436"/>
        </p:xfrm>
        <a:graphic>
          <a:graphicData uri="http://schemas.openxmlformats.org/drawingml/2006/table">
            <a:tbl>
              <a:tblPr/>
              <a:tblGrid>
                <a:gridCol w="9395535"/>
              </a:tblGrid>
              <a:tr h="2389436">
                <a:tc>
                  <a:txBody>
                    <a:bodyPr anchor="t" rtlCol="false"/>
                    <a:lstStyle/>
                    <a:p>
                      <a:pPr algn="ctr">
                        <a:lnSpc>
                          <a:spcPts val="9801"/>
                        </a:lnSpc>
                        <a:defRPr/>
                      </a:pPr>
                      <a:r>
                        <a:rPr lang="en-US" b="true" sz="7000" spc="-560">
                          <a:solidFill>
                            <a:srgbClr val="000000"/>
                          </a:solidFill>
                          <a:latin typeface="Noto Sans Bold"/>
                          <a:ea typeface="Noto Sans Bold"/>
                          <a:cs typeface="Noto Sans Bold"/>
                          <a:sym typeface="Noto Sans Bold"/>
                        </a:rPr>
                        <a:t>THƯƠNG MẠI ĐIỆN TỬ</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sp>
        <p:nvSpPr>
          <p:cNvPr name="TextBox 3" id="3"/>
          <p:cNvSpPr txBox="true"/>
          <p:nvPr/>
        </p:nvSpPr>
        <p:spPr>
          <a:xfrm rot="0">
            <a:off x="1028700" y="4002238"/>
            <a:ext cx="15752576" cy="4930775"/>
          </a:xfrm>
          <a:prstGeom prst="rect">
            <a:avLst/>
          </a:prstGeom>
        </p:spPr>
        <p:txBody>
          <a:bodyPr anchor="t" rtlCol="false" tIns="0" lIns="0" bIns="0" rIns="0">
            <a:spAutoFit/>
          </a:bodyPr>
          <a:lstStyle/>
          <a:p>
            <a:pPr algn="l">
              <a:lnSpc>
                <a:spcPts val="4929"/>
              </a:lnSpc>
            </a:pPr>
            <a:r>
              <a:rPr lang="en-US" sz="3399">
                <a:solidFill>
                  <a:srgbClr val="000000"/>
                </a:solidFill>
                <a:latin typeface="Noto Sans"/>
                <a:ea typeface="Noto Sans"/>
                <a:cs typeface="Noto Sans"/>
                <a:sym typeface="Noto Sans"/>
              </a:rPr>
              <a:t>Xuất phát từ thực tế đó, đồ án “Website thương mại điện tử tích hợp công nghệ n8n” được xây dựng dựa trên nền tảng mã nguồn mở Saleor, một hệ thống thương mại điện tử hiện đại sử dụng:</a:t>
            </a:r>
          </a:p>
          <a:p>
            <a:pPr algn="l">
              <a:lnSpc>
                <a:spcPts val="4929"/>
              </a:lnSpc>
            </a:pPr>
          </a:p>
          <a:p>
            <a:pPr algn="l" marL="734059" indent="-367030" lvl="1">
              <a:lnSpc>
                <a:spcPts val="4929"/>
              </a:lnSpc>
              <a:buFont typeface="Arial"/>
              <a:buChar char="•"/>
            </a:pPr>
            <a:r>
              <a:rPr lang="en-US" sz="3399">
                <a:solidFill>
                  <a:srgbClr val="000000"/>
                </a:solidFill>
                <a:latin typeface="Noto Sans"/>
                <a:ea typeface="Noto Sans"/>
                <a:cs typeface="Noto Sans"/>
                <a:sym typeface="Noto Sans"/>
              </a:rPr>
              <a:t>Kiến trúc Headless Commerce</a:t>
            </a:r>
          </a:p>
          <a:p>
            <a:pPr algn="l" marL="734059" indent="-367030" lvl="1">
              <a:lnSpc>
                <a:spcPts val="4929"/>
              </a:lnSpc>
              <a:buFont typeface="Arial"/>
              <a:buChar char="•"/>
            </a:pPr>
            <a:r>
              <a:rPr lang="en-US" sz="3399">
                <a:solidFill>
                  <a:srgbClr val="000000"/>
                </a:solidFill>
                <a:latin typeface="Noto Sans"/>
                <a:ea typeface="Noto Sans"/>
                <a:cs typeface="Noto Sans"/>
                <a:sym typeface="Noto Sans"/>
              </a:rPr>
              <a:t>API GraphQ</a:t>
            </a:r>
            <a:r>
              <a:rPr lang="en-US" sz="3399">
                <a:solidFill>
                  <a:srgbClr val="000000"/>
                </a:solidFill>
                <a:latin typeface="Noto Sans"/>
                <a:ea typeface="Noto Sans"/>
                <a:cs typeface="Noto Sans"/>
                <a:sym typeface="Noto Sans"/>
              </a:rPr>
              <a:t>L</a:t>
            </a:r>
          </a:p>
          <a:p>
            <a:pPr algn="l" marL="734059" indent="-367030" lvl="1">
              <a:lnSpc>
                <a:spcPts val="4929"/>
              </a:lnSpc>
              <a:buFont typeface="Arial"/>
              <a:buChar char="•"/>
            </a:pPr>
            <a:r>
              <a:rPr lang="en-US" sz="3399">
                <a:solidFill>
                  <a:srgbClr val="000000"/>
                </a:solidFill>
                <a:latin typeface="Noto Sans"/>
                <a:ea typeface="Noto Sans"/>
                <a:cs typeface="Noto Sans"/>
                <a:sym typeface="Noto Sans"/>
              </a:rPr>
              <a:t>K</a:t>
            </a:r>
            <a:r>
              <a:rPr lang="en-US" sz="3399">
                <a:solidFill>
                  <a:srgbClr val="000000"/>
                </a:solidFill>
                <a:latin typeface="Noto Sans"/>
                <a:ea typeface="Noto Sans"/>
                <a:cs typeface="Noto Sans"/>
                <a:sym typeface="Noto Sans"/>
              </a:rPr>
              <a:t>hả năng tách biệt giữa giao diện và xử lý nghiệp vụ</a:t>
            </a:r>
          </a:p>
          <a:p>
            <a:pPr algn="l" marL="0" indent="0" lvl="0">
              <a:lnSpc>
                <a:spcPts val="4929"/>
              </a:lnSpc>
              <a:spcBef>
                <a:spcPct val="0"/>
              </a:spcBef>
            </a:pPr>
          </a:p>
        </p:txBody>
      </p:sp>
    </p:spTree>
  </p:cSld>
  <p:clrMapOvr>
    <a:masterClrMapping/>
  </p:clrMapOvr>
  <p:transition spd="fast">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EDEA"/>
        </a:solidFill>
      </p:bgPr>
    </p:bg>
    <p:spTree>
      <p:nvGrpSpPr>
        <p:cNvPr id="1" name=""/>
        <p:cNvGrpSpPr/>
        <p:nvPr/>
      </p:nvGrpSpPr>
      <p:grpSpPr>
        <a:xfrm>
          <a:off x="0" y="0"/>
          <a:ext cx="0" cy="0"/>
          <a:chOff x="0" y="0"/>
          <a:chExt cx="0" cy="0"/>
        </a:xfrm>
      </p:grpSpPr>
      <p:grpSp>
        <p:nvGrpSpPr>
          <p:cNvPr name="Group 2" id="2"/>
          <p:cNvGrpSpPr/>
          <p:nvPr/>
        </p:nvGrpSpPr>
        <p:grpSpPr>
          <a:xfrm rot="0">
            <a:off x="11387278" y="1882322"/>
            <a:ext cx="5561464" cy="7189105"/>
            <a:chOff x="0" y="0"/>
            <a:chExt cx="1464748" cy="1893427"/>
          </a:xfrm>
        </p:grpSpPr>
        <p:sp>
          <p:nvSpPr>
            <p:cNvPr name="Freeform 3" id="3"/>
            <p:cNvSpPr/>
            <p:nvPr/>
          </p:nvSpPr>
          <p:spPr>
            <a:xfrm flipH="false" flipV="false" rot="0">
              <a:off x="0" y="0"/>
              <a:ext cx="1464748" cy="1893427"/>
            </a:xfrm>
            <a:custGeom>
              <a:avLst/>
              <a:gdLst/>
              <a:ahLst/>
              <a:cxnLst/>
              <a:rect r="r" b="b" t="t" l="l"/>
              <a:pathLst>
                <a:path h="1893427" w="1464748">
                  <a:moveTo>
                    <a:pt x="70995" y="0"/>
                  </a:moveTo>
                  <a:lnTo>
                    <a:pt x="1393753" y="0"/>
                  </a:lnTo>
                  <a:cubicBezTo>
                    <a:pt x="1412582" y="0"/>
                    <a:pt x="1430640" y="7480"/>
                    <a:pt x="1443954" y="20794"/>
                  </a:cubicBezTo>
                  <a:cubicBezTo>
                    <a:pt x="1457268" y="34108"/>
                    <a:pt x="1464748" y="52166"/>
                    <a:pt x="1464748" y="70995"/>
                  </a:cubicBezTo>
                  <a:lnTo>
                    <a:pt x="1464748" y="1822432"/>
                  </a:lnTo>
                  <a:cubicBezTo>
                    <a:pt x="1464748" y="1861641"/>
                    <a:pt x="1432962" y="1893427"/>
                    <a:pt x="1393753" y="1893427"/>
                  </a:cubicBezTo>
                  <a:lnTo>
                    <a:pt x="70995" y="1893427"/>
                  </a:lnTo>
                  <a:cubicBezTo>
                    <a:pt x="31786" y="1893427"/>
                    <a:pt x="0" y="1861641"/>
                    <a:pt x="0" y="1822432"/>
                  </a:cubicBezTo>
                  <a:lnTo>
                    <a:pt x="0" y="70995"/>
                  </a:lnTo>
                  <a:cubicBezTo>
                    <a:pt x="0" y="52166"/>
                    <a:pt x="7480" y="34108"/>
                    <a:pt x="20794" y="20794"/>
                  </a:cubicBezTo>
                  <a:cubicBezTo>
                    <a:pt x="34108" y="7480"/>
                    <a:pt x="52166" y="0"/>
                    <a:pt x="70995" y="0"/>
                  </a:cubicBezTo>
                  <a:close/>
                </a:path>
              </a:pathLst>
            </a:custGeom>
            <a:ln w="19050" cap="rnd">
              <a:solidFill>
                <a:srgbClr val="000000"/>
              </a:solidFill>
              <a:prstDash val="solid"/>
              <a:round/>
            </a:ln>
          </p:spPr>
        </p:sp>
        <p:sp>
          <p:nvSpPr>
            <p:cNvPr name="TextBox 4" id="4"/>
            <p:cNvSpPr txBox="true"/>
            <p:nvPr/>
          </p:nvSpPr>
          <p:spPr>
            <a:xfrm>
              <a:off x="0" y="-57150"/>
              <a:ext cx="1464748" cy="1950577"/>
            </a:xfrm>
            <a:prstGeom prst="rect">
              <a:avLst/>
            </a:prstGeom>
          </p:spPr>
          <p:txBody>
            <a:bodyPr anchor="ctr" rtlCol="false" tIns="50800" lIns="50800" bIns="50800" rIns="50800"/>
            <a:lstStyle/>
            <a:p>
              <a:pPr algn="ctr">
                <a:lnSpc>
                  <a:spcPts val="3219"/>
                </a:lnSpc>
              </a:pPr>
            </a:p>
          </p:txBody>
        </p:sp>
      </p:grpSp>
      <p:sp>
        <p:nvSpPr>
          <p:cNvPr name="Freeform 5" id="5"/>
          <p:cNvSpPr/>
          <p:nvPr/>
        </p:nvSpPr>
        <p:spPr>
          <a:xfrm flipH="false" flipV="false" rot="0">
            <a:off x="11248170" y="2338045"/>
            <a:ext cx="5839680" cy="6733383"/>
          </a:xfrm>
          <a:custGeom>
            <a:avLst/>
            <a:gdLst/>
            <a:ahLst/>
            <a:cxnLst/>
            <a:rect r="r" b="b" t="t" l="l"/>
            <a:pathLst>
              <a:path h="6733383" w="5839680">
                <a:moveTo>
                  <a:pt x="0" y="0"/>
                </a:moveTo>
                <a:lnTo>
                  <a:pt x="5839680" y="0"/>
                </a:lnTo>
                <a:lnTo>
                  <a:pt x="5839680" y="6733383"/>
                </a:lnTo>
                <a:lnTo>
                  <a:pt x="0" y="67333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151134" y="1573901"/>
            <a:ext cx="1326859" cy="132685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219"/>
                </a:lnSpc>
              </a:pPr>
            </a:p>
          </p:txBody>
        </p:sp>
      </p:grpSp>
      <p:graphicFrame>
        <p:nvGraphicFramePr>
          <p:cNvPr name="Table 9" id="9"/>
          <p:cNvGraphicFramePr>
            <a:graphicFrameLocks noGrp="true"/>
          </p:cNvGraphicFramePr>
          <p:nvPr/>
        </p:nvGraphicFramePr>
        <p:xfrm>
          <a:off x="1028700" y="2338045"/>
          <a:ext cx="8511019" cy="7229475"/>
        </p:xfrm>
        <a:graphic>
          <a:graphicData uri="http://schemas.openxmlformats.org/drawingml/2006/table">
            <a:tbl>
              <a:tblPr/>
              <a:tblGrid>
                <a:gridCol w="1479772"/>
                <a:gridCol w="7031246"/>
              </a:tblGrid>
              <a:tr h="976697">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Tổng quan đề tài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76697">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Cơ sở lý thuyết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69291">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Phân tích yêu cầu và thiết kế hệ thống e-commerce AI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76697">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Thiết kế hệ thống microservice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76697">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Triển khai hệ thống microservice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76697">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Tích hợp AI Agent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76697">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Tổng kết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1507291" y="926861"/>
            <a:ext cx="6836968" cy="1310470"/>
          </a:xfrm>
          <a:prstGeom prst="rect">
            <a:avLst/>
          </a:prstGeom>
        </p:spPr>
        <p:txBody>
          <a:bodyPr anchor="t" rtlCol="false" tIns="0" lIns="0" bIns="0" rIns="0">
            <a:spAutoFit/>
          </a:bodyPr>
          <a:lstStyle/>
          <a:p>
            <a:pPr algn="ctr">
              <a:lnSpc>
                <a:spcPts val="8933"/>
              </a:lnSpc>
            </a:pPr>
            <a:r>
              <a:rPr lang="en-US" b="true" sz="9606" spc="-614">
                <a:solidFill>
                  <a:srgbClr val="000000"/>
                </a:solidFill>
                <a:latin typeface="Poppins Bold"/>
                <a:ea typeface="Poppins Bold"/>
                <a:cs typeface="Poppins Bold"/>
                <a:sym typeface="Poppins Bold"/>
              </a:rPr>
              <a:t>MỤC LỤC</a:t>
            </a:r>
          </a:p>
        </p:txBody>
      </p:sp>
    </p:spTree>
  </p:cSld>
  <p:clrMapOvr>
    <a:masterClrMapping/>
  </p:clrMapOvr>
  <p:transition spd="fast">
    <p:push dir="l"/>
  </p:transition>
</p:sld>
</file>

<file path=ppt/slides/slide6.xml><?xml version="1.0" encoding="utf-8"?>
<p:sld xmlns:p="http://schemas.openxmlformats.org/presentationml/2006/main" xmlns:a="http://schemas.openxmlformats.org/drawingml/2006/main">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028700"/>
          <a:ext cx="11985522" cy="2190750"/>
        </p:xfrm>
        <a:graphic>
          <a:graphicData uri="http://schemas.openxmlformats.org/drawingml/2006/table">
            <a:tbl>
              <a:tblPr/>
              <a:tblGrid>
                <a:gridCol w="11985522"/>
              </a:tblGrid>
              <a:tr h="2190750">
                <a:tc>
                  <a:txBody>
                    <a:bodyPr anchor="t" rtlCol="false"/>
                    <a:lstStyle/>
                    <a:p>
                      <a:pPr algn="ctr">
                        <a:lnSpc>
                          <a:spcPts val="13720"/>
                        </a:lnSpc>
                        <a:defRPr/>
                      </a:pPr>
                      <a:r>
                        <a:rPr lang="en-US" b="true" sz="9800" spc="-784">
                          <a:solidFill>
                            <a:srgbClr val="383838"/>
                          </a:solidFill>
                          <a:latin typeface="Noto Sans Bold"/>
                          <a:ea typeface="Noto Sans Bold"/>
                          <a:cs typeface="Noto Sans Bold"/>
                          <a:sym typeface="Noto Sans Bold"/>
                        </a:rPr>
                        <a:t>TỔNG QUAN ĐỀ TÀI</a:t>
                      </a:r>
                      <a:endParaRPr lang="en-US" sz="1100"/>
                    </a:p>
                  </a:txBody>
                  <a:tcPr marL="114300" marR="114300" marT="114300" marB="114300" anchor="t">
                    <a:lnL cmpd="sng" algn="ctr" cap="flat" w="9525">
                      <a:solidFill>
                        <a:srgbClr val="EFEEE8"/>
                      </a:solidFill>
                      <a:prstDash val="solid"/>
                      <a:round/>
                      <a:headEnd type="none" w="med" len="med"/>
                      <a:tailEnd type="none" w="med" len="med"/>
                    </a:lnL>
                    <a:lnR cmpd="sng" algn="ctr" cap="flat" w="9525">
                      <a:solidFill>
                        <a:srgbClr val="EFEEE8"/>
                      </a:solidFill>
                      <a:prstDash val="solid"/>
                      <a:round/>
                      <a:headEnd type="none" w="med" len="med"/>
                      <a:tailEnd type="none" w="med" len="med"/>
                    </a:lnR>
                    <a:lnT cmpd="sng" algn="ctr" cap="flat" w="9525">
                      <a:solidFill>
                        <a:srgbClr val="EFEEE8"/>
                      </a:solidFill>
                      <a:prstDash val="solid"/>
                      <a:round/>
                      <a:headEnd type="none" w="med" len="med"/>
                      <a:tailEnd type="none" w="med" len="med"/>
                    </a:lnT>
                    <a:lnB cmpd="sng" algn="ctr" cap="flat" w="9525">
                      <a:solidFill>
                        <a:srgbClr val="EFEEE8"/>
                      </a:solidFill>
                      <a:prstDash val="solid"/>
                      <a:round/>
                      <a:headEnd type="none" w="med" len="med"/>
                      <a:tailEnd type="none" w="med" len="med"/>
                    </a:lnB>
                  </a:tcPr>
                </a:tc>
              </a:tr>
            </a:tbl>
          </a:graphicData>
        </a:graphic>
      </p:graphicFrame>
      <p:graphicFrame>
        <p:nvGraphicFramePr>
          <p:cNvPr name="Table 3" id="3"/>
          <p:cNvGraphicFramePr>
            <a:graphicFrameLocks noGrp="true"/>
          </p:cNvGraphicFramePr>
          <p:nvPr/>
        </p:nvGraphicFramePr>
        <p:xfrm>
          <a:off x="6049384" y="3577707"/>
          <a:ext cx="11209916" cy="4740262"/>
        </p:xfrm>
        <a:graphic>
          <a:graphicData uri="http://schemas.openxmlformats.org/drawingml/2006/table">
            <a:tbl>
              <a:tblPr/>
              <a:tblGrid>
                <a:gridCol w="2360784"/>
                <a:gridCol w="8849132"/>
              </a:tblGrid>
              <a:tr h="1580087">
                <a:tc>
                  <a:txBody>
                    <a:bodyPr anchor="t" rtlCol="false"/>
                    <a:lstStyle/>
                    <a:p>
                      <a:pPr algn="l">
                        <a:lnSpc>
                          <a:spcPts val="3780"/>
                        </a:lnSpc>
                        <a:defRPr/>
                      </a:pPr>
                      <a:r>
                        <a:rPr lang="en-US" sz="2700" b="true">
                          <a:solidFill>
                            <a:srgbClr val="383838"/>
                          </a:solidFill>
                          <a:latin typeface="Noto Sans Bold"/>
                          <a:ea typeface="Noto Sans Bold"/>
                          <a:cs typeface="Noto Sans Bold"/>
                          <a:sym typeface="Noto Sans Bold"/>
                        </a:rPr>
                        <a:t>#1</a:t>
                      </a:r>
                      <a:endParaRPr lang="en-US" sz="1100"/>
                    </a:p>
                  </a:txBody>
                  <a:tcPr marL="114300" marR="114300" marT="114300" marB="1143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779"/>
                        </a:lnSpc>
                        <a:defRPr/>
                      </a:pPr>
                      <a:r>
                        <a:rPr lang="en-US" sz="2699" b="true">
                          <a:solidFill>
                            <a:srgbClr val="000000"/>
                          </a:solidFill>
                          <a:latin typeface="Noto Sans Bold"/>
                          <a:ea typeface="Noto Sans Bold"/>
                          <a:cs typeface="Noto Sans Bold"/>
                          <a:sym typeface="Noto Sans Bold"/>
                        </a:rPr>
                        <a:t>Lý do chọn đề tài</a:t>
                      </a:r>
                      <a:endParaRPr lang="en-US" sz="1100"/>
                    </a:p>
                  </a:txBody>
                  <a:tcPr marL="114300" marR="114300" marT="114300" marB="1143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580087">
                <a:tc>
                  <a:txBody>
                    <a:bodyPr anchor="t" rtlCol="false"/>
                    <a:lstStyle/>
                    <a:p>
                      <a:pPr algn="l">
                        <a:lnSpc>
                          <a:spcPts val="3780"/>
                        </a:lnSpc>
                        <a:defRPr/>
                      </a:pPr>
                      <a:r>
                        <a:rPr lang="en-US" sz="2700" b="true">
                          <a:solidFill>
                            <a:srgbClr val="383838"/>
                          </a:solidFill>
                          <a:latin typeface="Noto Sans Bold"/>
                          <a:ea typeface="Noto Sans Bold"/>
                          <a:cs typeface="Noto Sans Bold"/>
                          <a:sym typeface="Noto Sans Bold"/>
                        </a:rPr>
                        <a:t>#2</a:t>
                      </a:r>
                      <a:endParaRPr lang="en-US" sz="1100"/>
                    </a:p>
                  </a:txBody>
                  <a:tcPr marL="114300" marR="114300" marT="114300" marB="1143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780"/>
                        </a:lnSpc>
                        <a:defRPr/>
                      </a:pPr>
                      <a:r>
                        <a:rPr lang="en-US" sz="2700" b="true">
                          <a:solidFill>
                            <a:srgbClr val="383838"/>
                          </a:solidFill>
                          <a:latin typeface="Noto Sans Bold"/>
                          <a:ea typeface="Noto Sans Bold"/>
                          <a:cs typeface="Noto Sans Bold"/>
                          <a:sym typeface="Noto Sans Bold"/>
                        </a:rPr>
                        <a:t>Mục tiêu của đề tài</a:t>
                      </a:r>
                      <a:endParaRPr lang="en-US" sz="1100"/>
                    </a:p>
                  </a:txBody>
                  <a:tcPr marL="114300" marR="114300" marT="114300" marB="1143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580087">
                <a:tc>
                  <a:txBody>
                    <a:bodyPr anchor="t" rtlCol="false"/>
                    <a:lstStyle/>
                    <a:p>
                      <a:pPr algn="l">
                        <a:lnSpc>
                          <a:spcPts val="3780"/>
                        </a:lnSpc>
                        <a:defRPr/>
                      </a:pPr>
                      <a:r>
                        <a:rPr lang="en-US" sz="2700" b="true">
                          <a:solidFill>
                            <a:srgbClr val="383838"/>
                          </a:solidFill>
                          <a:latin typeface="Noto Sans Bold"/>
                          <a:ea typeface="Noto Sans Bold"/>
                          <a:cs typeface="Noto Sans Bold"/>
                          <a:sym typeface="Noto Sans Bold"/>
                        </a:rPr>
                        <a:t>#3</a:t>
                      </a:r>
                      <a:endParaRPr lang="en-US" sz="1100"/>
                    </a:p>
                  </a:txBody>
                  <a:tcPr marL="114300" marR="114300" marT="114300" marB="1143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780"/>
                        </a:lnSpc>
                        <a:defRPr/>
                      </a:pPr>
                      <a:r>
                        <a:rPr lang="en-US" sz="2700" b="true">
                          <a:solidFill>
                            <a:srgbClr val="383838"/>
                          </a:solidFill>
                          <a:latin typeface="Noto Sans Bold"/>
                          <a:ea typeface="Noto Sans Bold"/>
                          <a:cs typeface="Noto Sans Bold"/>
                          <a:sym typeface="Noto Sans Bold"/>
                        </a:rPr>
                        <a:t>Cầu hỏi nghiên cứu</a:t>
                      </a:r>
                      <a:endParaRPr lang="en-US" sz="1100"/>
                    </a:p>
                  </a:txBody>
                  <a:tcPr marL="114300" marR="114300" marT="114300" marB="1143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p:cSld>
    <p:bg>
      <p:bgPr>
        <a:solidFill>
          <a:srgbClr val="EFEEE8"/>
        </a:solidFill>
      </p:bgPr>
    </p:bg>
    <p:spTree>
      <p:nvGrpSpPr>
        <p:cNvPr id="1" name=""/>
        <p:cNvGrpSpPr/>
        <p:nvPr/>
      </p:nvGrpSpPr>
      <p:grpSpPr>
        <a:xfrm>
          <a:off x="0" y="0"/>
          <a:ext cx="0" cy="0"/>
          <a:chOff x="0" y="0"/>
          <a:chExt cx="0" cy="0"/>
        </a:xfrm>
      </p:grpSpPr>
      <p:sp>
        <p:nvSpPr>
          <p:cNvPr name="AutoShape 2" id="2"/>
          <p:cNvSpPr/>
          <p:nvPr/>
        </p:nvSpPr>
        <p:spPr>
          <a:xfrm>
            <a:off x="1105872" y="4576373"/>
            <a:ext cx="15713676" cy="0"/>
          </a:xfrm>
          <a:prstGeom prst="line">
            <a:avLst/>
          </a:prstGeom>
          <a:ln cap="flat" w="85725">
            <a:solidFill>
              <a:srgbClr val="383838"/>
            </a:solidFill>
            <a:prstDash val="solid"/>
            <a:headEnd type="none" len="sm" w="sm"/>
            <a:tailEnd type="arrow" len="sm" w="med"/>
          </a:ln>
        </p:spPr>
      </p:sp>
      <p:graphicFrame>
        <p:nvGraphicFramePr>
          <p:cNvPr name="Table 3" id="3"/>
          <p:cNvGraphicFramePr>
            <a:graphicFrameLocks noGrp="true"/>
          </p:cNvGraphicFramePr>
          <p:nvPr/>
        </p:nvGraphicFramePr>
        <p:xfrm>
          <a:off x="3498331" y="1028700"/>
          <a:ext cx="10994164" cy="2389436"/>
        </p:xfrm>
        <a:graphic>
          <a:graphicData uri="http://schemas.openxmlformats.org/drawingml/2006/table">
            <a:tbl>
              <a:tblPr/>
              <a:tblGrid>
                <a:gridCol w="10994164"/>
              </a:tblGrid>
              <a:tr h="2389436">
                <a:tc>
                  <a:txBody>
                    <a:bodyPr anchor="t" rtlCol="false"/>
                    <a:lstStyle/>
                    <a:p>
                      <a:pPr algn="ctr">
                        <a:lnSpc>
                          <a:spcPts val="13439"/>
                        </a:lnSpc>
                        <a:defRPr/>
                      </a:pPr>
                      <a:r>
                        <a:rPr lang="en-US" b="true" sz="9600" spc="-768">
                          <a:solidFill>
                            <a:srgbClr val="383838"/>
                          </a:solidFill>
                          <a:latin typeface="Noto Sans Bold"/>
                          <a:ea typeface="Noto Sans Bold"/>
                          <a:cs typeface="Noto Sans Bold"/>
                          <a:sym typeface="Noto Sans Bold"/>
                        </a:rPr>
                        <a:t>LÝ DO CHỌN ĐỀ TÀI</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grpSp>
        <p:nvGrpSpPr>
          <p:cNvPr name="Group 4" id="4"/>
          <p:cNvGrpSpPr/>
          <p:nvPr/>
        </p:nvGrpSpPr>
        <p:grpSpPr>
          <a:xfrm rot="0">
            <a:off x="1105872" y="4427786"/>
            <a:ext cx="3566748" cy="5223288"/>
            <a:chOff x="0" y="0"/>
            <a:chExt cx="4755664" cy="6964384"/>
          </a:xfrm>
        </p:grpSpPr>
        <p:grpSp>
          <p:nvGrpSpPr>
            <p:cNvPr name="Group 5" id="5"/>
            <p:cNvGrpSpPr/>
            <p:nvPr/>
          </p:nvGrpSpPr>
          <p:grpSpPr>
            <a:xfrm rot="0">
              <a:off x="0" y="0"/>
              <a:ext cx="396231" cy="3962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621"/>
                  </a:lnSpc>
                </a:pPr>
              </a:p>
            </p:txBody>
          </p:sp>
        </p:grpSp>
        <p:sp>
          <p:nvSpPr>
            <p:cNvPr name="TextBox 8" id="8"/>
            <p:cNvSpPr txBox="true"/>
            <p:nvPr/>
          </p:nvSpPr>
          <p:spPr>
            <a:xfrm rot="0">
              <a:off x="0" y="768731"/>
              <a:ext cx="4755664" cy="578019"/>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Noto Sans Bold"/>
                  <a:ea typeface="Noto Sans Bold"/>
                  <a:cs typeface="Noto Sans Bold"/>
                  <a:sym typeface="Noto Sans Bold"/>
                </a:rPr>
                <a:t>Thứ nhất</a:t>
              </a:r>
            </a:p>
          </p:txBody>
        </p:sp>
        <p:sp>
          <p:nvSpPr>
            <p:cNvPr name="TextBox 9" id="9"/>
            <p:cNvSpPr txBox="true"/>
            <p:nvPr/>
          </p:nvSpPr>
          <p:spPr>
            <a:xfrm rot="0">
              <a:off x="0" y="1683301"/>
              <a:ext cx="4755664" cy="5281083"/>
            </a:xfrm>
            <a:prstGeom prst="rect">
              <a:avLst/>
            </a:prstGeom>
          </p:spPr>
          <p:txBody>
            <a:bodyPr anchor="t" rtlCol="false" tIns="0" lIns="0" bIns="0" rIns="0">
              <a:spAutoFit/>
            </a:bodyPr>
            <a:lstStyle/>
            <a:p>
              <a:pPr algn="just">
                <a:lnSpc>
                  <a:spcPts val="2900"/>
                </a:lnSpc>
              </a:pPr>
              <a:r>
                <a:rPr lang="en-US" sz="2000" b="true">
                  <a:solidFill>
                    <a:srgbClr val="383838"/>
                  </a:solidFill>
                  <a:latin typeface="Noto Sans Bold"/>
                  <a:ea typeface="Noto Sans Bold"/>
                  <a:cs typeface="Noto Sans Bold"/>
                  <a:sym typeface="Noto Sans Bold"/>
                </a:rPr>
                <a:t>Nhu cầu thực tiễn:</a:t>
              </a:r>
            </a:p>
            <a:p>
              <a:pPr algn="just" marL="0" indent="0" lvl="0">
                <a:lnSpc>
                  <a:spcPts val="2900"/>
                </a:lnSpc>
                <a:spcBef>
                  <a:spcPct val="0"/>
                </a:spcBef>
              </a:pPr>
              <a:r>
                <a:rPr lang="en-US" sz="2000">
                  <a:solidFill>
                    <a:srgbClr val="383838"/>
                  </a:solidFill>
                  <a:latin typeface="Noto Sans"/>
                  <a:ea typeface="Noto Sans"/>
                  <a:cs typeface="Noto Sans"/>
                  <a:sym typeface="Noto Sans"/>
                </a:rPr>
                <a:t>Nhu cầu cá nhân hóa trải nghiệm người dùng trong thương mại điện tử ngày càng tăng. Việc ứng dụng trí tuệ nhân tạo (AI) giúp hệ thống phân tích hành vi khách hàng và đưa ra các đề xuất sản phẩm phù hợp, từ đó nâng cao trải nghiệm mua sắm và hiệu quả kinh doanh.</a:t>
              </a:r>
            </a:p>
          </p:txBody>
        </p:sp>
      </p:grpSp>
      <p:grpSp>
        <p:nvGrpSpPr>
          <p:cNvPr name="Group 10" id="10"/>
          <p:cNvGrpSpPr/>
          <p:nvPr/>
        </p:nvGrpSpPr>
        <p:grpSpPr>
          <a:xfrm rot="0">
            <a:off x="5270078" y="4427786"/>
            <a:ext cx="3279081" cy="5223288"/>
            <a:chOff x="0" y="0"/>
            <a:chExt cx="4372109" cy="6964384"/>
          </a:xfrm>
        </p:grpSpPr>
        <p:grpSp>
          <p:nvGrpSpPr>
            <p:cNvPr name="Group 11" id="11"/>
            <p:cNvGrpSpPr/>
            <p:nvPr/>
          </p:nvGrpSpPr>
          <p:grpSpPr>
            <a:xfrm rot="0">
              <a:off x="102896" y="0"/>
              <a:ext cx="396231" cy="39623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21"/>
                  </a:lnSpc>
                </a:pPr>
              </a:p>
            </p:txBody>
          </p:sp>
        </p:grpSp>
        <p:sp>
          <p:nvSpPr>
            <p:cNvPr name="TextBox 14" id="14"/>
            <p:cNvSpPr txBox="true"/>
            <p:nvPr/>
          </p:nvSpPr>
          <p:spPr>
            <a:xfrm rot="0">
              <a:off x="0" y="768731"/>
              <a:ext cx="4372109" cy="578019"/>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Noto Sans Bold"/>
                  <a:ea typeface="Noto Sans Bold"/>
                  <a:cs typeface="Noto Sans Bold"/>
                  <a:sym typeface="Noto Sans Bold"/>
                </a:rPr>
                <a:t>Thứ hai</a:t>
              </a:r>
            </a:p>
          </p:txBody>
        </p:sp>
        <p:sp>
          <p:nvSpPr>
            <p:cNvPr name="TextBox 15" id="15"/>
            <p:cNvSpPr txBox="true"/>
            <p:nvPr/>
          </p:nvSpPr>
          <p:spPr>
            <a:xfrm rot="0">
              <a:off x="0" y="1683301"/>
              <a:ext cx="4372109" cy="5281083"/>
            </a:xfrm>
            <a:prstGeom prst="rect">
              <a:avLst/>
            </a:prstGeom>
          </p:spPr>
          <p:txBody>
            <a:bodyPr anchor="t" rtlCol="false" tIns="0" lIns="0" bIns="0" rIns="0">
              <a:spAutoFit/>
            </a:bodyPr>
            <a:lstStyle/>
            <a:p>
              <a:pPr algn="just">
                <a:lnSpc>
                  <a:spcPts val="2900"/>
                </a:lnSpc>
              </a:pPr>
              <a:r>
                <a:rPr lang="en-US" sz="2000" b="true">
                  <a:solidFill>
                    <a:srgbClr val="383838"/>
                  </a:solidFill>
                  <a:latin typeface="Noto Sans Bold"/>
                  <a:ea typeface="Noto Sans Bold"/>
                  <a:cs typeface="Noto Sans Bold"/>
                  <a:sym typeface="Noto Sans Bold"/>
                </a:rPr>
                <a:t>Xu hướng công nghiệp 4.0:</a:t>
              </a:r>
            </a:p>
            <a:p>
              <a:pPr algn="just" marL="0" indent="0" lvl="0">
                <a:lnSpc>
                  <a:spcPts val="2900"/>
                </a:lnSpc>
                <a:spcBef>
                  <a:spcPct val="0"/>
                </a:spcBef>
              </a:pPr>
              <a:r>
                <a:rPr lang="en-US" sz="2000">
                  <a:solidFill>
                    <a:srgbClr val="383838"/>
                  </a:solidFill>
                  <a:latin typeface="Noto Sans"/>
                  <a:ea typeface="Noto Sans"/>
                  <a:cs typeface="Noto Sans"/>
                  <a:sym typeface="Noto Sans"/>
                </a:rPr>
                <a:t>Việc nghiên cứu và ứng dụng AI giúp doanh nghiệp bắt kịp xu hướng công nghệ hiện đại, đồng thời hỗ trợ dự báo nhu cầu thị trường, tối ưu hóa quản lý hàng tồn kho và xây dựng hệ thống thương mại điện tử thông minh.</a:t>
              </a:r>
            </a:p>
          </p:txBody>
        </p:sp>
      </p:grpSp>
      <p:grpSp>
        <p:nvGrpSpPr>
          <p:cNvPr name="Group 16" id="16"/>
          <p:cNvGrpSpPr/>
          <p:nvPr/>
        </p:nvGrpSpPr>
        <p:grpSpPr>
          <a:xfrm rot="0">
            <a:off x="13342431" y="4427786"/>
            <a:ext cx="2826657" cy="5110376"/>
            <a:chOff x="0" y="0"/>
            <a:chExt cx="3768876" cy="6813834"/>
          </a:xfrm>
        </p:grpSpPr>
        <p:sp>
          <p:nvSpPr>
            <p:cNvPr name="TextBox 17" id="17"/>
            <p:cNvSpPr txBox="true"/>
            <p:nvPr/>
          </p:nvSpPr>
          <p:spPr>
            <a:xfrm rot="0">
              <a:off x="86323" y="1532751"/>
              <a:ext cx="3659941" cy="5281083"/>
            </a:xfrm>
            <a:prstGeom prst="rect">
              <a:avLst/>
            </a:prstGeom>
          </p:spPr>
          <p:txBody>
            <a:bodyPr anchor="t" rtlCol="false" tIns="0" lIns="0" bIns="0" rIns="0">
              <a:spAutoFit/>
            </a:bodyPr>
            <a:lstStyle/>
            <a:p>
              <a:pPr algn="just">
                <a:lnSpc>
                  <a:spcPts val="2900"/>
                </a:lnSpc>
              </a:pPr>
              <a:r>
                <a:rPr lang="en-US" sz="2000" b="true">
                  <a:solidFill>
                    <a:srgbClr val="383838"/>
                  </a:solidFill>
                  <a:latin typeface="Noto Sans Bold"/>
                  <a:ea typeface="Noto Sans Bold"/>
                  <a:cs typeface="Noto Sans Bold"/>
                  <a:sym typeface="Noto Sans Bold"/>
                </a:rPr>
                <a:t>Giải pháp Agentic AI:</a:t>
              </a:r>
            </a:p>
            <a:p>
              <a:pPr algn="just" marL="0" indent="0" lvl="0">
                <a:lnSpc>
                  <a:spcPts val="2900"/>
                </a:lnSpc>
                <a:spcBef>
                  <a:spcPct val="0"/>
                </a:spcBef>
              </a:pPr>
              <a:r>
                <a:rPr lang="en-US" sz="2000">
                  <a:solidFill>
                    <a:srgbClr val="383838"/>
                  </a:solidFill>
                  <a:latin typeface="Noto Sans"/>
                  <a:ea typeface="Noto Sans"/>
                  <a:cs typeface="Noto Sans"/>
                  <a:sym typeface="Noto Sans"/>
                </a:rPr>
                <a:t>AI góp phần tối ưu hóa quy trình vận hành và chăm sóc khách hàng thông qua các công nghệ như chatbot hỗ trợ 24/7, giúp giảm công việc thủ công, hạn chế sai sót và nâng cao chất lượng dịch vụ.</a:t>
              </a:r>
            </a:p>
          </p:txBody>
        </p:sp>
        <p:grpSp>
          <p:nvGrpSpPr>
            <p:cNvPr name="Group 18" id="18"/>
            <p:cNvGrpSpPr/>
            <p:nvPr/>
          </p:nvGrpSpPr>
          <p:grpSpPr>
            <a:xfrm rot="0">
              <a:off x="0" y="0"/>
              <a:ext cx="396231" cy="39623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21"/>
                  </a:lnSpc>
                </a:pPr>
              </a:p>
            </p:txBody>
          </p:sp>
        </p:grpSp>
        <p:sp>
          <p:nvSpPr>
            <p:cNvPr name="TextBox 21" id="21"/>
            <p:cNvSpPr txBox="true"/>
            <p:nvPr/>
          </p:nvSpPr>
          <p:spPr>
            <a:xfrm rot="0">
              <a:off x="63711" y="768731"/>
              <a:ext cx="3705165" cy="578019"/>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Noto Sans Bold"/>
                  <a:ea typeface="Noto Sans Bold"/>
                  <a:cs typeface="Noto Sans Bold"/>
                  <a:sym typeface="Noto Sans Bold"/>
                </a:rPr>
                <a:t>Thứ tư</a:t>
              </a:r>
            </a:p>
          </p:txBody>
        </p:sp>
      </p:grpSp>
      <p:grpSp>
        <p:nvGrpSpPr>
          <p:cNvPr name="Group 22" id="22"/>
          <p:cNvGrpSpPr/>
          <p:nvPr/>
        </p:nvGrpSpPr>
        <p:grpSpPr>
          <a:xfrm rot="0">
            <a:off x="9146617" y="4427786"/>
            <a:ext cx="3598356" cy="5223288"/>
            <a:chOff x="0" y="0"/>
            <a:chExt cx="4797808" cy="6964384"/>
          </a:xfrm>
        </p:grpSpPr>
        <p:grpSp>
          <p:nvGrpSpPr>
            <p:cNvPr name="Group 23" id="23"/>
            <p:cNvGrpSpPr/>
            <p:nvPr/>
          </p:nvGrpSpPr>
          <p:grpSpPr>
            <a:xfrm rot="0">
              <a:off x="0" y="0"/>
              <a:ext cx="396231" cy="396231"/>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21"/>
                  </a:lnSpc>
                </a:pPr>
              </a:p>
            </p:txBody>
          </p:sp>
        </p:grpSp>
        <p:sp>
          <p:nvSpPr>
            <p:cNvPr name="TextBox 26" id="26"/>
            <p:cNvSpPr txBox="true"/>
            <p:nvPr/>
          </p:nvSpPr>
          <p:spPr>
            <a:xfrm rot="0">
              <a:off x="63711" y="768731"/>
              <a:ext cx="4734097" cy="578019"/>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Noto Sans Bold"/>
                  <a:ea typeface="Noto Sans Bold"/>
                  <a:cs typeface="Noto Sans Bold"/>
                  <a:sym typeface="Noto Sans Bold"/>
                </a:rPr>
                <a:t>Thứ ba</a:t>
              </a:r>
            </a:p>
          </p:txBody>
        </p:sp>
        <p:sp>
          <p:nvSpPr>
            <p:cNvPr name="TextBox 27" id="27"/>
            <p:cNvSpPr txBox="true"/>
            <p:nvPr/>
          </p:nvSpPr>
          <p:spPr>
            <a:xfrm rot="0">
              <a:off x="0" y="1683301"/>
              <a:ext cx="4797808" cy="5281083"/>
            </a:xfrm>
            <a:prstGeom prst="rect">
              <a:avLst/>
            </a:prstGeom>
          </p:spPr>
          <p:txBody>
            <a:bodyPr anchor="t" rtlCol="false" tIns="0" lIns="0" bIns="0" rIns="0">
              <a:spAutoFit/>
            </a:bodyPr>
            <a:lstStyle/>
            <a:p>
              <a:pPr algn="just">
                <a:lnSpc>
                  <a:spcPts val="2900"/>
                </a:lnSpc>
              </a:pPr>
              <a:r>
                <a:rPr lang="en-US" sz="2000" b="true">
                  <a:solidFill>
                    <a:srgbClr val="383838"/>
                  </a:solidFill>
                  <a:latin typeface="Noto Sans Bold"/>
                  <a:ea typeface="Noto Sans Bold"/>
                  <a:cs typeface="Noto Sans Bold"/>
                  <a:sym typeface="Noto Sans Bold"/>
                </a:rPr>
                <a:t>Giải quyết các bài toán thực tiễn của doanh nghiệp: </a:t>
              </a:r>
            </a:p>
            <a:p>
              <a:pPr algn="just" marL="0" indent="0" lvl="0">
                <a:lnSpc>
                  <a:spcPts val="2900"/>
                </a:lnSpc>
                <a:spcBef>
                  <a:spcPct val="0"/>
                </a:spcBef>
              </a:pPr>
              <a:r>
                <a:rPr lang="en-US" sz="2000">
                  <a:solidFill>
                    <a:srgbClr val="383838"/>
                  </a:solidFill>
                  <a:latin typeface="Noto Sans"/>
                  <a:ea typeface="Noto Sans"/>
                  <a:cs typeface="Noto Sans"/>
                  <a:sym typeface="Noto Sans"/>
                </a:rPr>
                <a:t>Đề tài không chỉ dừng lại ở việc xây dựng một website bán hàng thông thường, mà còn tập trung giải quyết các bài toán quản trị như: Báo cáo tài chính, báo cáo tồn kho, quản lý nhân sự, quản lý xuất nhập, Quản lý đơn hàng, … .</a:t>
              </a:r>
            </a:p>
          </p:txBody>
        </p:sp>
      </p:grpSp>
    </p:spTree>
  </p:cSld>
  <p:clrMapOvr>
    <a:masterClrMapping/>
  </p:clrMapOvr>
  <p:transition spd="fast">
    <p:push dir="l"/>
  </p:transition>
</p:sld>
</file>

<file path=ppt/slides/slide8.xml><?xml version="1.0" encoding="utf-8"?>
<p:sld xmlns:p="http://schemas.openxmlformats.org/presentationml/2006/main" xmlns:a="http://schemas.openxmlformats.org/drawingml/2006/main">
  <p:cSld>
    <p:bg>
      <p:bgPr>
        <a:solidFill>
          <a:srgbClr val="EFEEE8"/>
        </a:solidFill>
      </p:bgPr>
    </p:bg>
    <p:spTree>
      <p:nvGrpSpPr>
        <p:cNvPr id="1" name=""/>
        <p:cNvGrpSpPr/>
        <p:nvPr/>
      </p:nvGrpSpPr>
      <p:grpSpPr>
        <a:xfrm>
          <a:off x="0" y="0"/>
          <a:ext cx="0" cy="0"/>
          <a:chOff x="0" y="0"/>
          <a:chExt cx="0" cy="0"/>
        </a:xfrm>
      </p:grpSpPr>
      <p:sp>
        <p:nvSpPr>
          <p:cNvPr name="AutoShape 2" id="2"/>
          <p:cNvSpPr/>
          <p:nvPr/>
        </p:nvSpPr>
        <p:spPr>
          <a:xfrm>
            <a:off x="1105872" y="4576373"/>
            <a:ext cx="15713676" cy="0"/>
          </a:xfrm>
          <a:prstGeom prst="line">
            <a:avLst/>
          </a:prstGeom>
          <a:ln cap="flat" w="85725">
            <a:solidFill>
              <a:srgbClr val="383838"/>
            </a:solidFill>
            <a:prstDash val="solid"/>
            <a:headEnd type="none" len="sm" w="sm"/>
            <a:tailEnd type="arrow" len="sm" w="med"/>
          </a:ln>
        </p:spPr>
      </p:sp>
      <p:graphicFrame>
        <p:nvGraphicFramePr>
          <p:cNvPr name="Table 3" id="3"/>
          <p:cNvGraphicFramePr>
            <a:graphicFrameLocks noGrp="true"/>
          </p:cNvGraphicFramePr>
          <p:nvPr/>
        </p:nvGraphicFramePr>
        <p:xfrm>
          <a:off x="3498331" y="1028700"/>
          <a:ext cx="10994164" cy="2389436"/>
        </p:xfrm>
        <a:graphic>
          <a:graphicData uri="http://schemas.openxmlformats.org/drawingml/2006/table">
            <a:tbl>
              <a:tblPr/>
              <a:tblGrid>
                <a:gridCol w="10994164"/>
              </a:tblGrid>
              <a:tr h="2389436">
                <a:tc>
                  <a:txBody>
                    <a:bodyPr anchor="t" rtlCol="false"/>
                    <a:lstStyle/>
                    <a:p>
                      <a:pPr algn="ctr">
                        <a:lnSpc>
                          <a:spcPts val="13439"/>
                        </a:lnSpc>
                        <a:defRPr/>
                      </a:pPr>
                      <a:r>
                        <a:rPr lang="en-US" b="true" sz="9600" spc="-768">
                          <a:solidFill>
                            <a:srgbClr val="383838"/>
                          </a:solidFill>
                          <a:latin typeface="Noto Sans Bold"/>
                          <a:ea typeface="Noto Sans Bold"/>
                          <a:cs typeface="Noto Sans Bold"/>
                          <a:sym typeface="Noto Sans Bold"/>
                        </a:rPr>
                        <a:t>MỤC TIÊU</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grpSp>
        <p:nvGrpSpPr>
          <p:cNvPr name="Group 4" id="4"/>
          <p:cNvGrpSpPr/>
          <p:nvPr/>
        </p:nvGrpSpPr>
        <p:grpSpPr>
          <a:xfrm rot="0">
            <a:off x="1105872" y="4427786"/>
            <a:ext cx="3827973" cy="3775488"/>
            <a:chOff x="0" y="0"/>
            <a:chExt cx="5103964" cy="5033984"/>
          </a:xfrm>
        </p:grpSpPr>
        <p:grpSp>
          <p:nvGrpSpPr>
            <p:cNvPr name="Group 5" id="5"/>
            <p:cNvGrpSpPr/>
            <p:nvPr/>
          </p:nvGrpSpPr>
          <p:grpSpPr>
            <a:xfrm rot="0">
              <a:off x="0" y="0"/>
              <a:ext cx="396231" cy="3962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621"/>
                  </a:lnSpc>
                </a:pPr>
              </a:p>
            </p:txBody>
          </p:sp>
        </p:grpSp>
        <p:sp>
          <p:nvSpPr>
            <p:cNvPr name="TextBox 8" id="8"/>
            <p:cNvSpPr txBox="true"/>
            <p:nvPr/>
          </p:nvSpPr>
          <p:spPr>
            <a:xfrm rot="0">
              <a:off x="0" y="768731"/>
              <a:ext cx="2824063" cy="578019"/>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Noto Sans Bold"/>
                  <a:ea typeface="Noto Sans Bold"/>
                  <a:cs typeface="Noto Sans Bold"/>
                  <a:sym typeface="Noto Sans Bold"/>
                </a:rPr>
                <a:t>Thứ nhất</a:t>
              </a:r>
            </a:p>
          </p:txBody>
        </p:sp>
        <p:sp>
          <p:nvSpPr>
            <p:cNvPr name="TextBox 9" id="9"/>
            <p:cNvSpPr txBox="true"/>
            <p:nvPr/>
          </p:nvSpPr>
          <p:spPr>
            <a:xfrm rot="0">
              <a:off x="0" y="1683301"/>
              <a:ext cx="5103964" cy="3350683"/>
            </a:xfrm>
            <a:prstGeom prst="rect">
              <a:avLst/>
            </a:prstGeom>
          </p:spPr>
          <p:txBody>
            <a:bodyPr anchor="t" rtlCol="false" tIns="0" lIns="0" bIns="0" rIns="0">
              <a:spAutoFit/>
            </a:bodyPr>
            <a:lstStyle/>
            <a:p>
              <a:pPr algn="just" marL="0" indent="0" lvl="0">
                <a:lnSpc>
                  <a:spcPts val="2900"/>
                </a:lnSpc>
                <a:spcBef>
                  <a:spcPct val="0"/>
                </a:spcBef>
              </a:pPr>
              <a:r>
                <a:rPr lang="en-US" sz="2000">
                  <a:solidFill>
                    <a:srgbClr val="383838"/>
                  </a:solidFill>
                  <a:latin typeface="Noto Sans"/>
                  <a:ea typeface="Noto Sans"/>
                  <a:cs typeface="Noto Sans"/>
                  <a:sym typeface="Noto Sans"/>
                </a:rPr>
                <a:t>Xây dựng hệ thống thương mại điện tử hoàn chỉnh dựa trên kiến trúc microservices, đảm bảo hệ thống có đầy đủ các chức năng cơ bản của một website bán hàng và có khả năng mở rộng linh hoạt</a:t>
              </a:r>
            </a:p>
          </p:txBody>
        </p:sp>
      </p:grpSp>
      <p:grpSp>
        <p:nvGrpSpPr>
          <p:cNvPr name="Group 10" id="10"/>
          <p:cNvGrpSpPr/>
          <p:nvPr/>
        </p:nvGrpSpPr>
        <p:grpSpPr>
          <a:xfrm rot="0">
            <a:off x="6914327" y="4427786"/>
            <a:ext cx="4288200" cy="3775488"/>
            <a:chOff x="0" y="0"/>
            <a:chExt cx="5717601" cy="5033984"/>
          </a:xfrm>
        </p:grpSpPr>
        <p:grpSp>
          <p:nvGrpSpPr>
            <p:cNvPr name="Group 11" id="11"/>
            <p:cNvGrpSpPr/>
            <p:nvPr/>
          </p:nvGrpSpPr>
          <p:grpSpPr>
            <a:xfrm rot="0">
              <a:off x="102896" y="0"/>
              <a:ext cx="396231" cy="39623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21"/>
                  </a:lnSpc>
                </a:pPr>
              </a:p>
            </p:txBody>
          </p:sp>
        </p:grpSp>
        <p:sp>
          <p:nvSpPr>
            <p:cNvPr name="TextBox 14" id="14"/>
            <p:cNvSpPr txBox="true"/>
            <p:nvPr/>
          </p:nvSpPr>
          <p:spPr>
            <a:xfrm rot="0">
              <a:off x="0" y="768731"/>
              <a:ext cx="2267451" cy="578019"/>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Noto Sans Bold"/>
                  <a:ea typeface="Noto Sans Bold"/>
                  <a:cs typeface="Noto Sans Bold"/>
                  <a:sym typeface="Noto Sans Bold"/>
                </a:rPr>
                <a:t>Thứ hai</a:t>
              </a:r>
            </a:p>
          </p:txBody>
        </p:sp>
        <p:sp>
          <p:nvSpPr>
            <p:cNvPr name="TextBox 15" id="15"/>
            <p:cNvSpPr txBox="true"/>
            <p:nvPr/>
          </p:nvSpPr>
          <p:spPr>
            <a:xfrm rot="0">
              <a:off x="37837" y="1683301"/>
              <a:ext cx="5679764" cy="3350683"/>
            </a:xfrm>
            <a:prstGeom prst="rect">
              <a:avLst/>
            </a:prstGeom>
          </p:spPr>
          <p:txBody>
            <a:bodyPr anchor="t" rtlCol="false" tIns="0" lIns="0" bIns="0" rIns="0">
              <a:spAutoFit/>
            </a:bodyPr>
            <a:lstStyle/>
            <a:p>
              <a:pPr algn="just" marL="0" indent="0" lvl="0">
                <a:lnSpc>
                  <a:spcPts val="2900"/>
                </a:lnSpc>
                <a:spcBef>
                  <a:spcPct val="0"/>
                </a:spcBef>
              </a:pPr>
              <a:r>
                <a:rPr lang="en-US" sz="2000">
                  <a:solidFill>
                    <a:srgbClr val="383838"/>
                  </a:solidFill>
                  <a:latin typeface="Noto Sans"/>
                  <a:ea typeface="Noto Sans"/>
                  <a:cs typeface="Noto Sans"/>
                  <a:sym typeface="Noto Sans"/>
                </a:rPr>
                <a:t>Ứng dụng các công nghệ trí tuệ nhân tạo hiện đại như trợ lý ảo (NLP/LLM), học máy (Machine Learning) và thị giác máy tính (Computer Vision) nhằm hỗ trợ tư vấn tự động, cá nhân hóa gợi ý sản phẩm và tìm kiếm thông minh</a:t>
              </a:r>
            </a:p>
          </p:txBody>
        </p:sp>
      </p:grpSp>
      <p:grpSp>
        <p:nvGrpSpPr>
          <p:cNvPr name="Group 16" id="16"/>
          <p:cNvGrpSpPr/>
          <p:nvPr/>
        </p:nvGrpSpPr>
        <p:grpSpPr>
          <a:xfrm rot="0">
            <a:off x="13008859" y="4433498"/>
            <a:ext cx="3380669" cy="3775488"/>
            <a:chOff x="0" y="0"/>
            <a:chExt cx="4507558" cy="5033984"/>
          </a:xfrm>
        </p:grpSpPr>
        <p:grpSp>
          <p:nvGrpSpPr>
            <p:cNvPr name="Group 17" id="17"/>
            <p:cNvGrpSpPr/>
            <p:nvPr/>
          </p:nvGrpSpPr>
          <p:grpSpPr>
            <a:xfrm rot="0">
              <a:off x="0" y="0"/>
              <a:ext cx="396231" cy="39623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21"/>
                  </a:lnSpc>
                </a:pPr>
              </a:p>
            </p:txBody>
          </p:sp>
        </p:grpSp>
        <p:sp>
          <p:nvSpPr>
            <p:cNvPr name="TextBox 20" id="20"/>
            <p:cNvSpPr txBox="true"/>
            <p:nvPr/>
          </p:nvSpPr>
          <p:spPr>
            <a:xfrm rot="0">
              <a:off x="63711" y="768731"/>
              <a:ext cx="3705165" cy="578019"/>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Noto Sans Bold"/>
                  <a:ea typeface="Noto Sans Bold"/>
                  <a:cs typeface="Noto Sans Bold"/>
                  <a:sym typeface="Noto Sans Bold"/>
                </a:rPr>
                <a:t>Thứ ba</a:t>
              </a:r>
            </a:p>
          </p:txBody>
        </p:sp>
        <p:sp>
          <p:nvSpPr>
            <p:cNvPr name="TextBox 21" id="21"/>
            <p:cNvSpPr txBox="true"/>
            <p:nvPr/>
          </p:nvSpPr>
          <p:spPr>
            <a:xfrm rot="0">
              <a:off x="0" y="1683301"/>
              <a:ext cx="4507558" cy="3350683"/>
            </a:xfrm>
            <a:prstGeom prst="rect">
              <a:avLst/>
            </a:prstGeom>
          </p:spPr>
          <p:txBody>
            <a:bodyPr anchor="t" rtlCol="false" tIns="0" lIns="0" bIns="0" rIns="0">
              <a:spAutoFit/>
            </a:bodyPr>
            <a:lstStyle/>
            <a:p>
              <a:pPr algn="just" marL="0" indent="0" lvl="0">
                <a:lnSpc>
                  <a:spcPts val="2900"/>
                </a:lnSpc>
                <a:spcBef>
                  <a:spcPct val="0"/>
                </a:spcBef>
              </a:pPr>
              <a:r>
                <a:rPr lang="en-US" sz="2000">
                  <a:solidFill>
                    <a:srgbClr val="383838"/>
                  </a:solidFill>
                  <a:latin typeface="Noto Sans"/>
                  <a:ea typeface="Noto Sans"/>
                  <a:cs typeface="Noto Sans"/>
                  <a:sym typeface="Noto Sans"/>
                </a:rPr>
                <a:t>Xây dựng hệ thống quản trị dữ liệu thông minh giúp phân tích dữ liệu kinh doanh, dự báo doanh thu, phát hiện gian lận và hỗ trợ nhà quản trị đưa ra quyết định hiệu quả</a:t>
              </a:r>
            </a:p>
          </p:txBody>
        </p:sp>
      </p:grpSp>
    </p:spTree>
  </p:cSld>
  <p:clrMapOvr>
    <a:masterClrMapping/>
  </p:clrMapOvr>
  <p:transition spd="fast">
    <p:push dir="l"/>
  </p:transition>
</p:sld>
</file>

<file path=ppt/slides/slide9.xml><?xml version="1.0" encoding="utf-8"?>
<p:sld xmlns:p="http://schemas.openxmlformats.org/presentationml/2006/main" xmlns:a="http://schemas.openxmlformats.org/drawingml/2006/main">
  <p:cSld>
    <p:bg>
      <p:bgPr>
        <a:solidFill>
          <a:srgbClr val="EFEEE8"/>
        </a:solidFill>
      </p:bgPr>
    </p:bg>
    <p:spTree>
      <p:nvGrpSpPr>
        <p:cNvPr id="1" name=""/>
        <p:cNvGrpSpPr/>
        <p:nvPr/>
      </p:nvGrpSpPr>
      <p:grpSpPr>
        <a:xfrm>
          <a:off x="0" y="0"/>
          <a:ext cx="0" cy="0"/>
          <a:chOff x="0" y="0"/>
          <a:chExt cx="0" cy="0"/>
        </a:xfrm>
      </p:grpSpPr>
      <p:sp>
        <p:nvSpPr>
          <p:cNvPr name="AutoShape 2" id="2"/>
          <p:cNvSpPr/>
          <p:nvPr/>
        </p:nvSpPr>
        <p:spPr>
          <a:xfrm>
            <a:off x="1105872" y="4663448"/>
            <a:ext cx="15713676" cy="0"/>
          </a:xfrm>
          <a:prstGeom prst="line">
            <a:avLst/>
          </a:prstGeom>
          <a:ln cap="flat" w="85725">
            <a:solidFill>
              <a:srgbClr val="383838"/>
            </a:solidFill>
            <a:prstDash val="solid"/>
            <a:headEnd type="none" len="sm" w="sm"/>
            <a:tailEnd type="arrow" len="sm" w="med"/>
          </a:ln>
        </p:spPr>
      </p:sp>
      <p:graphicFrame>
        <p:nvGraphicFramePr>
          <p:cNvPr name="Table 3" id="3"/>
          <p:cNvGraphicFramePr>
            <a:graphicFrameLocks noGrp="true"/>
          </p:cNvGraphicFramePr>
          <p:nvPr/>
        </p:nvGraphicFramePr>
        <p:xfrm>
          <a:off x="2928550" y="1028700"/>
          <a:ext cx="12430900" cy="2389436"/>
        </p:xfrm>
        <a:graphic>
          <a:graphicData uri="http://schemas.openxmlformats.org/drawingml/2006/table">
            <a:tbl>
              <a:tblPr/>
              <a:tblGrid>
                <a:gridCol w="12430900"/>
              </a:tblGrid>
              <a:tr h="2389436">
                <a:tc>
                  <a:txBody>
                    <a:bodyPr anchor="t" rtlCol="false"/>
                    <a:lstStyle/>
                    <a:p>
                      <a:pPr algn="ctr">
                        <a:lnSpc>
                          <a:spcPts val="13160"/>
                        </a:lnSpc>
                        <a:defRPr/>
                      </a:pPr>
                      <a:r>
                        <a:rPr lang="en-US" b="true" sz="9400" spc="-752">
                          <a:solidFill>
                            <a:srgbClr val="383838"/>
                          </a:solidFill>
                          <a:latin typeface="Noto Sans Bold"/>
                          <a:ea typeface="Noto Sans Bold"/>
                          <a:cs typeface="Noto Sans Bold"/>
                          <a:sym typeface="Noto Sans Bold"/>
                        </a:rPr>
                        <a:t>CÂU HỎI NGHIÊN CỨU</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grpSp>
        <p:nvGrpSpPr>
          <p:cNvPr name="Group 4" id="4"/>
          <p:cNvGrpSpPr/>
          <p:nvPr/>
        </p:nvGrpSpPr>
        <p:grpSpPr>
          <a:xfrm rot="0">
            <a:off x="1105872" y="4514861"/>
            <a:ext cx="4277860" cy="3775488"/>
            <a:chOff x="0" y="0"/>
            <a:chExt cx="5703813" cy="5033984"/>
          </a:xfrm>
        </p:grpSpPr>
        <p:grpSp>
          <p:nvGrpSpPr>
            <p:cNvPr name="Group 5" id="5"/>
            <p:cNvGrpSpPr/>
            <p:nvPr/>
          </p:nvGrpSpPr>
          <p:grpSpPr>
            <a:xfrm rot="0">
              <a:off x="0" y="0"/>
              <a:ext cx="396231" cy="3962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621"/>
                  </a:lnSpc>
                </a:pPr>
              </a:p>
            </p:txBody>
          </p:sp>
        </p:grpSp>
        <p:sp>
          <p:nvSpPr>
            <p:cNvPr name="TextBox 8" id="8"/>
            <p:cNvSpPr txBox="true"/>
            <p:nvPr/>
          </p:nvSpPr>
          <p:spPr>
            <a:xfrm rot="0">
              <a:off x="0" y="768731"/>
              <a:ext cx="2824063" cy="578019"/>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Noto Sans Bold"/>
                  <a:ea typeface="Noto Sans Bold"/>
                  <a:cs typeface="Noto Sans Bold"/>
                  <a:sym typeface="Noto Sans Bold"/>
                </a:rPr>
                <a:t>Thứ nhất</a:t>
              </a:r>
            </a:p>
          </p:txBody>
        </p:sp>
        <p:sp>
          <p:nvSpPr>
            <p:cNvPr name="TextBox 9" id="9"/>
            <p:cNvSpPr txBox="true"/>
            <p:nvPr/>
          </p:nvSpPr>
          <p:spPr>
            <a:xfrm rot="0">
              <a:off x="0" y="1683301"/>
              <a:ext cx="5703813" cy="3350683"/>
            </a:xfrm>
            <a:prstGeom prst="rect">
              <a:avLst/>
            </a:prstGeom>
          </p:spPr>
          <p:txBody>
            <a:bodyPr anchor="t" rtlCol="false" tIns="0" lIns="0" bIns="0" rIns="0">
              <a:spAutoFit/>
            </a:bodyPr>
            <a:lstStyle/>
            <a:p>
              <a:pPr algn="just" marL="0" indent="0" lvl="0">
                <a:lnSpc>
                  <a:spcPts val="2900"/>
                </a:lnSpc>
                <a:spcBef>
                  <a:spcPct val="0"/>
                </a:spcBef>
              </a:pPr>
              <a:r>
                <a:rPr lang="en-US" sz="2000">
                  <a:solidFill>
                    <a:srgbClr val="383838"/>
                  </a:solidFill>
                  <a:latin typeface="Noto Sans"/>
                  <a:ea typeface="Noto Sans"/>
                  <a:cs typeface="Noto Sans"/>
                  <a:sym typeface="Noto Sans"/>
                </a:rPr>
                <a:t>Làm thế nào để thiết kế và triển khai một website bán hàng đáp ứng đầy đủ các chức năng cơ bản như quản lý sản phẩm, tìm kiếm, đặt hàng và quản lý người dùng, đồng thời đảm bảo giao diện thân thiện và hiệu năng ổn định?</a:t>
              </a:r>
            </a:p>
          </p:txBody>
        </p:sp>
      </p:grpSp>
      <p:grpSp>
        <p:nvGrpSpPr>
          <p:cNvPr name="Group 10" id="10"/>
          <p:cNvGrpSpPr/>
          <p:nvPr/>
        </p:nvGrpSpPr>
        <p:grpSpPr>
          <a:xfrm rot="0">
            <a:off x="7531107" y="4514861"/>
            <a:ext cx="3330376" cy="3775488"/>
            <a:chOff x="0" y="0"/>
            <a:chExt cx="4440502" cy="5033984"/>
          </a:xfrm>
        </p:grpSpPr>
        <p:grpSp>
          <p:nvGrpSpPr>
            <p:cNvPr name="Group 11" id="11"/>
            <p:cNvGrpSpPr/>
            <p:nvPr/>
          </p:nvGrpSpPr>
          <p:grpSpPr>
            <a:xfrm rot="0">
              <a:off x="113159" y="0"/>
              <a:ext cx="435753" cy="396231"/>
              <a:chOff x="0" y="0"/>
              <a:chExt cx="893874" cy="812800"/>
            </a:xfrm>
          </p:grpSpPr>
          <p:sp>
            <p:nvSpPr>
              <p:cNvPr name="Freeform 12" id="12"/>
              <p:cNvSpPr/>
              <p:nvPr/>
            </p:nvSpPr>
            <p:spPr>
              <a:xfrm flipH="false" flipV="false" rot="0">
                <a:off x="0" y="0"/>
                <a:ext cx="893874" cy="812800"/>
              </a:xfrm>
              <a:custGeom>
                <a:avLst/>
                <a:gdLst/>
                <a:ahLst/>
                <a:cxnLst/>
                <a:rect r="r" b="b" t="t" l="l"/>
                <a:pathLst>
                  <a:path h="812800" w="893874">
                    <a:moveTo>
                      <a:pt x="446937" y="0"/>
                    </a:moveTo>
                    <a:cubicBezTo>
                      <a:pt x="200100" y="0"/>
                      <a:pt x="0" y="181951"/>
                      <a:pt x="0" y="406400"/>
                    </a:cubicBezTo>
                    <a:cubicBezTo>
                      <a:pt x="0" y="630849"/>
                      <a:pt x="200100" y="812800"/>
                      <a:pt x="446937" y="812800"/>
                    </a:cubicBezTo>
                    <a:cubicBezTo>
                      <a:pt x="693773" y="812800"/>
                      <a:pt x="893874" y="630849"/>
                      <a:pt x="893874" y="406400"/>
                    </a:cubicBezTo>
                    <a:cubicBezTo>
                      <a:pt x="893874" y="181951"/>
                      <a:pt x="693773" y="0"/>
                      <a:pt x="446937" y="0"/>
                    </a:cubicBezTo>
                    <a:close/>
                  </a:path>
                </a:pathLst>
              </a:custGeom>
              <a:solidFill>
                <a:srgbClr val="FFFFFF"/>
              </a:solidFill>
              <a:ln w="9525" cap="sq">
                <a:solidFill>
                  <a:srgbClr val="000000"/>
                </a:solidFill>
                <a:prstDash val="solid"/>
                <a:miter/>
              </a:ln>
            </p:spPr>
          </p:sp>
          <p:sp>
            <p:nvSpPr>
              <p:cNvPr name="TextBox 13" id="13"/>
              <p:cNvSpPr txBox="true"/>
              <p:nvPr/>
            </p:nvSpPr>
            <p:spPr>
              <a:xfrm>
                <a:off x="83801" y="38100"/>
                <a:ext cx="726272" cy="698500"/>
              </a:xfrm>
              <a:prstGeom prst="rect">
                <a:avLst/>
              </a:prstGeom>
            </p:spPr>
            <p:txBody>
              <a:bodyPr anchor="ctr" rtlCol="false" tIns="50800" lIns="50800" bIns="50800" rIns="50800"/>
              <a:lstStyle/>
              <a:p>
                <a:pPr algn="ctr">
                  <a:lnSpc>
                    <a:spcPts val="2621"/>
                  </a:lnSpc>
                </a:pPr>
              </a:p>
            </p:txBody>
          </p:sp>
        </p:grpSp>
        <p:sp>
          <p:nvSpPr>
            <p:cNvPr name="TextBox 14" id="14"/>
            <p:cNvSpPr txBox="true"/>
            <p:nvPr/>
          </p:nvSpPr>
          <p:spPr>
            <a:xfrm rot="0">
              <a:off x="0" y="768731"/>
              <a:ext cx="2493621" cy="578019"/>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Noto Sans Bold"/>
                  <a:ea typeface="Noto Sans Bold"/>
                  <a:cs typeface="Noto Sans Bold"/>
                  <a:sym typeface="Noto Sans Bold"/>
                </a:rPr>
                <a:t>Thứ hai</a:t>
              </a:r>
            </a:p>
          </p:txBody>
        </p:sp>
        <p:sp>
          <p:nvSpPr>
            <p:cNvPr name="TextBox 15" id="15"/>
            <p:cNvSpPr txBox="true"/>
            <p:nvPr/>
          </p:nvSpPr>
          <p:spPr>
            <a:xfrm rot="0">
              <a:off x="41611" y="1683301"/>
              <a:ext cx="4398891" cy="3350683"/>
            </a:xfrm>
            <a:prstGeom prst="rect">
              <a:avLst/>
            </a:prstGeom>
          </p:spPr>
          <p:txBody>
            <a:bodyPr anchor="t" rtlCol="false" tIns="0" lIns="0" bIns="0" rIns="0">
              <a:spAutoFit/>
            </a:bodyPr>
            <a:lstStyle/>
            <a:p>
              <a:pPr algn="just" marL="0" indent="0" lvl="0">
                <a:lnSpc>
                  <a:spcPts val="2900"/>
                </a:lnSpc>
                <a:spcBef>
                  <a:spcPct val="0"/>
                </a:spcBef>
              </a:pPr>
              <a:r>
                <a:rPr lang="en-US" sz="2000">
                  <a:solidFill>
                    <a:srgbClr val="383838"/>
                  </a:solidFill>
                  <a:latin typeface="Noto Sans"/>
                  <a:ea typeface="Noto Sans"/>
                  <a:cs typeface="Noto Sans"/>
                  <a:sym typeface="Noto Sans"/>
                </a:rPr>
                <a:t>Làm thế nào để tích hợp trí tuệ nhân tạo (AI) vào website bán hàng nhằm hỗ trợ tư vấn khách hàng, gợi ý sản phẩm phù hợp và phân tích hành vi người dùng một cách hiệu quả?</a:t>
              </a:r>
            </a:p>
          </p:txBody>
        </p:sp>
      </p:grpSp>
      <p:grpSp>
        <p:nvGrpSpPr>
          <p:cNvPr name="Group 16" id="16"/>
          <p:cNvGrpSpPr/>
          <p:nvPr/>
        </p:nvGrpSpPr>
        <p:grpSpPr>
          <a:xfrm rot="0">
            <a:off x="13004609" y="4514861"/>
            <a:ext cx="3264569" cy="3775488"/>
            <a:chOff x="0" y="0"/>
            <a:chExt cx="4352759" cy="5033984"/>
          </a:xfrm>
        </p:grpSpPr>
        <p:grpSp>
          <p:nvGrpSpPr>
            <p:cNvPr name="Group 17" id="17"/>
            <p:cNvGrpSpPr/>
            <p:nvPr/>
          </p:nvGrpSpPr>
          <p:grpSpPr>
            <a:xfrm rot="0">
              <a:off x="0" y="0"/>
              <a:ext cx="396231" cy="39623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21"/>
                  </a:lnSpc>
                </a:pPr>
              </a:p>
            </p:txBody>
          </p:sp>
        </p:grpSp>
        <p:sp>
          <p:nvSpPr>
            <p:cNvPr name="TextBox 20" id="20"/>
            <p:cNvSpPr txBox="true"/>
            <p:nvPr/>
          </p:nvSpPr>
          <p:spPr>
            <a:xfrm rot="0">
              <a:off x="63711" y="768731"/>
              <a:ext cx="3705165" cy="578019"/>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Noto Sans Bold"/>
                  <a:ea typeface="Noto Sans Bold"/>
                  <a:cs typeface="Noto Sans Bold"/>
                  <a:sym typeface="Noto Sans Bold"/>
                </a:rPr>
                <a:t>Thứ ba</a:t>
              </a:r>
            </a:p>
          </p:txBody>
        </p:sp>
        <p:sp>
          <p:nvSpPr>
            <p:cNvPr name="TextBox 21" id="21"/>
            <p:cNvSpPr txBox="true"/>
            <p:nvPr/>
          </p:nvSpPr>
          <p:spPr>
            <a:xfrm rot="0">
              <a:off x="0" y="1683301"/>
              <a:ext cx="4352759" cy="3350683"/>
            </a:xfrm>
            <a:prstGeom prst="rect">
              <a:avLst/>
            </a:prstGeom>
          </p:spPr>
          <p:txBody>
            <a:bodyPr anchor="t" rtlCol="false" tIns="0" lIns="0" bIns="0" rIns="0">
              <a:spAutoFit/>
            </a:bodyPr>
            <a:lstStyle/>
            <a:p>
              <a:pPr algn="just" marL="0" indent="0" lvl="0">
                <a:lnSpc>
                  <a:spcPts val="2900"/>
                </a:lnSpc>
                <a:spcBef>
                  <a:spcPct val="0"/>
                </a:spcBef>
              </a:pPr>
              <a:r>
                <a:rPr lang="en-US" sz="2000">
                  <a:solidFill>
                    <a:srgbClr val="383838"/>
                  </a:solidFill>
                  <a:latin typeface="Noto Sans"/>
                  <a:ea typeface="Noto Sans"/>
                  <a:cs typeface="Noto Sans"/>
                  <a:sym typeface="Noto Sans"/>
                </a:rPr>
                <a:t>Việc lựa chọn công nghệ và framework phù hợp ảnh hưởng như thế nào đến hiệu quả hoạt động của hệ thống và trải nghiệm người dùng trong thương mại điện tử?</a:t>
              </a:r>
            </a:p>
          </p:txBody>
        </p:sp>
      </p:grpSp>
    </p:spTree>
  </p:cSld>
  <p:clrMapOvr>
    <a:masterClrMapping/>
  </p:clrMapOvr>
  <p:transition spd="fast">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4649155" y="3268920"/>
            <a:ext cx="9066845" cy="5989380"/>
          </a:xfrm>
          <a:custGeom>
            <a:avLst/>
            <a:gdLst/>
            <a:ahLst/>
            <a:cxnLst/>
            <a:rect r="r" b="b" t="t" l="l"/>
            <a:pathLst>
              <a:path h="5989380" w="9066845">
                <a:moveTo>
                  <a:pt x="0" y="0"/>
                </a:moveTo>
                <a:lnTo>
                  <a:pt x="9066845" y="0"/>
                </a:lnTo>
                <a:lnTo>
                  <a:pt x="9066845" y="5989380"/>
                </a:lnTo>
                <a:lnTo>
                  <a:pt x="0" y="5989380"/>
                </a:lnTo>
                <a:lnTo>
                  <a:pt x="0" y="0"/>
                </a:lnTo>
                <a:close/>
              </a:path>
            </a:pathLst>
          </a:custGeom>
          <a:blipFill>
            <a:blip r:embed="rId2"/>
            <a:stretch>
              <a:fillRect l="0" t="-429" r="0" b="-429"/>
            </a:stretch>
          </a:blipFill>
        </p:spPr>
      </p:sp>
      <p:sp>
        <p:nvSpPr>
          <p:cNvPr name="TextBox 3" id="3"/>
          <p:cNvSpPr txBox="true"/>
          <p:nvPr/>
        </p:nvSpPr>
        <p:spPr>
          <a:xfrm rot="0">
            <a:off x="4572000" y="1229703"/>
            <a:ext cx="9144000" cy="806450"/>
          </a:xfrm>
          <a:prstGeom prst="rect">
            <a:avLst/>
          </a:prstGeom>
        </p:spPr>
        <p:txBody>
          <a:bodyPr anchor="t" rtlCol="false" tIns="0" lIns="0" bIns="0" rIns="0">
            <a:spAutoFit/>
          </a:bodyPr>
          <a:lstStyle/>
          <a:p>
            <a:pPr algn="ctr">
              <a:lnSpc>
                <a:spcPts val="6400"/>
              </a:lnSpc>
              <a:spcBef>
                <a:spcPct val="0"/>
              </a:spcBef>
            </a:pPr>
            <a:r>
              <a:rPr lang="en-US" b="true" sz="5000" spc="-125">
                <a:solidFill>
                  <a:srgbClr val="000000"/>
                </a:solidFill>
                <a:latin typeface="Noto Sans Bold"/>
                <a:ea typeface="Noto Sans Bold"/>
                <a:cs typeface="Noto Sans Bold"/>
                <a:sym typeface="Noto Sans Bold"/>
              </a:rPr>
              <a:t>PHƯƠNG PHÁP NGHIÊN CỨU</a:t>
            </a:r>
          </a:p>
        </p:txBody>
      </p:sp>
      <p:sp>
        <p:nvSpPr>
          <p:cNvPr name="TextBox 4" id="4"/>
          <p:cNvSpPr txBox="true"/>
          <p:nvPr/>
        </p:nvSpPr>
        <p:spPr>
          <a:xfrm rot="0">
            <a:off x="1882389" y="2319797"/>
            <a:ext cx="14523222" cy="646430"/>
          </a:xfrm>
          <a:prstGeom prst="rect">
            <a:avLst/>
          </a:prstGeom>
        </p:spPr>
        <p:txBody>
          <a:bodyPr anchor="t" rtlCol="false" tIns="0" lIns="0" bIns="0" rIns="0">
            <a:spAutoFit/>
          </a:bodyPr>
          <a:lstStyle/>
          <a:p>
            <a:pPr algn="just">
              <a:lnSpc>
                <a:spcPts val="2560"/>
              </a:lnSpc>
              <a:spcBef>
                <a:spcPct val="0"/>
              </a:spcBef>
            </a:pPr>
            <a:r>
              <a:rPr lang="en-US" sz="2000" spc="-50">
                <a:solidFill>
                  <a:srgbClr val="000000"/>
                </a:solidFill>
                <a:latin typeface="Noto Sans"/>
                <a:ea typeface="Noto Sans"/>
                <a:cs typeface="Noto Sans"/>
                <a:sym typeface="Noto Sans"/>
              </a:rPr>
              <a:t>Nghiên cứu được thực hiện dưới sự kết hợp </a:t>
            </a:r>
            <a:r>
              <a:rPr lang="en-US" sz="2000" spc="-50">
                <a:solidFill>
                  <a:srgbClr val="000000"/>
                </a:solidFill>
                <a:latin typeface="Noto Sans"/>
                <a:ea typeface="Noto Sans"/>
                <a:cs typeface="Noto Sans"/>
                <a:sym typeface="Noto Sans"/>
              </a:rPr>
              <a:t>giữa phương pháp nghiên cứu lý thuyết và phương pháp nghiên cứu thực nghiệm nhằm đảm bảo tính khoa học và khả năng ứng dụng thực tế.</a:t>
            </a:r>
          </a:p>
        </p:txBody>
      </p:sp>
      <p:sp>
        <p:nvSpPr>
          <p:cNvPr name="TextBox 5" id="5"/>
          <p:cNvSpPr txBox="true"/>
          <p:nvPr/>
        </p:nvSpPr>
        <p:spPr>
          <a:xfrm rot="0">
            <a:off x="1640511" y="9553575"/>
            <a:ext cx="14523222" cy="473329"/>
          </a:xfrm>
          <a:prstGeom prst="rect">
            <a:avLst/>
          </a:prstGeom>
        </p:spPr>
        <p:txBody>
          <a:bodyPr anchor="t" rtlCol="false" tIns="0" lIns="0" bIns="0" rIns="0">
            <a:spAutoFit/>
          </a:bodyPr>
          <a:lstStyle/>
          <a:p>
            <a:pPr algn="ctr">
              <a:lnSpc>
                <a:spcPts val="3967"/>
              </a:lnSpc>
              <a:spcBef>
                <a:spcPct val="0"/>
              </a:spcBef>
            </a:pPr>
            <a:r>
              <a:rPr lang="en-US" sz="3099" i="true" spc="-77">
                <a:solidFill>
                  <a:srgbClr val="000000"/>
                </a:solidFill>
                <a:latin typeface="Noto Sans Italics"/>
                <a:ea typeface="Noto Sans Italics"/>
                <a:cs typeface="Noto Sans Italics"/>
                <a:sym typeface="Noto Sans Italics"/>
              </a:rPr>
              <a:t> Hình 1: Phương pháp nghiên cứu đồ án</a:t>
            </a:r>
          </a:p>
        </p:txBody>
      </p:sp>
    </p:spTree>
  </p:cSld>
  <p:clrMapOvr>
    <a:masterClrMapping/>
  </p:clrMapOvr>
  <p:transition spd="fast">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5220130" y="2887980"/>
            <a:ext cx="7847739" cy="5993711"/>
          </a:xfrm>
          <a:custGeom>
            <a:avLst/>
            <a:gdLst/>
            <a:ahLst/>
            <a:cxnLst/>
            <a:rect r="r" b="b" t="t" l="l"/>
            <a:pathLst>
              <a:path h="5993711" w="7847739">
                <a:moveTo>
                  <a:pt x="0" y="0"/>
                </a:moveTo>
                <a:lnTo>
                  <a:pt x="7847740" y="0"/>
                </a:lnTo>
                <a:lnTo>
                  <a:pt x="7847740" y="5993711"/>
                </a:lnTo>
                <a:lnTo>
                  <a:pt x="0" y="5993711"/>
                </a:lnTo>
                <a:lnTo>
                  <a:pt x="0" y="0"/>
                </a:lnTo>
                <a:close/>
              </a:path>
            </a:pathLst>
          </a:custGeom>
          <a:blipFill>
            <a:blip r:embed="rId2"/>
            <a:stretch>
              <a:fillRect l="0" t="0" r="0" b="0"/>
            </a:stretch>
          </a:blipFill>
        </p:spPr>
      </p:sp>
      <p:sp>
        <p:nvSpPr>
          <p:cNvPr name="TextBox 3" id="3"/>
          <p:cNvSpPr txBox="true"/>
          <p:nvPr/>
        </p:nvSpPr>
        <p:spPr>
          <a:xfrm rot="0">
            <a:off x="4249409" y="601663"/>
            <a:ext cx="9144000" cy="806450"/>
          </a:xfrm>
          <a:prstGeom prst="rect">
            <a:avLst/>
          </a:prstGeom>
        </p:spPr>
        <p:txBody>
          <a:bodyPr anchor="t" rtlCol="false" tIns="0" lIns="0" bIns="0" rIns="0">
            <a:spAutoFit/>
          </a:bodyPr>
          <a:lstStyle/>
          <a:p>
            <a:pPr algn="ctr">
              <a:lnSpc>
                <a:spcPts val="6400"/>
              </a:lnSpc>
              <a:spcBef>
                <a:spcPct val="0"/>
              </a:spcBef>
            </a:pPr>
            <a:r>
              <a:rPr lang="en-US" b="true" sz="5000" spc="-125">
                <a:solidFill>
                  <a:srgbClr val="000000"/>
                </a:solidFill>
                <a:latin typeface="Noto Sans Bold"/>
                <a:ea typeface="Noto Sans Bold"/>
                <a:cs typeface="Noto Sans Bold"/>
                <a:sym typeface="Noto Sans Bold"/>
              </a:rPr>
              <a:t>QUY TRÌNH SCRUM</a:t>
            </a:r>
          </a:p>
        </p:txBody>
      </p:sp>
      <p:sp>
        <p:nvSpPr>
          <p:cNvPr name="TextBox 4" id="4"/>
          <p:cNvSpPr txBox="true"/>
          <p:nvPr/>
        </p:nvSpPr>
        <p:spPr>
          <a:xfrm rot="0">
            <a:off x="3702387" y="1834007"/>
            <a:ext cx="10919070" cy="1053973"/>
          </a:xfrm>
          <a:prstGeom prst="rect">
            <a:avLst/>
          </a:prstGeom>
        </p:spPr>
        <p:txBody>
          <a:bodyPr anchor="t" rtlCol="false" tIns="0" lIns="0" bIns="0" rIns="0">
            <a:spAutoFit/>
          </a:bodyPr>
          <a:lstStyle/>
          <a:p>
            <a:pPr algn="just">
              <a:lnSpc>
                <a:spcPts val="2815"/>
              </a:lnSpc>
              <a:spcBef>
                <a:spcPct val="0"/>
              </a:spcBef>
            </a:pPr>
            <a:r>
              <a:rPr lang="en-US" sz="2199" spc="-54">
                <a:solidFill>
                  <a:srgbClr val="000000"/>
                </a:solidFill>
                <a:latin typeface="Noto Sans"/>
                <a:ea typeface="Noto Sans"/>
                <a:cs typeface="Noto Sans"/>
                <a:sym typeface="Noto Sans"/>
              </a:rPr>
              <a:t>Scrum là một phương pháp phát triển phần mềm thuộc mô hình Agile, tập trung vào việc phát triển sản phẩm theo từng vòng lặp ngắn gọi là Sprint (thường kéo dài từ 1–4 tuần).</a:t>
            </a:r>
          </a:p>
        </p:txBody>
      </p:sp>
      <p:sp>
        <p:nvSpPr>
          <p:cNvPr name="TextBox 5" id="5"/>
          <p:cNvSpPr txBox="true"/>
          <p:nvPr/>
        </p:nvSpPr>
        <p:spPr>
          <a:xfrm rot="0">
            <a:off x="7493228" y="9310316"/>
            <a:ext cx="3803352" cy="438277"/>
          </a:xfrm>
          <a:prstGeom prst="rect">
            <a:avLst/>
          </a:prstGeom>
        </p:spPr>
        <p:txBody>
          <a:bodyPr anchor="t" rtlCol="false" tIns="0" lIns="0" bIns="0" rIns="0">
            <a:spAutoFit/>
          </a:bodyPr>
          <a:lstStyle/>
          <a:p>
            <a:pPr algn="ctr">
              <a:lnSpc>
                <a:spcPts val="3583"/>
              </a:lnSpc>
              <a:spcBef>
                <a:spcPct val="0"/>
              </a:spcBef>
            </a:pPr>
            <a:r>
              <a:rPr lang="en-US" sz="2799" i="true" spc="-69">
                <a:solidFill>
                  <a:srgbClr val="000000"/>
                </a:solidFill>
                <a:latin typeface="Noto Sans Italics"/>
                <a:ea typeface="Noto Sans Italics"/>
                <a:cs typeface="Noto Sans Italics"/>
                <a:sym typeface="Noto Sans Italics"/>
              </a:rPr>
              <a:t> Hình 2: Quy trình SCRUM</a:t>
            </a:r>
          </a:p>
        </p:txBody>
      </p:sp>
    </p:spTree>
  </p:cSld>
  <p:clrMapOvr>
    <a:masterClrMapping/>
  </p:clrMapOvr>
  <p:transition spd="fast">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267143" y="4846739"/>
            <a:ext cx="8279329" cy="3909859"/>
          </a:xfrm>
          <a:custGeom>
            <a:avLst/>
            <a:gdLst/>
            <a:ahLst/>
            <a:cxnLst/>
            <a:rect r="r" b="b" t="t" l="l"/>
            <a:pathLst>
              <a:path h="3909859" w="8279329">
                <a:moveTo>
                  <a:pt x="0" y="0"/>
                </a:moveTo>
                <a:lnTo>
                  <a:pt x="8279329" y="0"/>
                </a:lnTo>
                <a:lnTo>
                  <a:pt x="8279329" y="3909859"/>
                </a:lnTo>
                <a:lnTo>
                  <a:pt x="0" y="3909859"/>
                </a:lnTo>
                <a:lnTo>
                  <a:pt x="0" y="0"/>
                </a:lnTo>
                <a:close/>
              </a:path>
            </a:pathLst>
          </a:custGeom>
          <a:blipFill>
            <a:blip r:embed="rId2"/>
            <a:stretch>
              <a:fillRect l="-2879" t="-11325" r="-822" b="-12197"/>
            </a:stretch>
          </a:blipFill>
        </p:spPr>
      </p:sp>
      <p:sp>
        <p:nvSpPr>
          <p:cNvPr name="TextBox 3" id="3"/>
          <p:cNvSpPr txBox="true"/>
          <p:nvPr/>
        </p:nvSpPr>
        <p:spPr>
          <a:xfrm rot="0">
            <a:off x="2919930" y="976948"/>
            <a:ext cx="12448140" cy="806450"/>
          </a:xfrm>
          <a:prstGeom prst="rect">
            <a:avLst/>
          </a:prstGeom>
        </p:spPr>
        <p:txBody>
          <a:bodyPr anchor="t" rtlCol="false" tIns="0" lIns="0" bIns="0" rIns="0">
            <a:spAutoFit/>
          </a:bodyPr>
          <a:lstStyle/>
          <a:p>
            <a:pPr algn="ctr">
              <a:lnSpc>
                <a:spcPts val="6400"/>
              </a:lnSpc>
              <a:spcBef>
                <a:spcPct val="0"/>
              </a:spcBef>
            </a:pPr>
            <a:r>
              <a:rPr lang="en-US" b="true" sz="5000" spc="-125">
                <a:solidFill>
                  <a:srgbClr val="000000"/>
                </a:solidFill>
                <a:latin typeface="Noto Sans Bold"/>
                <a:ea typeface="Noto Sans Bold"/>
                <a:cs typeface="Noto Sans Bold"/>
                <a:sym typeface="Noto Sans Bold"/>
              </a:rPr>
              <a:t>QUY TRÌNH VẬN HÀNH DEVOPS VÀ CI/CD </a:t>
            </a:r>
          </a:p>
        </p:txBody>
      </p:sp>
      <p:sp>
        <p:nvSpPr>
          <p:cNvPr name="TextBox 4" id="4"/>
          <p:cNvSpPr txBox="true"/>
          <p:nvPr/>
        </p:nvSpPr>
        <p:spPr>
          <a:xfrm rot="0">
            <a:off x="1028700" y="2202498"/>
            <a:ext cx="16230600" cy="1753743"/>
          </a:xfrm>
          <a:prstGeom prst="rect">
            <a:avLst/>
          </a:prstGeom>
        </p:spPr>
        <p:txBody>
          <a:bodyPr anchor="t" rtlCol="false" tIns="0" lIns="0" bIns="0" rIns="0">
            <a:spAutoFit/>
          </a:bodyPr>
          <a:lstStyle/>
          <a:p>
            <a:pPr algn="l" marL="582932" indent="-291466" lvl="1">
              <a:lnSpc>
                <a:spcPts val="3456"/>
              </a:lnSpc>
              <a:spcBef>
                <a:spcPct val="0"/>
              </a:spcBef>
              <a:buFont typeface="Arial"/>
              <a:buChar char="•"/>
            </a:pPr>
            <a:r>
              <a:rPr lang="en-US" sz="2700" spc="-67">
                <a:solidFill>
                  <a:srgbClr val="000000"/>
                </a:solidFill>
                <a:latin typeface="Noto Sans"/>
                <a:ea typeface="Noto Sans"/>
                <a:cs typeface="Noto Sans"/>
                <a:sym typeface="Noto Sans"/>
              </a:rPr>
              <a:t>DevOps</a:t>
            </a:r>
            <a:r>
              <a:rPr lang="en-US" sz="2700" spc="-67">
                <a:solidFill>
                  <a:srgbClr val="000000"/>
                </a:solidFill>
                <a:latin typeface="Noto Sans"/>
                <a:ea typeface="Noto Sans"/>
                <a:cs typeface="Noto Sans"/>
                <a:sym typeface="Noto Sans"/>
              </a:rPr>
              <a:t> là một phương pháp phát triển và vận hành phần mềm tập trung vào việc tự động hóa và tích hợp các quy trình phát triển và vận hành. </a:t>
            </a:r>
          </a:p>
          <a:p>
            <a:pPr algn="l" marL="582932" indent="-291466" lvl="1">
              <a:lnSpc>
                <a:spcPts val="3456"/>
              </a:lnSpc>
              <a:spcBef>
                <a:spcPct val="0"/>
              </a:spcBef>
              <a:buFont typeface="Arial"/>
              <a:buChar char="•"/>
            </a:pPr>
            <a:r>
              <a:rPr lang="en-US" sz="2700" spc="-67">
                <a:solidFill>
                  <a:srgbClr val="000000"/>
                </a:solidFill>
                <a:latin typeface="Noto Sans"/>
                <a:ea typeface="Noto Sans"/>
                <a:cs typeface="Noto Sans"/>
                <a:sym typeface="Noto Sans"/>
              </a:rPr>
              <a:t>Mục tiêu của DevOps là tạo ra một môi trường nơi các nhóm phát triển và vận hành có thể cộng tác chặt chẽ để cung cấp phần mềm nhanh hơn, đáng tin cậy hơn và linh hoạt hơn.</a:t>
            </a:r>
          </a:p>
        </p:txBody>
      </p:sp>
      <p:sp>
        <p:nvSpPr>
          <p:cNvPr name="TextBox 5" id="5"/>
          <p:cNvSpPr txBox="true"/>
          <p:nvPr/>
        </p:nvSpPr>
        <p:spPr>
          <a:xfrm rot="0">
            <a:off x="10236021" y="4812105"/>
            <a:ext cx="7023279" cy="3944493"/>
          </a:xfrm>
          <a:prstGeom prst="rect">
            <a:avLst/>
          </a:prstGeom>
        </p:spPr>
        <p:txBody>
          <a:bodyPr anchor="t" rtlCol="false" tIns="0" lIns="0" bIns="0" rIns="0">
            <a:spAutoFit/>
          </a:bodyPr>
          <a:lstStyle/>
          <a:p>
            <a:pPr algn="just">
              <a:lnSpc>
                <a:spcPts val="3456"/>
              </a:lnSpc>
              <a:spcBef>
                <a:spcPct val="0"/>
              </a:spcBef>
            </a:pPr>
            <a:r>
              <a:rPr lang="en-US" b="true" sz="2700" spc="-67">
                <a:solidFill>
                  <a:srgbClr val="000000"/>
                </a:solidFill>
                <a:latin typeface="Noto Sans Bold"/>
                <a:ea typeface="Noto Sans Bold"/>
                <a:cs typeface="Noto Sans Bold"/>
                <a:sym typeface="Noto Sans Bold"/>
              </a:rPr>
              <a:t>CI/CD (Tích hợp &amp; Triển khai liên tục)</a:t>
            </a:r>
            <a:r>
              <a:rPr lang="en-US" sz="2700" spc="-67">
                <a:solidFill>
                  <a:srgbClr val="000000"/>
                </a:solidFill>
                <a:latin typeface="Noto Sans"/>
                <a:ea typeface="Noto Sans"/>
                <a:cs typeface="Noto Sans"/>
                <a:sym typeface="Noto Sans"/>
              </a:rPr>
              <a:t> là phương pháp DevOps tự động hóa quy trình xây dựng, kiểm thử và phát hành phần mềm, giúp rút ngắn chu kỳ phát triển, giảm thiểu lỗi và tăng tốc độ ra mắt tính năng mới. Quy trình này bao gồm: Tích hợp liên tục (CI) để tự động kiểm tra code và Triển khai/Chuyển giao liên tục (CD) để đẩy code lên môi trường production.</a:t>
            </a:r>
          </a:p>
        </p:txBody>
      </p:sp>
      <p:sp>
        <p:nvSpPr>
          <p:cNvPr name="TextBox 6" id="6"/>
          <p:cNvSpPr txBox="true"/>
          <p:nvPr/>
        </p:nvSpPr>
        <p:spPr>
          <a:xfrm rot="0">
            <a:off x="2873747" y="9185223"/>
            <a:ext cx="5548710" cy="367156"/>
          </a:xfrm>
          <a:prstGeom prst="rect">
            <a:avLst/>
          </a:prstGeom>
        </p:spPr>
        <p:txBody>
          <a:bodyPr anchor="t" rtlCol="false" tIns="0" lIns="0" bIns="0" rIns="0">
            <a:spAutoFit/>
          </a:bodyPr>
          <a:lstStyle/>
          <a:p>
            <a:pPr algn="ctr">
              <a:lnSpc>
                <a:spcPts val="2944"/>
              </a:lnSpc>
              <a:spcBef>
                <a:spcPct val="0"/>
              </a:spcBef>
            </a:pPr>
            <a:r>
              <a:rPr lang="en-US" sz="2300" i="true" spc="-57">
                <a:solidFill>
                  <a:srgbClr val="000000"/>
                </a:solidFill>
                <a:latin typeface="Noto Sans Italics"/>
                <a:ea typeface="Noto Sans Italics"/>
                <a:cs typeface="Noto Sans Italics"/>
                <a:sym typeface="Noto Sans Italics"/>
              </a:rPr>
              <a:t> Hình 3: Quy trình vận hành Devops và CI/CD </a:t>
            </a:r>
          </a:p>
        </p:txBody>
      </p:sp>
    </p:spTree>
  </p:cSld>
  <p:clrMapOvr>
    <a:masterClrMapping/>
  </p:clrMapOvr>
  <p:transition spd="fast">
    <p:push dir="l"/>
  </p:transition>
</p:sld>
</file>

<file path=ppt/slides/slide13.xml><?xml version="1.0" encoding="utf-8"?>
<p:sld xmlns:p="http://schemas.openxmlformats.org/presentationml/2006/main" xmlns:a="http://schemas.openxmlformats.org/drawingml/2006/main">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5290083" y="1028700"/>
          <a:ext cx="7707834" cy="2389436"/>
        </p:xfrm>
        <a:graphic>
          <a:graphicData uri="http://schemas.openxmlformats.org/drawingml/2006/table">
            <a:tbl>
              <a:tblPr/>
              <a:tblGrid>
                <a:gridCol w="7707834"/>
              </a:tblGrid>
              <a:tr h="2389436">
                <a:tc>
                  <a:txBody>
                    <a:bodyPr anchor="t" rtlCol="false"/>
                    <a:lstStyle/>
                    <a:p>
                      <a:pPr algn="ctr">
                        <a:lnSpc>
                          <a:spcPts val="13720"/>
                        </a:lnSpc>
                        <a:defRPr/>
                      </a:pPr>
                      <a:r>
                        <a:rPr lang="en-US" b="true" sz="9800" spc="-784">
                          <a:solidFill>
                            <a:srgbClr val="383838"/>
                          </a:solidFill>
                          <a:latin typeface="Noto Sans Bold"/>
                          <a:ea typeface="Noto Sans Bold"/>
                          <a:cs typeface="Noto Sans Bold"/>
                          <a:sym typeface="Noto Sans Bold"/>
                        </a:rPr>
                        <a:t>Chương 2</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sp>
        <p:nvSpPr>
          <p:cNvPr name="TextBox 3" id="3"/>
          <p:cNvSpPr txBox="true"/>
          <p:nvPr/>
        </p:nvSpPr>
        <p:spPr>
          <a:xfrm rot="0">
            <a:off x="4264255" y="5010150"/>
            <a:ext cx="9759490" cy="1243331"/>
          </a:xfrm>
          <a:prstGeom prst="rect">
            <a:avLst/>
          </a:prstGeom>
        </p:spPr>
        <p:txBody>
          <a:bodyPr anchor="t" rtlCol="false" tIns="0" lIns="0" bIns="0" rIns="0">
            <a:spAutoFit/>
          </a:bodyPr>
          <a:lstStyle/>
          <a:p>
            <a:pPr algn="ctr">
              <a:lnSpc>
                <a:spcPts val="10219"/>
              </a:lnSpc>
            </a:pPr>
            <a:r>
              <a:rPr lang="en-US" b="true" sz="7299">
                <a:solidFill>
                  <a:srgbClr val="000000"/>
                </a:solidFill>
                <a:latin typeface="Noto Sans Bold"/>
                <a:ea typeface="Noto Sans Bold"/>
                <a:cs typeface="Noto Sans Bold"/>
                <a:sym typeface="Noto Sans Bold"/>
              </a:rPr>
              <a:t>CƠ SỞ LÝ THUYẾT</a:t>
            </a:r>
          </a:p>
        </p:txBody>
      </p:sp>
    </p:spTree>
  </p:cSld>
  <p:clrMapOvr>
    <a:masterClrMapping/>
  </p:clrMapOvr>
  <p:transition spd="fast">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5626563" y="1099655"/>
            <a:ext cx="659901" cy="643383"/>
          </a:xfrm>
          <a:custGeom>
            <a:avLst/>
            <a:gdLst/>
            <a:ahLst/>
            <a:cxnLst/>
            <a:rect r="r" b="b" t="t" l="l"/>
            <a:pathLst>
              <a:path h="643383" w="659901">
                <a:moveTo>
                  <a:pt x="0" y="0"/>
                </a:moveTo>
                <a:lnTo>
                  <a:pt x="659901" y="0"/>
                </a:lnTo>
                <a:lnTo>
                  <a:pt x="659901" y="643383"/>
                </a:lnTo>
                <a:lnTo>
                  <a:pt x="0" y="6433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52750" y="3432897"/>
            <a:ext cx="9782500" cy="5825403"/>
          </a:xfrm>
          <a:custGeom>
            <a:avLst/>
            <a:gdLst/>
            <a:ahLst/>
            <a:cxnLst/>
            <a:rect r="r" b="b" t="t" l="l"/>
            <a:pathLst>
              <a:path h="5825403" w="9782500">
                <a:moveTo>
                  <a:pt x="0" y="0"/>
                </a:moveTo>
                <a:lnTo>
                  <a:pt x="9782500" y="0"/>
                </a:lnTo>
                <a:lnTo>
                  <a:pt x="9782500" y="5825403"/>
                </a:lnTo>
                <a:lnTo>
                  <a:pt x="0" y="5825403"/>
                </a:lnTo>
                <a:lnTo>
                  <a:pt x="0" y="0"/>
                </a:lnTo>
                <a:close/>
              </a:path>
            </a:pathLst>
          </a:custGeom>
          <a:blipFill>
            <a:blip r:embed="rId4"/>
            <a:stretch>
              <a:fillRect l="0" t="-5941" r="0" b="-5941"/>
            </a:stretch>
          </a:blipFill>
        </p:spPr>
      </p:sp>
      <p:sp>
        <p:nvSpPr>
          <p:cNvPr name="TextBox 4" id="4"/>
          <p:cNvSpPr txBox="true"/>
          <p:nvPr/>
        </p:nvSpPr>
        <p:spPr>
          <a:xfrm rot="0">
            <a:off x="1374881" y="597879"/>
            <a:ext cx="15884419" cy="823468"/>
          </a:xfrm>
          <a:prstGeom prst="rect">
            <a:avLst/>
          </a:prstGeom>
        </p:spPr>
        <p:txBody>
          <a:bodyPr anchor="t" rtlCol="false" tIns="0" lIns="0" bIns="0" rIns="0">
            <a:spAutoFit/>
          </a:bodyPr>
          <a:lstStyle/>
          <a:p>
            <a:pPr algn="l">
              <a:lnSpc>
                <a:spcPts val="6655"/>
              </a:lnSpc>
              <a:spcBef>
                <a:spcPct val="0"/>
              </a:spcBef>
            </a:pPr>
            <a:r>
              <a:rPr lang="en-US" b="true" sz="5199" spc="-129">
                <a:solidFill>
                  <a:srgbClr val="383838"/>
                </a:solidFill>
                <a:latin typeface="Noto Sans Bold"/>
                <a:ea typeface="Noto Sans Bold"/>
                <a:cs typeface="Noto Sans Bold"/>
                <a:sym typeface="Noto Sans Bold"/>
              </a:rPr>
              <a:t>Lý luận tổng quan về kiến trúc phần mềm</a:t>
            </a:r>
          </a:p>
        </p:txBody>
      </p:sp>
      <p:sp>
        <p:nvSpPr>
          <p:cNvPr name="TextBox 5" id="5"/>
          <p:cNvSpPr txBox="true"/>
          <p:nvPr/>
        </p:nvSpPr>
        <p:spPr>
          <a:xfrm rot="0">
            <a:off x="1201791" y="1989112"/>
            <a:ext cx="15884419" cy="1268095"/>
          </a:xfrm>
          <a:prstGeom prst="rect">
            <a:avLst/>
          </a:prstGeom>
        </p:spPr>
        <p:txBody>
          <a:bodyPr anchor="t" rtlCol="false" tIns="0" lIns="0" bIns="0" rIns="0">
            <a:spAutoFit/>
          </a:bodyPr>
          <a:lstStyle/>
          <a:p>
            <a:pPr algn="just">
              <a:lnSpc>
                <a:spcPts val="3421"/>
              </a:lnSpc>
              <a:spcBef>
                <a:spcPct val="0"/>
              </a:spcBef>
            </a:pPr>
            <a:r>
              <a:rPr lang="en-US" sz="2359">
                <a:solidFill>
                  <a:srgbClr val="383838"/>
                </a:solidFill>
                <a:latin typeface="Noto Sans"/>
                <a:ea typeface="Noto Sans"/>
                <a:cs typeface="Noto Sans"/>
                <a:sym typeface="Noto Sans"/>
              </a:rPr>
              <a:t>Kiến trúc phần mềm là cách tổ chức tổng thể các thành phần của hệ thống, bao gồm các mô-đun chức năng, luồng dữ liệu, cơ chế giao tiếp và cách triển khai thực tế. Một kiến trúc tốt không chỉ giúp hệ thống hoạt động ổn định mà còn tạo điều kiện thuận lợi cho việc mở rộng, bảo trì và nâng cấp trong tương lai.</a:t>
            </a:r>
          </a:p>
        </p:txBody>
      </p:sp>
      <p:sp>
        <p:nvSpPr>
          <p:cNvPr name="TextBox 6" id="6"/>
          <p:cNvSpPr txBox="true"/>
          <p:nvPr/>
        </p:nvSpPr>
        <p:spPr>
          <a:xfrm rot="0">
            <a:off x="6189170" y="9509125"/>
            <a:ext cx="6255841" cy="474344"/>
          </a:xfrm>
          <a:prstGeom prst="rect">
            <a:avLst/>
          </a:prstGeom>
        </p:spPr>
        <p:txBody>
          <a:bodyPr anchor="t" rtlCol="false" tIns="0" lIns="0" bIns="0" rIns="0">
            <a:spAutoFit/>
          </a:bodyPr>
          <a:lstStyle/>
          <a:p>
            <a:pPr algn="ctr">
              <a:lnSpc>
                <a:spcPts val="3840"/>
              </a:lnSpc>
              <a:spcBef>
                <a:spcPct val="0"/>
              </a:spcBef>
            </a:pPr>
            <a:r>
              <a:rPr lang="en-US" sz="3000" i="true" spc="-75">
                <a:solidFill>
                  <a:srgbClr val="383838"/>
                </a:solidFill>
                <a:latin typeface="Noto Sans Italics"/>
                <a:ea typeface="Noto Sans Italics"/>
                <a:cs typeface="Noto Sans Italics"/>
                <a:sym typeface="Noto Sans Italics"/>
              </a:rPr>
              <a:t> Hình 4: Kiến trúc phần mềm của đồ án</a:t>
            </a:r>
          </a:p>
        </p:txBody>
      </p:sp>
    </p:spTree>
  </p:cSld>
  <p:clrMapOvr>
    <a:masterClrMapping/>
  </p:clrMapOvr>
  <p:transition spd="fast">
    <p:push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79193" y="468728"/>
            <a:ext cx="10846244"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Business Context</a:t>
            </a:r>
          </a:p>
        </p:txBody>
      </p:sp>
      <p:sp>
        <p:nvSpPr>
          <p:cNvPr name="TextBox 4" id="4"/>
          <p:cNvSpPr txBox="true"/>
          <p:nvPr/>
        </p:nvSpPr>
        <p:spPr>
          <a:xfrm rot="0">
            <a:off x="1355949" y="1262328"/>
            <a:ext cx="15778959" cy="6929172"/>
          </a:xfrm>
          <a:prstGeom prst="rect">
            <a:avLst/>
          </a:prstGeom>
        </p:spPr>
        <p:txBody>
          <a:bodyPr anchor="t" rtlCol="false" tIns="0" lIns="0" bIns="0" rIns="0">
            <a:spAutoFit/>
          </a:bodyPr>
          <a:lstStyle/>
          <a:p>
            <a:pPr algn="l">
              <a:lnSpc>
                <a:spcPts val="4233"/>
              </a:lnSpc>
            </a:pPr>
          </a:p>
          <a:p>
            <a:pPr algn="l" marL="714063" indent="-357032" lvl="1">
              <a:lnSpc>
                <a:spcPts val="4233"/>
              </a:lnSpc>
              <a:buFont typeface="Arial"/>
              <a:buChar char="•"/>
            </a:pPr>
            <a:r>
              <a:rPr lang="en-US" sz="3307" spc="-82">
                <a:solidFill>
                  <a:srgbClr val="383838"/>
                </a:solidFill>
                <a:latin typeface="Decalotype"/>
                <a:ea typeface="Decalotype"/>
                <a:cs typeface="Decalotype"/>
                <a:sym typeface="Decalotype"/>
              </a:rPr>
              <a:t>Hệ thống là nền tảng thương mại điện tử, đóng vai trò trung gian kết nối người mua và người bán.</a:t>
            </a:r>
          </a:p>
          <a:p>
            <a:pPr algn="l" marL="714063" indent="-357032" lvl="1">
              <a:lnSpc>
                <a:spcPts val="4233"/>
              </a:lnSpc>
              <a:buFont typeface="Arial"/>
              <a:buChar char="•"/>
            </a:pPr>
            <a:r>
              <a:rPr lang="en-US" sz="3307" spc="-82">
                <a:solidFill>
                  <a:srgbClr val="383838"/>
                </a:solidFill>
                <a:latin typeface="Decalotype"/>
                <a:ea typeface="Decalotype"/>
                <a:cs typeface="Decalotype"/>
                <a:sym typeface="Decalotype"/>
              </a:rPr>
              <a:t>Người bán đăng ký tài khoản và đăng tải sản phẩm với các thông tin như tên, giá, số lượng, mô tả, hình ảnh.</a:t>
            </a:r>
          </a:p>
          <a:p>
            <a:pPr algn="l" marL="714063" indent="-357032" lvl="1">
              <a:lnSpc>
                <a:spcPts val="4233"/>
              </a:lnSpc>
              <a:buFont typeface="Arial"/>
              <a:buChar char="•"/>
            </a:pPr>
            <a:r>
              <a:rPr lang="en-US" sz="3307" spc="-82">
                <a:solidFill>
                  <a:srgbClr val="383838"/>
                </a:solidFill>
                <a:latin typeface="Decalotype"/>
                <a:ea typeface="Decalotype"/>
                <a:cs typeface="Decalotype"/>
                <a:sym typeface="Decalotype"/>
              </a:rPr>
              <a:t>Người mua truy cập hệ thống để tìm kiếm, xem sản phẩm, thêm vào giỏ hàng và đặt hàng.</a:t>
            </a:r>
          </a:p>
          <a:p>
            <a:pPr algn="l" marL="714063" indent="-357032" lvl="1">
              <a:lnSpc>
                <a:spcPts val="4233"/>
              </a:lnSpc>
              <a:buFont typeface="Arial"/>
              <a:buChar char="•"/>
            </a:pPr>
            <a:r>
              <a:rPr lang="en-US" sz="3307" spc="-82">
                <a:solidFill>
                  <a:srgbClr val="383838"/>
                </a:solidFill>
                <a:latin typeface="Decalotype"/>
                <a:ea typeface="Decalotype"/>
                <a:cs typeface="Decalotype"/>
                <a:sym typeface="Decalotype"/>
              </a:rPr>
              <a:t>Sau khi đặt hàng, hệ thống kiểm tra tính hợp lệ của đơn hàng, tính tổng tiền, phí vận chuyển và xử lý thanh toán.</a:t>
            </a:r>
          </a:p>
          <a:p>
            <a:pPr algn="l" marL="714063" indent="-357032" lvl="1">
              <a:lnSpc>
                <a:spcPts val="4233"/>
              </a:lnSpc>
              <a:buFont typeface="Arial"/>
              <a:buChar char="•"/>
            </a:pPr>
            <a:r>
              <a:rPr lang="en-US" sz="3307" spc="-82">
                <a:solidFill>
                  <a:srgbClr val="383838"/>
                </a:solidFill>
                <a:latin typeface="Decalotype"/>
                <a:ea typeface="Decalotype"/>
                <a:cs typeface="Decalotype"/>
                <a:sym typeface="Decalotype"/>
              </a:rPr>
              <a:t>Khi đơn hàng được xác nhận, hệ thống thông báo cho người bán để chuẩn bị hàng và giao hàng.</a:t>
            </a:r>
          </a:p>
          <a:p>
            <a:pPr algn="l" marL="714063" indent="-357032" lvl="1">
              <a:lnSpc>
                <a:spcPts val="4233"/>
              </a:lnSpc>
              <a:buFont typeface="Arial"/>
              <a:buChar char="•"/>
            </a:pPr>
            <a:r>
              <a:rPr lang="en-US" sz="3307" spc="-82">
                <a:solidFill>
                  <a:srgbClr val="383838"/>
                </a:solidFill>
                <a:latin typeface="Decalotype"/>
                <a:ea typeface="Decalotype"/>
                <a:cs typeface="Decalotype"/>
                <a:sym typeface="Decalotype"/>
              </a:rPr>
              <a:t>Hệ thống có nhiệm vụ quản lý dữ liệu người dùng, sản phẩm, đơn hàng và đồng bộ trạng thái giao dịch.</a:t>
            </a:r>
          </a:p>
          <a:p>
            <a:pPr algn="l" marL="714063" indent="-357032" lvl="1">
              <a:lnSpc>
                <a:spcPts val="4233"/>
              </a:lnSpc>
              <a:buFont typeface="Arial"/>
              <a:buChar char="•"/>
            </a:pPr>
            <a:r>
              <a:rPr lang="en-US" sz="3307" spc="-82">
                <a:solidFill>
                  <a:srgbClr val="383838"/>
                </a:solidFill>
                <a:latin typeface="Decalotype"/>
                <a:ea typeface="Decalotype"/>
                <a:cs typeface="Decalotype"/>
                <a:sym typeface="Decalotype"/>
              </a:rPr>
              <a:t>Ngoài ra, hệ thống hỗ trợ thanh toán an toàn, gửi thông báo và lưu trữ lịch sử giao dịch.</a:t>
            </a:r>
          </a:p>
          <a:p>
            <a:pPr algn="l" marL="714063" indent="-357032" lvl="1">
              <a:lnSpc>
                <a:spcPts val="4233"/>
              </a:lnSpc>
              <a:buFont typeface="Arial"/>
              <a:buChar char="•"/>
            </a:pPr>
            <a:r>
              <a:rPr lang="en-US" sz="3307" spc="-82">
                <a:solidFill>
                  <a:srgbClr val="383838"/>
                </a:solidFill>
                <a:latin typeface="Decalotype"/>
                <a:ea typeface="Decalotype"/>
                <a:cs typeface="Decalotype"/>
                <a:sym typeface="Decalotype"/>
              </a:rPr>
              <a:t>Sau khi nhận hàng, người mua có thể đánh giá sản phẩm để hỗ trợ những khách hàng khác và nâng cao chất lượng dịch vụ.</a:t>
            </a:r>
          </a:p>
        </p:txBody>
      </p:sp>
    </p:spTree>
  </p:cSld>
  <p:clrMapOvr>
    <a:masterClrMapping/>
  </p:clrMapOvr>
  <p:transition spd="fast">
    <p:push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35166" y="1521790"/>
            <a:ext cx="6790371" cy="8569252"/>
          </a:xfrm>
          <a:prstGeom prst="rect">
            <a:avLst/>
          </a:prstGeom>
        </p:spPr>
        <p:txBody>
          <a:bodyPr anchor="t" rtlCol="false" tIns="0" lIns="0" bIns="0" rIns="0">
            <a:spAutoFit/>
          </a:bodyPr>
          <a:lstStyle/>
          <a:p>
            <a:pPr algn="l">
              <a:lnSpc>
                <a:spcPts val="3822"/>
              </a:lnSpc>
            </a:pPr>
            <a:r>
              <a:rPr lang="en-US" sz="2986" spc="-74">
                <a:solidFill>
                  <a:srgbClr val="383838"/>
                </a:solidFill>
                <a:latin typeface="Decalotype"/>
                <a:ea typeface="Decalotype"/>
                <a:cs typeface="Decalotype"/>
                <a:sym typeface="Decalotype"/>
              </a:rPr>
              <a:t>Đ</a:t>
            </a:r>
            <a:r>
              <a:rPr lang="en-US" sz="2986" spc="-74">
                <a:solidFill>
                  <a:srgbClr val="383838"/>
                </a:solidFill>
                <a:latin typeface="Decalotype"/>
                <a:ea typeface="Decalotype"/>
                <a:cs typeface="Decalotype"/>
                <a:sym typeface="Decalotype"/>
              </a:rPr>
              <a:t>ối v</a:t>
            </a:r>
            <a:r>
              <a:rPr lang="en-US" sz="2986" spc="-74">
                <a:solidFill>
                  <a:srgbClr val="383838"/>
                </a:solidFill>
                <a:latin typeface="Decalotype"/>
                <a:ea typeface="Decalotype"/>
                <a:cs typeface="Decalotype"/>
                <a:sym typeface="Decalotype"/>
              </a:rPr>
              <a:t>ớ</a:t>
            </a:r>
            <a:r>
              <a:rPr lang="en-US" sz="2986" spc="-74">
                <a:solidFill>
                  <a:srgbClr val="383838"/>
                </a:solidFill>
                <a:latin typeface="Decalotype"/>
                <a:ea typeface="Decalotype"/>
                <a:cs typeface="Decalotype"/>
                <a:sym typeface="Decalotype"/>
              </a:rPr>
              <a:t>i người mua </a:t>
            </a:r>
            <a:r>
              <a:rPr lang="en-US" sz="2986" spc="-74">
                <a:solidFill>
                  <a:srgbClr val="383838"/>
                </a:solidFill>
                <a:latin typeface="Decalotype"/>
                <a:ea typeface="Decalotype"/>
                <a:cs typeface="Decalotype"/>
                <a:sym typeface="Decalotype"/>
              </a:rPr>
              <a:t>(Customer):</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Đă</a:t>
            </a:r>
            <a:r>
              <a:rPr lang="en-US" sz="2986" spc="-74">
                <a:solidFill>
                  <a:srgbClr val="383838"/>
                </a:solidFill>
                <a:latin typeface="Decalotype"/>
                <a:ea typeface="Decalotype"/>
                <a:cs typeface="Decalotype"/>
                <a:sym typeface="Decalotype"/>
              </a:rPr>
              <a:t>ng </a:t>
            </a:r>
            <a:r>
              <a:rPr lang="en-US" sz="2986" spc="-74">
                <a:solidFill>
                  <a:srgbClr val="383838"/>
                </a:solidFill>
                <a:latin typeface="Decalotype"/>
                <a:ea typeface="Decalotype"/>
                <a:cs typeface="Decalotype"/>
                <a:sym typeface="Decalotype"/>
              </a:rPr>
              <a:t>ký,</a:t>
            </a:r>
            <a:r>
              <a:rPr lang="en-US" sz="2986" spc="-74">
                <a:solidFill>
                  <a:srgbClr val="383838"/>
                </a:solidFill>
                <a:latin typeface="Decalotype"/>
                <a:ea typeface="Decalotype"/>
                <a:cs typeface="Decalotype"/>
                <a:sym typeface="Decalotype"/>
              </a:rPr>
              <a:t> đăng </a:t>
            </a:r>
            <a:r>
              <a:rPr lang="en-US" sz="2986" spc="-74">
                <a:solidFill>
                  <a:srgbClr val="383838"/>
                </a:solidFill>
                <a:latin typeface="Decalotype"/>
                <a:ea typeface="Decalotype"/>
                <a:cs typeface="Decalotype"/>
                <a:sym typeface="Decalotype"/>
              </a:rPr>
              <a:t>nhập</a:t>
            </a:r>
            <a:r>
              <a:rPr lang="en-US" sz="2986" spc="-74">
                <a:solidFill>
                  <a:srgbClr val="383838"/>
                </a:solidFill>
                <a:latin typeface="Decalotype"/>
                <a:ea typeface="Decalotype"/>
                <a:cs typeface="Decalotype"/>
                <a:sym typeface="Decalotype"/>
              </a:rPr>
              <a:t> tài khoản</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Tìm</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k</a:t>
            </a:r>
            <a:r>
              <a:rPr lang="en-US" sz="2986" spc="-74">
                <a:solidFill>
                  <a:srgbClr val="383838"/>
                </a:solidFill>
                <a:latin typeface="Decalotype"/>
                <a:ea typeface="Decalotype"/>
                <a:cs typeface="Decalotype"/>
                <a:sym typeface="Decalotype"/>
              </a:rPr>
              <a:t>i</a:t>
            </a:r>
            <a:r>
              <a:rPr lang="en-US" sz="2986" spc="-74">
                <a:solidFill>
                  <a:srgbClr val="383838"/>
                </a:solidFill>
                <a:latin typeface="Decalotype"/>
                <a:ea typeface="Decalotype"/>
                <a:cs typeface="Decalotype"/>
                <a:sym typeface="Decalotype"/>
              </a:rPr>
              <a:t>ế</a:t>
            </a:r>
            <a:r>
              <a:rPr lang="en-US" sz="2986" spc="-74">
                <a:solidFill>
                  <a:srgbClr val="383838"/>
                </a:solidFill>
                <a:latin typeface="Decalotype"/>
                <a:ea typeface="Decalotype"/>
                <a:cs typeface="Decalotype"/>
                <a:sym typeface="Decalotype"/>
              </a:rPr>
              <a:t>m v</a:t>
            </a:r>
            <a:r>
              <a:rPr lang="en-US" sz="2986" spc="-74">
                <a:solidFill>
                  <a:srgbClr val="383838"/>
                </a:solidFill>
                <a:latin typeface="Decalotype"/>
                <a:ea typeface="Decalotype"/>
                <a:cs typeface="Decalotype"/>
                <a:sym typeface="Decalotype"/>
              </a:rPr>
              <a:t>à</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xem</a:t>
            </a:r>
            <a:r>
              <a:rPr lang="en-US" sz="2986" spc="-74">
                <a:solidFill>
                  <a:srgbClr val="383838"/>
                </a:solidFill>
                <a:latin typeface="Decalotype"/>
                <a:ea typeface="Decalotype"/>
                <a:cs typeface="Decalotype"/>
                <a:sym typeface="Decalotype"/>
              </a:rPr>
              <a:t> thông tin sản </a:t>
            </a:r>
            <a:r>
              <a:rPr lang="en-US" sz="2986" spc="-74">
                <a:solidFill>
                  <a:srgbClr val="383838"/>
                </a:solidFill>
                <a:latin typeface="Decalotype"/>
                <a:ea typeface="Decalotype"/>
                <a:cs typeface="Decalotype"/>
                <a:sym typeface="Decalotype"/>
              </a:rPr>
              <a:t>p</a:t>
            </a:r>
            <a:r>
              <a:rPr lang="en-US" sz="2986" spc="-74">
                <a:solidFill>
                  <a:srgbClr val="383838"/>
                </a:solidFill>
                <a:latin typeface="Decalotype"/>
                <a:ea typeface="Decalotype"/>
                <a:cs typeface="Decalotype"/>
                <a:sym typeface="Decalotype"/>
              </a:rPr>
              <a:t>h</a:t>
            </a:r>
            <a:r>
              <a:rPr lang="en-US" sz="2986" spc="-74">
                <a:solidFill>
                  <a:srgbClr val="383838"/>
                </a:solidFill>
                <a:latin typeface="Decalotype"/>
                <a:ea typeface="Decalotype"/>
                <a:cs typeface="Decalotype"/>
                <a:sym typeface="Decalotype"/>
              </a:rPr>
              <a:t>ẩm</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T</a:t>
            </a:r>
            <a:r>
              <a:rPr lang="en-US" sz="2986" spc="-74">
                <a:solidFill>
                  <a:srgbClr val="383838"/>
                </a:solidFill>
                <a:latin typeface="Decalotype"/>
                <a:ea typeface="Decalotype"/>
                <a:cs typeface="Decalotype"/>
                <a:sym typeface="Decalotype"/>
              </a:rPr>
              <a:t>h</a:t>
            </a:r>
            <a:r>
              <a:rPr lang="en-US" sz="2986" spc="-74">
                <a:solidFill>
                  <a:srgbClr val="383838"/>
                </a:solidFill>
                <a:latin typeface="Decalotype"/>
                <a:ea typeface="Decalotype"/>
                <a:cs typeface="Decalotype"/>
                <a:sym typeface="Decalotype"/>
              </a:rPr>
              <a:t>ê</a:t>
            </a:r>
            <a:r>
              <a:rPr lang="en-US" sz="2986" spc="-74">
                <a:solidFill>
                  <a:srgbClr val="383838"/>
                </a:solidFill>
                <a:latin typeface="Decalotype"/>
                <a:ea typeface="Decalotype"/>
                <a:cs typeface="Decalotype"/>
                <a:sym typeface="Decalotype"/>
              </a:rPr>
              <a:t>m sản phẩm vào giỏ hàng</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Đ</a:t>
            </a:r>
            <a:r>
              <a:rPr lang="en-US" sz="2986" spc="-74">
                <a:solidFill>
                  <a:srgbClr val="383838"/>
                </a:solidFill>
                <a:latin typeface="Decalotype"/>
                <a:ea typeface="Decalotype"/>
                <a:cs typeface="Decalotype"/>
                <a:sym typeface="Decalotype"/>
              </a:rPr>
              <a:t>ặt hàng </a:t>
            </a:r>
            <a:r>
              <a:rPr lang="en-US" sz="2986" spc="-74">
                <a:solidFill>
                  <a:srgbClr val="383838"/>
                </a:solidFill>
                <a:latin typeface="Decalotype"/>
                <a:ea typeface="Decalotype"/>
                <a:cs typeface="Decalotype"/>
                <a:sym typeface="Decalotype"/>
              </a:rPr>
              <a:t>và</a:t>
            </a:r>
            <a:r>
              <a:rPr lang="en-US" sz="2986" spc="-74">
                <a:solidFill>
                  <a:srgbClr val="383838"/>
                </a:solidFill>
                <a:latin typeface="Decalotype"/>
                <a:ea typeface="Decalotype"/>
                <a:cs typeface="Decalotype"/>
                <a:sym typeface="Decalotype"/>
              </a:rPr>
              <a:t> th</a:t>
            </a:r>
            <a:r>
              <a:rPr lang="en-US" sz="2986" spc="-74">
                <a:solidFill>
                  <a:srgbClr val="383838"/>
                </a:solidFill>
                <a:latin typeface="Decalotype"/>
                <a:ea typeface="Decalotype"/>
                <a:cs typeface="Decalotype"/>
                <a:sym typeface="Decalotype"/>
              </a:rPr>
              <a:t>a</a:t>
            </a:r>
            <a:r>
              <a:rPr lang="en-US" sz="2986" spc="-74">
                <a:solidFill>
                  <a:srgbClr val="383838"/>
                </a:solidFill>
                <a:latin typeface="Decalotype"/>
                <a:ea typeface="Decalotype"/>
                <a:cs typeface="Decalotype"/>
                <a:sym typeface="Decalotype"/>
              </a:rPr>
              <a:t>nh t</a:t>
            </a:r>
            <a:r>
              <a:rPr lang="en-US" sz="2986" spc="-74">
                <a:solidFill>
                  <a:srgbClr val="383838"/>
                </a:solidFill>
                <a:latin typeface="Decalotype"/>
                <a:ea typeface="Decalotype"/>
                <a:cs typeface="Decalotype"/>
                <a:sym typeface="Decalotype"/>
              </a:rPr>
              <a:t>oá</a:t>
            </a:r>
            <a:r>
              <a:rPr lang="en-US" sz="2986" spc="-74">
                <a:solidFill>
                  <a:srgbClr val="383838"/>
                </a:solidFill>
                <a:latin typeface="Decalotype"/>
                <a:ea typeface="Decalotype"/>
                <a:cs typeface="Decalotype"/>
                <a:sym typeface="Decalotype"/>
              </a:rPr>
              <a:t>n</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Theo</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dõ</a:t>
            </a:r>
            <a:r>
              <a:rPr lang="en-US" sz="2986" spc="-74">
                <a:solidFill>
                  <a:srgbClr val="383838"/>
                </a:solidFill>
                <a:latin typeface="Decalotype"/>
                <a:ea typeface="Decalotype"/>
                <a:cs typeface="Decalotype"/>
                <a:sym typeface="Decalotype"/>
              </a:rPr>
              <a:t>i tr</a:t>
            </a:r>
            <a:r>
              <a:rPr lang="en-US" sz="2986" spc="-74">
                <a:solidFill>
                  <a:srgbClr val="383838"/>
                </a:solidFill>
                <a:latin typeface="Decalotype"/>
                <a:ea typeface="Decalotype"/>
                <a:cs typeface="Decalotype"/>
                <a:sym typeface="Decalotype"/>
              </a:rPr>
              <a:t>ạng</a:t>
            </a:r>
            <a:r>
              <a:rPr lang="en-US" sz="2986" spc="-74">
                <a:solidFill>
                  <a:srgbClr val="383838"/>
                </a:solidFill>
                <a:latin typeface="Decalotype"/>
                <a:ea typeface="Decalotype"/>
                <a:cs typeface="Decalotype"/>
                <a:sym typeface="Decalotype"/>
              </a:rPr>
              <a:t> th</a:t>
            </a:r>
            <a:r>
              <a:rPr lang="en-US" sz="2986" spc="-74">
                <a:solidFill>
                  <a:srgbClr val="383838"/>
                </a:solidFill>
                <a:latin typeface="Decalotype"/>
                <a:ea typeface="Decalotype"/>
                <a:cs typeface="Decalotype"/>
                <a:sym typeface="Decalotype"/>
              </a:rPr>
              <a:t>ái</a:t>
            </a:r>
            <a:r>
              <a:rPr lang="en-US" sz="2986" spc="-74">
                <a:solidFill>
                  <a:srgbClr val="383838"/>
                </a:solidFill>
                <a:latin typeface="Decalotype"/>
                <a:ea typeface="Decalotype"/>
                <a:cs typeface="Decalotype"/>
                <a:sym typeface="Decalotype"/>
              </a:rPr>
              <a:t> đơn hàng</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Đá</a:t>
            </a:r>
            <a:r>
              <a:rPr lang="en-US" sz="2986" spc="-74">
                <a:solidFill>
                  <a:srgbClr val="383838"/>
                </a:solidFill>
                <a:latin typeface="Decalotype"/>
                <a:ea typeface="Decalotype"/>
                <a:cs typeface="Decalotype"/>
                <a:sym typeface="Decalotype"/>
              </a:rPr>
              <a:t>nh gi</a:t>
            </a:r>
            <a:r>
              <a:rPr lang="en-US" sz="2986" spc="-74">
                <a:solidFill>
                  <a:srgbClr val="383838"/>
                </a:solidFill>
                <a:latin typeface="Decalotype"/>
                <a:ea typeface="Decalotype"/>
                <a:cs typeface="Decalotype"/>
                <a:sym typeface="Decalotype"/>
              </a:rPr>
              <a:t>á</a:t>
            </a:r>
            <a:r>
              <a:rPr lang="en-US" sz="2986" spc="-74">
                <a:solidFill>
                  <a:srgbClr val="383838"/>
                </a:solidFill>
                <a:latin typeface="Decalotype"/>
                <a:ea typeface="Decalotype"/>
                <a:cs typeface="Decalotype"/>
                <a:sym typeface="Decalotype"/>
              </a:rPr>
              <a:t> v</a:t>
            </a:r>
            <a:r>
              <a:rPr lang="en-US" sz="2986" spc="-74">
                <a:solidFill>
                  <a:srgbClr val="383838"/>
                </a:solidFill>
                <a:latin typeface="Decalotype"/>
                <a:ea typeface="Decalotype"/>
                <a:cs typeface="Decalotype"/>
                <a:sym typeface="Decalotype"/>
              </a:rPr>
              <a:t>à</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n</a:t>
            </a:r>
            <a:r>
              <a:rPr lang="en-US" sz="2986" spc="-74">
                <a:solidFill>
                  <a:srgbClr val="383838"/>
                </a:solidFill>
                <a:latin typeface="Decalotype"/>
                <a:ea typeface="Decalotype"/>
                <a:cs typeface="Decalotype"/>
                <a:sym typeface="Decalotype"/>
              </a:rPr>
              <a:t>h</a:t>
            </a:r>
            <a:r>
              <a:rPr lang="en-US" sz="2986" spc="-74">
                <a:solidFill>
                  <a:srgbClr val="383838"/>
                </a:solidFill>
                <a:latin typeface="Decalotype"/>
                <a:ea typeface="Decalotype"/>
                <a:cs typeface="Decalotype"/>
                <a:sym typeface="Decalotype"/>
              </a:rPr>
              <a:t>ậ</a:t>
            </a:r>
            <a:r>
              <a:rPr lang="en-US" sz="2986" spc="-74">
                <a:solidFill>
                  <a:srgbClr val="383838"/>
                </a:solidFill>
                <a:latin typeface="Decalotype"/>
                <a:ea typeface="Decalotype"/>
                <a:cs typeface="Decalotype"/>
                <a:sym typeface="Decalotype"/>
              </a:rPr>
              <a:t>n x</a:t>
            </a:r>
            <a:r>
              <a:rPr lang="en-US" sz="2986" spc="-74">
                <a:solidFill>
                  <a:srgbClr val="383838"/>
                </a:solidFill>
                <a:latin typeface="Decalotype"/>
                <a:ea typeface="Decalotype"/>
                <a:cs typeface="Decalotype"/>
                <a:sym typeface="Decalotype"/>
              </a:rPr>
              <a:t>ét</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sản</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p</a:t>
            </a:r>
            <a:r>
              <a:rPr lang="en-US" sz="2986" spc="-74">
                <a:solidFill>
                  <a:srgbClr val="383838"/>
                </a:solidFill>
                <a:latin typeface="Decalotype"/>
                <a:ea typeface="Decalotype"/>
                <a:cs typeface="Decalotype"/>
                <a:sym typeface="Decalotype"/>
              </a:rPr>
              <a:t>h</a:t>
            </a:r>
            <a:r>
              <a:rPr lang="en-US" sz="2986" spc="-74">
                <a:solidFill>
                  <a:srgbClr val="383838"/>
                </a:solidFill>
                <a:latin typeface="Decalotype"/>
                <a:ea typeface="Decalotype"/>
                <a:cs typeface="Decalotype"/>
                <a:sym typeface="Decalotype"/>
              </a:rPr>
              <a:t>ẩm</a:t>
            </a:r>
            <a:r>
              <a:rPr lang="en-US" sz="2986" spc="-74">
                <a:solidFill>
                  <a:srgbClr val="383838"/>
                </a:solidFill>
                <a:latin typeface="Decalotype"/>
                <a:ea typeface="Decalotype"/>
                <a:cs typeface="Decalotype"/>
                <a:sym typeface="Decalotype"/>
              </a:rPr>
              <a:t>.</a:t>
            </a:r>
          </a:p>
          <a:p>
            <a:pPr algn="l">
              <a:lnSpc>
                <a:spcPts val="3822"/>
              </a:lnSpc>
            </a:pPr>
            <a:r>
              <a:rPr lang="en-US" sz="2986" spc="-74">
                <a:solidFill>
                  <a:srgbClr val="383838"/>
                </a:solidFill>
                <a:latin typeface="Decalotype"/>
                <a:ea typeface="Decalotype"/>
                <a:cs typeface="Decalotype"/>
                <a:sym typeface="Decalotype"/>
              </a:rPr>
              <a:t>Đố</a:t>
            </a:r>
            <a:r>
              <a:rPr lang="en-US" sz="2986" spc="-74">
                <a:solidFill>
                  <a:srgbClr val="383838"/>
                </a:solidFill>
                <a:latin typeface="Decalotype"/>
                <a:ea typeface="Decalotype"/>
                <a:cs typeface="Decalotype"/>
                <a:sym typeface="Decalotype"/>
              </a:rPr>
              <a:t>i </a:t>
            </a:r>
            <a:r>
              <a:rPr lang="en-US" sz="2986" spc="-74">
                <a:solidFill>
                  <a:srgbClr val="383838"/>
                </a:solidFill>
                <a:latin typeface="Decalotype"/>
                <a:ea typeface="Decalotype"/>
                <a:cs typeface="Decalotype"/>
                <a:sym typeface="Decalotype"/>
              </a:rPr>
              <a:t>với</a:t>
            </a:r>
            <a:r>
              <a:rPr lang="en-US" sz="2986" spc="-74">
                <a:solidFill>
                  <a:srgbClr val="383838"/>
                </a:solidFill>
                <a:latin typeface="Decalotype"/>
                <a:ea typeface="Decalotype"/>
                <a:cs typeface="Decalotype"/>
                <a:sym typeface="Decalotype"/>
              </a:rPr>
              <a:t> ngư</a:t>
            </a:r>
            <a:r>
              <a:rPr lang="en-US" sz="2986" spc="-74">
                <a:solidFill>
                  <a:srgbClr val="383838"/>
                </a:solidFill>
                <a:latin typeface="Decalotype"/>
                <a:ea typeface="Decalotype"/>
                <a:cs typeface="Decalotype"/>
                <a:sym typeface="Decalotype"/>
              </a:rPr>
              <a:t>ời</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b</a:t>
            </a:r>
            <a:r>
              <a:rPr lang="en-US" sz="2986" spc="-74">
                <a:solidFill>
                  <a:srgbClr val="383838"/>
                </a:solidFill>
                <a:latin typeface="Decalotype"/>
                <a:ea typeface="Decalotype"/>
                <a:cs typeface="Decalotype"/>
                <a:sym typeface="Decalotype"/>
              </a:rPr>
              <a:t>án </a:t>
            </a:r>
            <a:r>
              <a:rPr lang="en-US" sz="2986" spc="-74">
                <a:solidFill>
                  <a:srgbClr val="383838"/>
                </a:solidFill>
                <a:latin typeface="Decalotype"/>
                <a:ea typeface="Decalotype"/>
                <a:cs typeface="Decalotype"/>
                <a:sym typeface="Decalotype"/>
              </a:rPr>
              <a:t>(Seller):</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Đă</a:t>
            </a:r>
            <a:r>
              <a:rPr lang="en-US" sz="2986" spc="-74">
                <a:solidFill>
                  <a:srgbClr val="383838"/>
                </a:solidFill>
                <a:latin typeface="Decalotype"/>
                <a:ea typeface="Decalotype"/>
                <a:cs typeface="Decalotype"/>
                <a:sym typeface="Decalotype"/>
              </a:rPr>
              <a:t>ng </a:t>
            </a:r>
            <a:r>
              <a:rPr lang="en-US" sz="2986" spc="-74">
                <a:solidFill>
                  <a:srgbClr val="383838"/>
                </a:solidFill>
                <a:latin typeface="Decalotype"/>
                <a:ea typeface="Decalotype"/>
                <a:cs typeface="Decalotype"/>
                <a:sym typeface="Decalotype"/>
              </a:rPr>
              <a:t>ký</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tài</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k</a:t>
            </a:r>
            <a:r>
              <a:rPr lang="en-US" sz="2986" spc="-74">
                <a:solidFill>
                  <a:srgbClr val="383838"/>
                </a:solidFill>
                <a:latin typeface="Decalotype"/>
                <a:ea typeface="Decalotype"/>
                <a:cs typeface="Decalotype"/>
                <a:sym typeface="Decalotype"/>
              </a:rPr>
              <a:t>ho</a:t>
            </a:r>
            <a:r>
              <a:rPr lang="en-US" sz="2986" spc="-74">
                <a:solidFill>
                  <a:srgbClr val="383838"/>
                </a:solidFill>
                <a:latin typeface="Decalotype"/>
                <a:ea typeface="Decalotype"/>
                <a:cs typeface="Decalotype"/>
                <a:sym typeface="Decalotype"/>
              </a:rPr>
              <a:t>ản</a:t>
            </a:r>
            <a:r>
              <a:rPr lang="en-US" sz="2986" spc="-74">
                <a:solidFill>
                  <a:srgbClr val="383838"/>
                </a:solidFill>
                <a:latin typeface="Decalotype"/>
                <a:ea typeface="Decalotype"/>
                <a:cs typeface="Decalotype"/>
                <a:sym typeface="Decalotype"/>
              </a:rPr>
              <a:t> người bán</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Đăng</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sản</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p</a:t>
            </a:r>
            <a:r>
              <a:rPr lang="en-US" sz="2986" spc="-74">
                <a:solidFill>
                  <a:srgbClr val="383838"/>
                </a:solidFill>
                <a:latin typeface="Decalotype"/>
                <a:ea typeface="Decalotype"/>
                <a:cs typeface="Decalotype"/>
                <a:sym typeface="Decalotype"/>
              </a:rPr>
              <a:t>hẩ</a:t>
            </a:r>
            <a:r>
              <a:rPr lang="en-US" sz="2986" spc="-74">
                <a:solidFill>
                  <a:srgbClr val="383838"/>
                </a:solidFill>
                <a:latin typeface="Decalotype"/>
                <a:ea typeface="Decalotype"/>
                <a:cs typeface="Decalotype"/>
                <a:sym typeface="Decalotype"/>
              </a:rPr>
              <a:t>m</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lê</a:t>
            </a:r>
            <a:r>
              <a:rPr lang="en-US" sz="2986" spc="-74">
                <a:solidFill>
                  <a:srgbClr val="383838"/>
                </a:solidFill>
                <a:latin typeface="Decalotype"/>
                <a:ea typeface="Decalotype"/>
                <a:cs typeface="Decalotype"/>
                <a:sym typeface="Decalotype"/>
              </a:rPr>
              <a:t>n hệ thống</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Q</a:t>
            </a:r>
            <a:r>
              <a:rPr lang="en-US" sz="2986" spc="-74">
                <a:solidFill>
                  <a:srgbClr val="383838"/>
                </a:solidFill>
                <a:latin typeface="Decalotype"/>
                <a:ea typeface="Decalotype"/>
                <a:cs typeface="Decalotype"/>
                <a:sym typeface="Decalotype"/>
              </a:rPr>
              <a:t>uản lý </a:t>
            </a:r>
            <a:r>
              <a:rPr lang="en-US" sz="2986" spc="-74">
                <a:solidFill>
                  <a:srgbClr val="383838"/>
                </a:solidFill>
                <a:latin typeface="Decalotype"/>
                <a:ea typeface="Decalotype"/>
                <a:cs typeface="Decalotype"/>
                <a:sym typeface="Decalotype"/>
              </a:rPr>
              <a:t>thô</a:t>
            </a:r>
            <a:r>
              <a:rPr lang="en-US" sz="2986" spc="-74">
                <a:solidFill>
                  <a:srgbClr val="383838"/>
                </a:solidFill>
                <a:latin typeface="Decalotype"/>
                <a:ea typeface="Decalotype"/>
                <a:cs typeface="Decalotype"/>
                <a:sym typeface="Decalotype"/>
              </a:rPr>
              <a:t>ng</a:t>
            </a:r>
            <a:r>
              <a:rPr lang="en-US" sz="2986" spc="-74">
                <a:solidFill>
                  <a:srgbClr val="383838"/>
                </a:solidFill>
                <a:latin typeface="Decalotype"/>
                <a:ea typeface="Decalotype"/>
                <a:cs typeface="Decalotype"/>
                <a:sym typeface="Decalotype"/>
              </a:rPr>
              <a:t> t</a:t>
            </a:r>
            <a:r>
              <a:rPr lang="en-US" sz="2986" spc="-74">
                <a:solidFill>
                  <a:srgbClr val="383838"/>
                </a:solidFill>
                <a:latin typeface="Decalotype"/>
                <a:ea typeface="Decalotype"/>
                <a:cs typeface="Decalotype"/>
                <a:sym typeface="Decalotype"/>
              </a:rPr>
              <a:t>in sản phẩm</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N</a:t>
            </a:r>
            <a:r>
              <a:rPr lang="en-US" sz="2986" spc="-74">
                <a:solidFill>
                  <a:srgbClr val="383838"/>
                </a:solidFill>
                <a:latin typeface="Decalotype"/>
                <a:ea typeface="Decalotype"/>
                <a:cs typeface="Decalotype"/>
                <a:sym typeface="Decalotype"/>
              </a:rPr>
              <a:t>h</a:t>
            </a:r>
            <a:r>
              <a:rPr lang="en-US" sz="2986" spc="-74">
                <a:solidFill>
                  <a:srgbClr val="383838"/>
                </a:solidFill>
                <a:latin typeface="Decalotype"/>
                <a:ea typeface="Decalotype"/>
                <a:cs typeface="Decalotype"/>
                <a:sym typeface="Decalotype"/>
              </a:rPr>
              <a:t>ậ</a:t>
            </a:r>
            <a:r>
              <a:rPr lang="en-US" sz="2986" spc="-74">
                <a:solidFill>
                  <a:srgbClr val="383838"/>
                </a:solidFill>
                <a:latin typeface="Decalotype"/>
                <a:ea typeface="Decalotype"/>
                <a:cs typeface="Decalotype"/>
                <a:sym typeface="Decalotype"/>
              </a:rPr>
              <a:t>n và </a:t>
            </a:r>
            <a:r>
              <a:rPr lang="en-US" sz="2986" spc="-74">
                <a:solidFill>
                  <a:srgbClr val="383838"/>
                </a:solidFill>
                <a:latin typeface="Decalotype"/>
                <a:ea typeface="Decalotype"/>
                <a:cs typeface="Decalotype"/>
                <a:sym typeface="Decalotype"/>
              </a:rPr>
              <a:t>xử lý </a:t>
            </a:r>
            <a:r>
              <a:rPr lang="en-US" sz="2986" spc="-74">
                <a:solidFill>
                  <a:srgbClr val="383838"/>
                </a:solidFill>
                <a:latin typeface="Decalotype"/>
                <a:ea typeface="Decalotype"/>
                <a:cs typeface="Decalotype"/>
                <a:sym typeface="Decalotype"/>
              </a:rPr>
              <a:t>đ</a:t>
            </a:r>
            <a:r>
              <a:rPr lang="en-US" sz="2986" spc="-74">
                <a:solidFill>
                  <a:srgbClr val="383838"/>
                </a:solidFill>
                <a:latin typeface="Decalotype"/>
                <a:ea typeface="Decalotype"/>
                <a:cs typeface="Decalotype"/>
                <a:sym typeface="Decalotype"/>
              </a:rPr>
              <a:t>ơ</a:t>
            </a:r>
            <a:r>
              <a:rPr lang="en-US" sz="2986" spc="-74">
                <a:solidFill>
                  <a:srgbClr val="383838"/>
                </a:solidFill>
                <a:latin typeface="Decalotype"/>
                <a:ea typeface="Decalotype"/>
                <a:cs typeface="Decalotype"/>
                <a:sym typeface="Decalotype"/>
              </a:rPr>
              <a:t>n </a:t>
            </a:r>
            <a:r>
              <a:rPr lang="en-US" sz="2986" spc="-74">
                <a:solidFill>
                  <a:srgbClr val="383838"/>
                </a:solidFill>
                <a:latin typeface="Decalotype"/>
                <a:ea typeface="Decalotype"/>
                <a:cs typeface="Decalotype"/>
                <a:sym typeface="Decalotype"/>
              </a:rPr>
              <a:t>hà</a:t>
            </a:r>
            <a:r>
              <a:rPr lang="en-US" sz="2986" spc="-74">
                <a:solidFill>
                  <a:srgbClr val="383838"/>
                </a:solidFill>
                <a:latin typeface="Decalotype"/>
                <a:ea typeface="Decalotype"/>
                <a:cs typeface="Decalotype"/>
                <a:sym typeface="Decalotype"/>
              </a:rPr>
              <a:t>ng</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T</a:t>
            </a:r>
            <a:r>
              <a:rPr lang="en-US" sz="2986" spc="-74">
                <a:solidFill>
                  <a:srgbClr val="383838"/>
                </a:solidFill>
                <a:latin typeface="Decalotype"/>
                <a:ea typeface="Decalotype"/>
                <a:cs typeface="Decalotype"/>
                <a:sym typeface="Decalotype"/>
              </a:rPr>
              <a:t>h</a:t>
            </a:r>
            <a:r>
              <a:rPr lang="en-US" sz="2986" spc="-74">
                <a:solidFill>
                  <a:srgbClr val="383838"/>
                </a:solidFill>
                <a:latin typeface="Decalotype"/>
                <a:ea typeface="Decalotype"/>
                <a:cs typeface="Decalotype"/>
                <a:sym typeface="Decalotype"/>
              </a:rPr>
              <a:t>eo</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dõ</a:t>
            </a:r>
            <a:r>
              <a:rPr lang="en-US" sz="2986" spc="-74">
                <a:solidFill>
                  <a:srgbClr val="383838"/>
                </a:solidFill>
                <a:latin typeface="Decalotype"/>
                <a:ea typeface="Decalotype"/>
                <a:cs typeface="Decalotype"/>
                <a:sym typeface="Decalotype"/>
              </a:rPr>
              <a:t>i doa</a:t>
            </a:r>
            <a:r>
              <a:rPr lang="en-US" sz="2986" spc="-74">
                <a:solidFill>
                  <a:srgbClr val="383838"/>
                </a:solidFill>
                <a:latin typeface="Decalotype"/>
                <a:ea typeface="Decalotype"/>
                <a:cs typeface="Decalotype"/>
                <a:sym typeface="Decalotype"/>
              </a:rPr>
              <a:t>nh</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t</a:t>
            </a:r>
            <a:r>
              <a:rPr lang="en-US" sz="2986" spc="-74">
                <a:solidFill>
                  <a:srgbClr val="383838"/>
                </a:solidFill>
                <a:latin typeface="Decalotype"/>
                <a:ea typeface="Decalotype"/>
                <a:cs typeface="Decalotype"/>
                <a:sym typeface="Decalotype"/>
              </a:rPr>
              <a:t>h</a:t>
            </a:r>
            <a:r>
              <a:rPr lang="en-US" sz="2986" spc="-74">
                <a:solidFill>
                  <a:srgbClr val="383838"/>
                </a:solidFill>
                <a:latin typeface="Decalotype"/>
                <a:ea typeface="Decalotype"/>
                <a:cs typeface="Decalotype"/>
                <a:sym typeface="Decalotype"/>
              </a:rPr>
              <a:t>u và</a:t>
            </a:r>
            <a:r>
              <a:rPr lang="en-US" sz="2986" spc="-74">
                <a:solidFill>
                  <a:srgbClr val="383838"/>
                </a:solidFill>
                <a:latin typeface="Decalotype"/>
                <a:ea typeface="Decalotype"/>
                <a:cs typeface="Decalotype"/>
                <a:sym typeface="Decalotype"/>
              </a:rPr>
              <a:t> thống </a:t>
            </a:r>
            <a:r>
              <a:rPr lang="en-US" sz="2986" spc="-74">
                <a:solidFill>
                  <a:srgbClr val="383838"/>
                </a:solidFill>
                <a:latin typeface="Decalotype"/>
                <a:ea typeface="Decalotype"/>
                <a:cs typeface="Decalotype"/>
                <a:sym typeface="Decalotype"/>
              </a:rPr>
              <a:t>kê</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b</a:t>
            </a:r>
            <a:r>
              <a:rPr lang="en-US" sz="2986" spc="-74">
                <a:solidFill>
                  <a:srgbClr val="383838"/>
                </a:solidFill>
                <a:latin typeface="Decalotype"/>
                <a:ea typeface="Decalotype"/>
                <a:cs typeface="Decalotype"/>
                <a:sym typeface="Decalotype"/>
              </a:rPr>
              <a:t>án </a:t>
            </a:r>
            <a:r>
              <a:rPr lang="en-US" sz="2986" spc="-74">
                <a:solidFill>
                  <a:srgbClr val="383838"/>
                </a:solidFill>
                <a:latin typeface="Decalotype"/>
                <a:ea typeface="Decalotype"/>
                <a:cs typeface="Decalotype"/>
                <a:sym typeface="Decalotype"/>
              </a:rPr>
              <a:t>h</a:t>
            </a:r>
            <a:r>
              <a:rPr lang="en-US" sz="2986" spc="-74">
                <a:solidFill>
                  <a:srgbClr val="383838"/>
                </a:solidFill>
                <a:latin typeface="Decalotype"/>
                <a:ea typeface="Decalotype"/>
                <a:cs typeface="Decalotype"/>
                <a:sym typeface="Decalotype"/>
              </a:rPr>
              <a:t>àng</a:t>
            </a:r>
            <a:r>
              <a:rPr lang="en-US" sz="2986" spc="-74">
                <a:solidFill>
                  <a:srgbClr val="383838"/>
                </a:solidFill>
                <a:latin typeface="Decalotype"/>
                <a:ea typeface="Decalotype"/>
                <a:cs typeface="Decalotype"/>
                <a:sym typeface="Decalotype"/>
              </a:rPr>
              <a:t>.</a:t>
            </a:r>
          </a:p>
          <a:p>
            <a:pPr algn="l">
              <a:lnSpc>
                <a:spcPts val="3822"/>
              </a:lnSpc>
            </a:pPr>
            <a:r>
              <a:rPr lang="en-US" sz="2986" spc="-74">
                <a:solidFill>
                  <a:srgbClr val="383838"/>
                </a:solidFill>
                <a:latin typeface="Decalotype"/>
                <a:ea typeface="Decalotype"/>
                <a:cs typeface="Decalotype"/>
                <a:sym typeface="Decalotype"/>
              </a:rPr>
              <a:t>Đố</a:t>
            </a:r>
            <a:r>
              <a:rPr lang="en-US" sz="2986" spc="-74">
                <a:solidFill>
                  <a:srgbClr val="383838"/>
                </a:solidFill>
                <a:latin typeface="Decalotype"/>
                <a:ea typeface="Decalotype"/>
                <a:cs typeface="Decalotype"/>
                <a:sym typeface="Decalotype"/>
              </a:rPr>
              <a:t>i v</a:t>
            </a:r>
            <a:r>
              <a:rPr lang="en-US" sz="2986" spc="-74">
                <a:solidFill>
                  <a:srgbClr val="383838"/>
                </a:solidFill>
                <a:latin typeface="Decalotype"/>
                <a:ea typeface="Decalotype"/>
                <a:cs typeface="Decalotype"/>
                <a:sym typeface="Decalotype"/>
              </a:rPr>
              <a:t>ới</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q</a:t>
            </a:r>
            <a:r>
              <a:rPr lang="en-US" sz="2986" spc="-74">
                <a:solidFill>
                  <a:srgbClr val="383838"/>
                </a:solidFill>
                <a:latin typeface="Decalotype"/>
                <a:ea typeface="Decalotype"/>
                <a:cs typeface="Decalotype"/>
                <a:sym typeface="Decalotype"/>
              </a:rPr>
              <a:t>u</a:t>
            </a:r>
            <a:r>
              <a:rPr lang="en-US" sz="2986" spc="-74">
                <a:solidFill>
                  <a:srgbClr val="383838"/>
                </a:solidFill>
                <a:latin typeface="Decalotype"/>
                <a:ea typeface="Decalotype"/>
                <a:cs typeface="Decalotype"/>
                <a:sym typeface="Decalotype"/>
              </a:rPr>
              <a:t>ản</a:t>
            </a:r>
            <a:r>
              <a:rPr lang="en-US" sz="2986" spc="-74">
                <a:solidFill>
                  <a:srgbClr val="383838"/>
                </a:solidFill>
                <a:latin typeface="Decalotype"/>
                <a:ea typeface="Decalotype"/>
                <a:cs typeface="Decalotype"/>
                <a:sym typeface="Decalotype"/>
              </a:rPr>
              <a:t> trị </a:t>
            </a:r>
            <a:r>
              <a:rPr lang="en-US" sz="2986" spc="-74">
                <a:solidFill>
                  <a:srgbClr val="383838"/>
                </a:solidFill>
                <a:latin typeface="Decalotype"/>
                <a:ea typeface="Decalotype"/>
                <a:cs typeface="Decalotype"/>
                <a:sym typeface="Decalotype"/>
              </a:rPr>
              <a:t>v</a:t>
            </a:r>
            <a:r>
              <a:rPr lang="en-US" sz="2986" spc="-74">
                <a:solidFill>
                  <a:srgbClr val="383838"/>
                </a:solidFill>
                <a:latin typeface="Decalotype"/>
                <a:ea typeface="Decalotype"/>
                <a:cs typeface="Decalotype"/>
                <a:sym typeface="Decalotype"/>
              </a:rPr>
              <a:t>i</a:t>
            </a:r>
            <a:r>
              <a:rPr lang="en-US" sz="2986" spc="-74">
                <a:solidFill>
                  <a:srgbClr val="383838"/>
                </a:solidFill>
                <a:latin typeface="Decalotype"/>
                <a:ea typeface="Decalotype"/>
                <a:cs typeface="Decalotype"/>
                <a:sym typeface="Decalotype"/>
              </a:rPr>
              <a:t>ên</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(A</a:t>
            </a:r>
            <a:r>
              <a:rPr lang="en-US" sz="2986" spc="-74">
                <a:solidFill>
                  <a:srgbClr val="383838"/>
                </a:solidFill>
                <a:latin typeface="Decalotype"/>
                <a:ea typeface="Decalotype"/>
                <a:cs typeface="Decalotype"/>
                <a:sym typeface="Decalotype"/>
              </a:rPr>
              <a:t>d</a:t>
            </a:r>
            <a:r>
              <a:rPr lang="en-US" sz="2986" spc="-74">
                <a:solidFill>
                  <a:srgbClr val="383838"/>
                </a:solidFill>
                <a:latin typeface="Decalotype"/>
                <a:ea typeface="Decalotype"/>
                <a:cs typeface="Decalotype"/>
                <a:sym typeface="Decalotype"/>
              </a:rPr>
              <a:t>m</a:t>
            </a:r>
            <a:r>
              <a:rPr lang="en-US" sz="2986" spc="-74">
                <a:solidFill>
                  <a:srgbClr val="383838"/>
                </a:solidFill>
                <a:latin typeface="Decalotype"/>
                <a:ea typeface="Decalotype"/>
                <a:cs typeface="Decalotype"/>
                <a:sym typeface="Decalotype"/>
              </a:rPr>
              <a:t>in</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Quả</a:t>
            </a:r>
            <a:r>
              <a:rPr lang="en-US" sz="2986" spc="-74">
                <a:solidFill>
                  <a:srgbClr val="383838"/>
                </a:solidFill>
                <a:latin typeface="Decalotype"/>
                <a:ea typeface="Decalotype"/>
                <a:cs typeface="Decalotype"/>
                <a:sym typeface="Decalotype"/>
              </a:rPr>
              <a:t>n </a:t>
            </a:r>
            <a:r>
              <a:rPr lang="en-US" sz="2986" spc="-74">
                <a:solidFill>
                  <a:srgbClr val="383838"/>
                </a:solidFill>
                <a:latin typeface="Decalotype"/>
                <a:ea typeface="Decalotype"/>
                <a:cs typeface="Decalotype"/>
                <a:sym typeface="Decalotype"/>
              </a:rPr>
              <a:t>lý</a:t>
            </a:r>
            <a:r>
              <a:rPr lang="en-US" sz="2986" spc="-74">
                <a:solidFill>
                  <a:srgbClr val="383838"/>
                </a:solidFill>
                <a:latin typeface="Decalotype"/>
                <a:ea typeface="Decalotype"/>
                <a:cs typeface="Decalotype"/>
                <a:sym typeface="Decalotype"/>
              </a:rPr>
              <a:t> người </a:t>
            </a:r>
            <a:r>
              <a:rPr lang="en-US" sz="2986" spc="-74">
                <a:solidFill>
                  <a:srgbClr val="383838"/>
                </a:solidFill>
                <a:latin typeface="Decalotype"/>
                <a:ea typeface="Decalotype"/>
                <a:cs typeface="Decalotype"/>
                <a:sym typeface="Decalotype"/>
              </a:rPr>
              <a:t>dùng</a:t>
            </a:r>
            <a:r>
              <a:rPr lang="en-US" sz="2986" spc="-74">
                <a:solidFill>
                  <a:srgbClr val="383838"/>
                </a:solidFill>
                <a:latin typeface="Decalotype"/>
                <a:ea typeface="Decalotype"/>
                <a:cs typeface="Decalotype"/>
                <a:sym typeface="Decalotype"/>
              </a:rPr>
              <a:t> t</a:t>
            </a:r>
            <a:r>
              <a:rPr lang="en-US" sz="2986" spc="-74">
                <a:solidFill>
                  <a:srgbClr val="383838"/>
                </a:solidFill>
                <a:latin typeface="Decalotype"/>
                <a:ea typeface="Decalotype"/>
                <a:cs typeface="Decalotype"/>
                <a:sym typeface="Decalotype"/>
              </a:rPr>
              <a:t>ro</a:t>
            </a:r>
            <a:r>
              <a:rPr lang="en-US" sz="2986" spc="-74">
                <a:solidFill>
                  <a:srgbClr val="383838"/>
                </a:solidFill>
                <a:latin typeface="Decalotype"/>
                <a:ea typeface="Decalotype"/>
                <a:cs typeface="Decalotype"/>
                <a:sym typeface="Decalotype"/>
              </a:rPr>
              <a:t>n</a:t>
            </a:r>
            <a:r>
              <a:rPr lang="en-US" sz="2986" spc="-74">
                <a:solidFill>
                  <a:srgbClr val="383838"/>
                </a:solidFill>
                <a:latin typeface="Decalotype"/>
                <a:ea typeface="Decalotype"/>
                <a:cs typeface="Decalotype"/>
                <a:sym typeface="Decalotype"/>
              </a:rPr>
              <a:t>g </a:t>
            </a:r>
            <a:r>
              <a:rPr lang="en-US" sz="2986" spc="-74">
                <a:solidFill>
                  <a:srgbClr val="383838"/>
                </a:solidFill>
                <a:latin typeface="Decalotype"/>
                <a:ea typeface="Decalotype"/>
                <a:cs typeface="Decalotype"/>
                <a:sym typeface="Decalotype"/>
              </a:rPr>
              <a:t>h</a:t>
            </a:r>
            <a:r>
              <a:rPr lang="en-US" sz="2986" spc="-74">
                <a:solidFill>
                  <a:srgbClr val="383838"/>
                </a:solidFill>
                <a:latin typeface="Decalotype"/>
                <a:ea typeface="Decalotype"/>
                <a:cs typeface="Decalotype"/>
                <a:sym typeface="Decalotype"/>
              </a:rPr>
              <a:t>ệ</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thốn</a:t>
            </a:r>
            <a:r>
              <a:rPr lang="en-US" sz="2986" spc="-74">
                <a:solidFill>
                  <a:srgbClr val="383838"/>
                </a:solidFill>
                <a:latin typeface="Decalotype"/>
                <a:ea typeface="Decalotype"/>
                <a:cs typeface="Decalotype"/>
                <a:sym typeface="Decalotype"/>
              </a:rPr>
              <a:t>g</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K</a:t>
            </a:r>
            <a:r>
              <a:rPr lang="en-US" sz="2986" spc="-74">
                <a:solidFill>
                  <a:srgbClr val="383838"/>
                </a:solidFill>
                <a:latin typeface="Decalotype"/>
                <a:ea typeface="Decalotype"/>
                <a:cs typeface="Decalotype"/>
                <a:sym typeface="Decalotype"/>
              </a:rPr>
              <a:t>i</a:t>
            </a:r>
            <a:r>
              <a:rPr lang="en-US" sz="2986" spc="-74">
                <a:solidFill>
                  <a:srgbClr val="383838"/>
                </a:solidFill>
                <a:latin typeface="Decalotype"/>
                <a:ea typeface="Decalotype"/>
                <a:cs typeface="Decalotype"/>
                <a:sym typeface="Decalotype"/>
              </a:rPr>
              <a:t>ểm duyệt</a:t>
            </a:r>
            <a:r>
              <a:rPr lang="en-US" sz="2986" spc="-74">
                <a:solidFill>
                  <a:srgbClr val="383838"/>
                </a:solidFill>
                <a:latin typeface="Decalotype"/>
                <a:ea typeface="Decalotype"/>
                <a:cs typeface="Decalotype"/>
                <a:sym typeface="Decalotype"/>
              </a:rPr>
              <a:t> sản phẩm</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Quản lý</a:t>
            </a:r>
            <a:r>
              <a:rPr lang="en-US" sz="2986" spc="-74">
                <a:solidFill>
                  <a:srgbClr val="383838"/>
                </a:solidFill>
                <a:latin typeface="Decalotype"/>
                <a:ea typeface="Decalotype"/>
                <a:cs typeface="Decalotype"/>
                <a:sym typeface="Decalotype"/>
              </a:rPr>
              <a:t> đ</a:t>
            </a:r>
            <a:r>
              <a:rPr lang="en-US" sz="2986" spc="-74">
                <a:solidFill>
                  <a:srgbClr val="383838"/>
                </a:solidFill>
                <a:latin typeface="Decalotype"/>
                <a:ea typeface="Decalotype"/>
                <a:cs typeface="Decalotype"/>
                <a:sym typeface="Decalotype"/>
              </a:rPr>
              <a:t>ơn</a:t>
            </a:r>
            <a:r>
              <a:rPr lang="en-US" sz="2986" spc="-74">
                <a:solidFill>
                  <a:srgbClr val="383838"/>
                </a:solidFill>
                <a:latin typeface="Decalotype"/>
                <a:ea typeface="Decalotype"/>
                <a:cs typeface="Decalotype"/>
                <a:sym typeface="Decalotype"/>
              </a:rPr>
              <a:t> h</a:t>
            </a:r>
            <a:r>
              <a:rPr lang="en-US" sz="2986" spc="-74">
                <a:solidFill>
                  <a:srgbClr val="383838"/>
                </a:solidFill>
                <a:latin typeface="Decalotype"/>
                <a:ea typeface="Decalotype"/>
                <a:cs typeface="Decalotype"/>
                <a:sym typeface="Decalotype"/>
              </a:rPr>
              <a:t>àng</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và</a:t>
            </a:r>
            <a:r>
              <a:rPr lang="en-US" sz="2986" spc="-74">
                <a:solidFill>
                  <a:srgbClr val="383838"/>
                </a:solidFill>
                <a:latin typeface="Decalotype"/>
                <a:ea typeface="Decalotype"/>
                <a:cs typeface="Decalotype"/>
                <a:sym typeface="Decalotype"/>
              </a:rPr>
              <a:t> g</a:t>
            </a:r>
            <a:r>
              <a:rPr lang="en-US" sz="2986" spc="-74">
                <a:solidFill>
                  <a:srgbClr val="383838"/>
                </a:solidFill>
                <a:latin typeface="Decalotype"/>
                <a:ea typeface="Decalotype"/>
                <a:cs typeface="Decalotype"/>
                <a:sym typeface="Decalotype"/>
              </a:rPr>
              <a:t>iao</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dịc</a:t>
            </a:r>
            <a:r>
              <a:rPr lang="en-US" sz="2986" spc="-74">
                <a:solidFill>
                  <a:srgbClr val="383838"/>
                </a:solidFill>
                <a:latin typeface="Decalotype"/>
                <a:ea typeface="Decalotype"/>
                <a:cs typeface="Decalotype"/>
                <a:sym typeface="Decalotype"/>
              </a:rPr>
              <a:t>h</a:t>
            </a:r>
            <a:r>
              <a:rPr lang="en-US" sz="2986" spc="-74">
                <a:solidFill>
                  <a:srgbClr val="383838"/>
                </a:solidFill>
                <a:latin typeface="Decalotype"/>
                <a:ea typeface="Decalotype"/>
                <a:cs typeface="Decalotype"/>
                <a:sym typeface="Decalotype"/>
              </a:rPr>
              <a:t>.</a:t>
            </a:r>
          </a:p>
          <a:p>
            <a:pPr algn="l" marL="644693" indent="-322346" lvl="1">
              <a:lnSpc>
                <a:spcPts val="3822"/>
              </a:lnSpc>
              <a:buFont typeface="Arial"/>
              <a:buChar char="•"/>
            </a:pPr>
            <a:r>
              <a:rPr lang="en-US" sz="2986" spc="-74">
                <a:solidFill>
                  <a:srgbClr val="383838"/>
                </a:solidFill>
                <a:latin typeface="Decalotype"/>
                <a:ea typeface="Decalotype"/>
                <a:cs typeface="Decalotype"/>
                <a:sym typeface="Decalotype"/>
              </a:rPr>
              <a:t>Xem b</a:t>
            </a:r>
            <a:r>
              <a:rPr lang="en-US" sz="2986" spc="-74">
                <a:solidFill>
                  <a:srgbClr val="383838"/>
                </a:solidFill>
                <a:latin typeface="Decalotype"/>
                <a:ea typeface="Decalotype"/>
                <a:cs typeface="Decalotype"/>
                <a:sym typeface="Decalotype"/>
              </a:rPr>
              <a:t>á</a:t>
            </a:r>
            <a:r>
              <a:rPr lang="en-US" sz="2986" spc="-74">
                <a:solidFill>
                  <a:srgbClr val="383838"/>
                </a:solidFill>
                <a:latin typeface="Decalotype"/>
                <a:ea typeface="Decalotype"/>
                <a:cs typeface="Decalotype"/>
                <a:sym typeface="Decalotype"/>
              </a:rPr>
              <a:t>o </a:t>
            </a:r>
            <a:r>
              <a:rPr lang="en-US" sz="2986" spc="-74">
                <a:solidFill>
                  <a:srgbClr val="383838"/>
                </a:solidFill>
                <a:latin typeface="Decalotype"/>
                <a:ea typeface="Decalotype"/>
                <a:cs typeface="Decalotype"/>
                <a:sym typeface="Decalotype"/>
              </a:rPr>
              <a:t>c</a:t>
            </a:r>
            <a:r>
              <a:rPr lang="en-US" sz="2986" spc="-74">
                <a:solidFill>
                  <a:srgbClr val="383838"/>
                </a:solidFill>
                <a:latin typeface="Decalotype"/>
                <a:ea typeface="Decalotype"/>
                <a:cs typeface="Decalotype"/>
                <a:sym typeface="Decalotype"/>
              </a:rPr>
              <a:t>áo,</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t</a:t>
            </a:r>
            <a:r>
              <a:rPr lang="en-US" sz="2986" spc="-74">
                <a:solidFill>
                  <a:srgbClr val="383838"/>
                </a:solidFill>
                <a:latin typeface="Decalotype"/>
                <a:ea typeface="Decalotype"/>
                <a:cs typeface="Decalotype"/>
                <a:sym typeface="Decalotype"/>
              </a:rPr>
              <a:t>h</a:t>
            </a:r>
            <a:r>
              <a:rPr lang="en-US" sz="2986" spc="-74">
                <a:solidFill>
                  <a:srgbClr val="383838"/>
                </a:solidFill>
                <a:latin typeface="Decalotype"/>
                <a:ea typeface="Decalotype"/>
                <a:cs typeface="Decalotype"/>
                <a:sym typeface="Decalotype"/>
              </a:rPr>
              <a:t>ố</a:t>
            </a:r>
            <a:r>
              <a:rPr lang="en-US" sz="2986" spc="-74">
                <a:solidFill>
                  <a:srgbClr val="383838"/>
                </a:solidFill>
                <a:latin typeface="Decalotype"/>
                <a:ea typeface="Decalotype"/>
                <a:cs typeface="Decalotype"/>
                <a:sym typeface="Decalotype"/>
              </a:rPr>
              <a:t>ng k</a:t>
            </a:r>
            <a:r>
              <a:rPr lang="en-US" sz="2986" spc="-74">
                <a:solidFill>
                  <a:srgbClr val="383838"/>
                </a:solidFill>
                <a:latin typeface="Decalotype"/>
                <a:ea typeface="Decalotype"/>
                <a:cs typeface="Decalotype"/>
                <a:sym typeface="Decalotype"/>
              </a:rPr>
              <a:t>ê</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để</a:t>
            </a:r>
            <a:r>
              <a:rPr lang="en-US" sz="2986" spc="-74">
                <a:solidFill>
                  <a:srgbClr val="383838"/>
                </a:solidFill>
                <a:latin typeface="Decalotype"/>
                <a:ea typeface="Decalotype"/>
                <a:cs typeface="Decalotype"/>
                <a:sym typeface="Decalotype"/>
              </a:rPr>
              <a:t> </a:t>
            </a:r>
            <a:r>
              <a:rPr lang="en-US" sz="2986" spc="-74">
                <a:solidFill>
                  <a:srgbClr val="383838"/>
                </a:solidFill>
                <a:latin typeface="Decalotype"/>
                <a:ea typeface="Decalotype"/>
                <a:cs typeface="Decalotype"/>
                <a:sym typeface="Decalotype"/>
              </a:rPr>
              <a:t>hỗ</a:t>
            </a:r>
            <a:r>
              <a:rPr lang="en-US" sz="2986" spc="-74">
                <a:solidFill>
                  <a:srgbClr val="383838"/>
                </a:solidFill>
                <a:latin typeface="Decalotype"/>
                <a:ea typeface="Decalotype"/>
                <a:cs typeface="Decalotype"/>
                <a:sym typeface="Decalotype"/>
              </a:rPr>
              <a:t> t</a:t>
            </a:r>
            <a:r>
              <a:rPr lang="en-US" sz="2986" spc="-74">
                <a:solidFill>
                  <a:srgbClr val="383838"/>
                </a:solidFill>
                <a:latin typeface="Decalotype"/>
                <a:ea typeface="Decalotype"/>
                <a:cs typeface="Decalotype"/>
                <a:sym typeface="Decalotype"/>
              </a:rPr>
              <a:t>r</a:t>
            </a:r>
            <a:r>
              <a:rPr lang="en-US" sz="2986" spc="-74">
                <a:solidFill>
                  <a:srgbClr val="383838"/>
                </a:solidFill>
                <a:latin typeface="Decalotype"/>
                <a:ea typeface="Decalotype"/>
                <a:cs typeface="Decalotype"/>
                <a:sym typeface="Decalotype"/>
              </a:rPr>
              <a:t>ợ</a:t>
            </a:r>
            <a:r>
              <a:rPr lang="en-US" sz="2986" spc="-74">
                <a:solidFill>
                  <a:srgbClr val="383838"/>
                </a:solidFill>
                <a:latin typeface="Decalotype"/>
                <a:ea typeface="Decalotype"/>
                <a:cs typeface="Decalotype"/>
                <a:sym typeface="Decalotype"/>
              </a:rPr>
              <a:t> quả</a:t>
            </a:r>
            <a:r>
              <a:rPr lang="en-US" sz="2986" spc="-74">
                <a:solidFill>
                  <a:srgbClr val="383838"/>
                </a:solidFill>
                <a:latin typeface="Decalotype"/>
                <a:ea typeface="Decalotype"/>
                <a:cs typeface="Decalotype"/>
                <a:sym typeface="Decalotype"/>
              </a:rPr>
              <a:t>n </a:t>
            </a:r>
            <a:r>
              <a:rPr lang="en-US" sz="2986" spc="-74">
                <a:solidFill>
                  <a:srgbClr val="383838"/>
                </a:solidFill>
                <a:latin typeface="Decalotype"/>
                <a:ea typeface="Decalotype"/>
                <a:cs typeface="Decalotype"/>
                <a:sym typeface="Decalotype"/>
              </a:rPr>
              <a:t>lý</a:t>
            </a:r>
            <a:r>
              <a:rPr lang="en-US" sz="2986" spc="-74">
                <a:solidFill>
                  <a:srgbClr val="383838"/>
                </a:solidFill>
                <a:latin typeface="Decalotype"/>
                <a:ea typeface="Decalotype"/>
                <a:cs typeface="Decalotype"/>
                <a:sym typeface="Decalotype"/>
              </a:rPr>
              <a:t>.</a:t>
            </a:r>
          </a:p>
        </p:txBody>
      </p:sp>
      <p:sp>
        <p:nvSpPr>
          <p:cNvPr name="Freeform 4" id="4"/>
          <p:cNvSpPr/>
          <p:nvPr/>
        </p:nvSpPr>
        <p:spPr>
          <a:xfrm flipH="false" flipV="false" rot="0">
            <a:off x="8325538" y="2477529"/>
            <a:ext cx="9694679" cy="6459080"/>
          </a:xfrm>
          <a:custGeom>
            <a:avLst/>
            <a:gdLst/>
            <a:ahLst/>
            <a:cxnLst/>
            <a:rect r="r" b="b" t="t" l="l"/>
            <a:pathLst>
              <a:path h="6459080" w="9694679">
                <a:moveTo>
                  <a:pt x="0" y="0"/>
                </a:moveTo>
                <a:lnTo>
                  <a:pt x="9694679" y="0"/>
                </a:lnTo>
                <a:lnTo>
                  <a:pt x="9694679" y="6459080"/>
                </a:lnTo>
                <a:lnTo>
                  <a:pt x="0" y="6459080"/>
                </a:lnTo>
                <a:lnTo>
                  <a:pt x="0" y="0"/>
                </a:lnTo>
                <a:close/>
              </a:path>
            </a:pathLst>
          </a:custGeom>
          <a:blipFill>
            <a:blip r:embed="rId4"/>
            <a:stretch>
              <a:fillRect l="0" t="0" r="0" b="0"/>
            </a:stretch>
          </a:blipFill>
        </p:spPr>
      </p:sp>
      <p:sp>
        <p:nvSpPr>
          <p:cNvPr name="TextBox 5" id="5"/>
          <p:cNvSpPr txBox="true"/>
          <p:nvPr/>
        </p:nvSpPr>
        <p:spPr>
          <a:xfrm rot="0">
            <a:off x="279193" y="468728"/>
            <a:ext cx="10846244"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User story</a:t>
            </a:r>
          </a:p>
        </p:txBody>
      </p:sp>
      <p:sp>
        <p:nvSpPr>
          <p:cNvPr name="TextBox 6" id="6"/>
          <p:cNvSpPr txBox="true"/>
          <p:nvPr/>
        </p:nvSpPr>
        <p:spPr>
          <a:xfrm rot="0">
            <a:off x="10876828" y="9229725"/>
            <a:ext cx="4133156" cy="465761"/>
          </a:xfrm>
          <a:prstGeom prst="rect">
            <a:avLst/>
          </a:prstGeom>
        </p:spPr>
        <p:txBody>
          <a:bodyPr anchor="t" rtlCol="false" tIns="0" lIns="0" bIns="0" rIns="0">
            <a:spAutoFit/>
          </a:bodyPr>
          <a:lstStyle/>
          <a:p>
            <a:pPr algn="ctr">
              <a:lnSpc>
                <a:spcPts val="3721"/>
              </a:lnSpc>
              <a:spcBef>
                <a:spcPct val="0"/>
              </a:spcBef>
            </a:pPr>
            <a:r>
              <a:rPr lang="en-US" sz="2907" i="true" spc="-72">
                <a:solidFill>
                  <a:srgbClr val="383838"/>
                </a:solidFill>
                <a:latin typeface="Decalotype Italics"/>
                <a:ea typeface="Decalotype Italics"/>
                <a:cs typeface="Decalotype Italics"/>
                <a:sym typeface="Decalotype Italics"/>
              </a:rPr>
              <a:t>Hình 5 : User story của hệ thống </a:t>
            </a:r>
          </a:p>
        </p:txBody>
      </p:sp>
    </p:spTree>
  </p:cSld>
  <p:clrMapOvr>
    <a:masterClrMapping/>
  </p:clrMapOvr>
  <p:transition spd="fast">
    <p:push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3802057" y="3063240"/>
            <a:ext cx="11460150" cy="6315943"/>
          </a:xfrm>
          <a:custGeom>
            <a:avLst/>
            <a:gdLst/>
            <a:ahLst/>
            <a:cxnLst/>
            <a:rect r="r" b="b" t="t" l="l"/>
            <a:pathLst>
              <a:path h="6315943" w="11460150">
                <a:moveTo>
                  <a:pt x="0" y="0"/>
                </a:moveTo>
                <a:lnTo>
                  <a:pt x="11460150" y="0"/>
                </a:lnTo>
                <a:lnTo>
                  <a:pt x="11460150" y="6315944"/>
                </a:lnTo>
                <a:lnTo>
                  <a:pt x="0" y="6315944"/>
                </a:lnTo>
                <a:lnTo>
                  <a:pt x="0" y="0"/>
                </a:lnTo>
                <a:close/>
              </a:path>
            </a:pathLst>
          </a:custGeom>
          <a:blipFill>
            <a:blip r:embed="rId2"/>
            <a:stretch>
              <a:fillRect l="0" t="-13076" r="0" b="-781"/>
            </a:stretch>
          </a:blipFill>
        </p:spPr>
      </p:sp>
      <p:sp>
        <p:nvSpPr>
          <p:cNvPr name="TextBox 3" id="3"/>
          <p:cNvSpPr txBox="true"/>
          <p:nvPr/>
        </p:nvSpPr>
        <p:spPr>
          <a:xfrm rot="0">
            <a:off x="4213413" y="-47625"/>
            <a:ext cx="9144000" cy="806450"/>
          </a:xfrm>
          <a:prstGeom prst="rect">
            <a:avLst/>
          </a:prstGeom>
        </p:spPr>
        <p:txBody>
          <a:bodyPr anchor="t" rtlCol="false" tIns="0" lIns="0" bIns="0" rIns="0">
            <a:spAutoFit/>
          </a:bodyPr>
          <a:lstStyle/>
          <a:p>
            <a:pPr algn="ctr">
              <a:lnSpc>
                <a:spcPts val="6400"/>
              </a:lnSpc>
              <a:spcBef>
                <a:spcPct val="0"/>
              </a:spcBef>
            </a:pPr>
            <a:r>
              <a:rPr lang="en-US" b="true" sz="5000" spc="-125">
                <a:solidFill>
                  <a:srgbClr val="000000"/>
                </a:solidFill>
                <a:latin typeface="Noto Sans Bold"/>
                <a:ea typeface="Noto Sans Bold"/>
                <a:cs typeface="Noto Sans Bold"/>
                <a:sym typeface="Noto Sans Bold"/>
              </a:rPr>
              <a:t>SƠ</a:t>
            </a:r>
            <a:r>
              <a:rPr lang="en-US" b="true" sz="5000" spc="-125">
                <a:solidFill>
                  <a:srgbClr val="000000"/>
                </a:solidFill>
                <a:latin typeface="Noto Sans Bold"/>
                <a:ea typeface="Noto Sans Bold"/>
                <a:cs typeface="Noto Sans Bold"/>
                <a:sym typeface="Noto Sans Bold"/>
              </a:rPr>
              <a:t> ĐỒ KIẾN TRÚC HỆ THỐNG</a:t>
            </a:r>
          </a:p>
        </p:txBody>
      </p:sp>
      <p:sp>
        <p:nvSpPr>
          <p:cNvPr name="TextBox 4" id="4"/>
          <p:cNvSpPr txBox="true"/>
          <p:nvPr/>
        </p:nvSpPr>
        <p:spPr>
          <a:xfrm rot="0">
            <a:off x="6971842" y="9626834"/>
            <a:ext cx="5120580" cy="474344"/>
          </a:xfrm>
          <a:prstGeom prst="rect">
            <a:avLst/>
          </a:prstGeom>
        </p:spPr>
        <p:txBody>
          <a:bodyPr anchor="t" rtlCol="false" tIns="0" lIns="0" bIns="0" rIns="0">
            <a:spAutoFit/>
          </a:bodyPr>
          <a:lstStyle/>
          <a:p>
            <a:pPr algn="ctr">
              <a:lnSpc>
                <a:spcPts val="3840"/>
              </a:lnSpc>
              <a:spcBef>
                <a:spcPct val="0"/>
              </a:spcBef>
            </a:pPr>
            <a:r>
              <a:rPr lang="en-US" sz="3000" i="true" spc="-75">
                <a:solidFill>
                  <a:srgbClr val="000000"/>
                </a:solidFill>
                <a:latin typeface="Noto Sans Italics"/>
                <a:ea typeface="Noto Sans Italics"/>
                <a:cs typeface="Noto Sans Italics"/>
                <a:sym typeface="Noto Sans Italics"/>
              </a:rPr>
              <a:t>Hình 6: Sơ đồ kiến trúc hệ thống</a:t>
            </a:r>
          </a:p>
        </p:txBody>
      </p:sp>
      <p:sp>
        <p:nvSpPr>
          <p:cNvPr name="TextBox 5" id="5"/>
          <p:cNvSpPr txBox="true"/>
          <p:nvPr/>
        </p:nvSpPr>
        <p:spPr>
          <a:xfrm rot="0">
            <a:off x="1601977" y="1593533"/>
            <a:ext cx="12569152" cy="1312545"/>
          </a:xfrm>
          <a:prstGeom prst="rect">
            <a:avLst/>
          </a:prstGeom>
        </p:spPr>
        <p:txBody>
          <a:bodyPr anchor="t" rtlCol="false" tIns="0" lIns="0" bIns="0" rIns="0">
            <a:spAutoFit/>
          </a:bodyPr>
          <a:lstStyle/>
          <a:p>
            <a:pPr algn="just" marL="531111" indent="-265555" lvl="1">
              <a:lnSpc>
                <a:spcPts val="3566"/>
              </a:lnSpc>
              <a:buFont typeface="Arial"/>
              <a:buChar char="•"/>
            </a:pPr>
            <a:r>
              <a:rPr lang="en-US" sz="2459">
                <a:solidFill>
                  <a:srgbClr val="383838"/>
                </a:solidFill>
                <a:latin typeface="Noto Sans"/>
                <a:ea typeface="Noto Sans"/>
                <a:cs typeface="Noto Sans"/>
                <a:sym typeface="Noto Sans"/>
              </a:rPr>
              <a:t>Phù hợp với hệ thống thương mại điện tử có nhiều chức năng.</a:t>
            </a:r>
          </a:p>
          <a:p>
            <a:pPr algn="just" marL="531111" indent="-265555" lvl="1">
              <a:lnSpc>
                <a:spcPts val="3566"/>
              </a:lnSpc>
              <a:buFont typeface="Arial"/>
              <a:buChar char="•"/>
            </a:pPr>
            <a:r>
              <a:rPr lang="en-US" sz="2459">
                <a:solidFill>
                  <a:srgbClr val="383838"/>
                </a:solidFill>
                <a:latin typeface="Noto Sans"/>
                <a:ea typeface="Noto Sans"/>
                <a:cs typeface="Noto Sans"/>
                <a:sym typeface="Noto Sans"/>
              </a:rPr>
              <a:t>Dễ mở rộng theo từng nghiệp vụ.</a:t>
            </a:r>
          </a:p>
          <a:p>
            <a:pPr algn="just" marL="531111" indent="-265555" lvl="1">
              <a:lnSpc>
                <a:spcPts val="3566"/>
              </a:lnSpc>
              <a:buFont typeface="Arial"/>
              <a:buChar char="•"/>
            </a:pPr>
            <a:r>
              <a:rPr lang="en-US" sz="2459">
                <a:solidFill>
                  <a:srgbClr val="383838"/>
                </a:solidFill>
                <a:latin typeface="Noto Sans"/>
                <a:ea typeface="Noto Sans"/>
                <a:cs typeface="Noto Sans"/>
                <a:sym typeface="Noto Sans"/>
              </a:rPr>
              <a:t>Tăng khả năng bảo trì và phát triển hệ thống trong tương lai.</a:t>
            </a:r>
          </a:p>
        </p:txBody>
      </p:sp>
      <p:sp>
        <p:nvSpPr>
          <p:cNvPr name="TextBox 6" id="6"/>
          <p:cNvSpPr txBox="true"/>
          <p:nvPr/>
        </p:nvSpPr>
        <p:spPr>
          <a:xfrm rot="0">
            <a:off x="1601977" y="1009650"/>
            <a:ext cx="13660231" cy="474345"/>
          </a:xfrm>
          <a:prstGeom prst="rect">
            <a:avLst/>
          </a:prstGeom>
        </p:spPr>
        <p:txBody>
          <a:bodyPr anchor="t" rtlCol="false" tIns="0" lIns="0" bIns="0" rIns="0">
            <a:spAutoFit/>
          </a:bodyPr>
          <a:lstStyle/>
          <a:p>
            <a:pPr algn="just">
              <a:lnSpc>
                <a:spcPts val="3840"/>
              </a:lnSpc>
              <a:spcBef>
                <a:spcPct val="0"/>
              </a:spcBef>
            </a:pPr>
            <a:r>
              <a:rPr lang="en-US" b="true" sz="3000" spc="-75">
                <a:solidFill>
                  <a:srgbClr val="383838"/>
                </a:solidFill>
                <a:latin typeface="Noto Sans Bold"/>
                <a:ea typeface="Noto Sans Bold"/>
                <a:cs typeface="Noto Sans Bold"/>
                <a:sym typeface="Noto Sans Bold"/>
              </a:rPr>
              <a:t>Tại sao lại sử dụng kiến trúc microservices?</a:t>
            </a:r>
          </a:p>
        </p:txBody>
      </p:sp>
    </p:spTree>
  </p:cSld>
  <p:clrMapOvr>
    <a:masterClrMapping/>
  </p:clrMapOvr>
  <p:transition spd="fast">
    <p:push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31822" y="2512901"/>
            <a:ext cx="14673135" cy="5743154"/>
          </a:xfrm>
          <a:custGeom>
            <a:avLst/>
            <a:gdLst/>
            <a:ahLst/>
            <a:cxnLst/>
            <a:rect r="r" b="b" t="t" l="l"/>
            <a:pathLst>
              <a:path h="5743154" w="14673135">
                <a:moveTo>
                  <a:pt x="0" y="0"/>
                </a:moveTo>
                <a:lnTo>
                  <a:pt x="14673135" y="0"/>
                </a:lnTo>
                <a:lnTo>
                  <a:pt x="14673135" y="5743155"/>
                </a:lnTo>
                <a:lnTo>
                  <a:pt x="0" y="5743155"/>
                </a:lnTo>
                <a:lnTo>
                  <a:pt x="0" y="0"/>
                </a:lnTo>
                <a:close/>
              </a:path>
            </a:pathLst>
          </a:custGeom>
          <a:blipFill>
            <a:blip r:embed="rId4"/>
            <a:stretch>
              <a:fillRect l="0" t="0" r="-1393" b="0"/>
            </a:stretch>
          </a:blipFill>
        </p:spPr>
      </p:sp>
      <p:sp>
        <p:nvSpPr>
          <p:cNvPr name="TextBox 4" id="4"/>
          <p:cNvSpPr txBox="true"/>
          <p:nvPr/>
        </p:nvSpPr>
        <p:spPr>
          <a:xfrm rot="0">
            <a:off x="1028700" y="990600"/>
            <a:ext cx="15648032" cy="823468"/>
          </a:xfrm>
          <a:prstGeom prst="rect">
            <a:avLst/>
          </a:prstGeom>
        </p:spPr>
        <p:txBody>
          <a:bodyPr anchor="t" rtlCol="false" tIns="0" lIns="0" bIns="0" rIns="0">
            <a:spAutoFit/>
          </a:bodyPr>
          <a:lstStyle/>
          <a:p>
            <a:pPr algn="ctr">
              <a:lnSpc>
                <a:spcPts val="6655"/>
              </a:lnSpc>
              <a:spcBef>
                <a:spcPct val="0"/>
              </a:spcBef>
            </a:pPr>
            <a:r>
              <a:rPr lang="en-US" b="true" sz="5199" spc="-129">
                <a:solidFill>
                  <a:srgbClr val="383838"/>
                </a:solidFill>
                <a:latin typeface="Noto Sans Bold"/>
                <a:ea typeface="Noto Sans Bold"/>
                <a:cs typeface="Noto Sans Bold"/>
                <a:sym typeface="Noto Sans Bold"/>
              </a:rPr>
              <a:t>CẤU TRÚC HỆ THỐNG</a:t>
            </a:r>
          </a:p>
        </p:txBody>
      </p:sp>
      <p:sp>
        <p:nvSpPr>
          <p:cNvPr name="TextBox 5" id="5"/>
          <p:cNvSpPr txBox="true"/>
          <p:nvPr/>
        </p:nvSpPr>
        <p:spPr>
          <a:xfrm rot="0">
            <a:off x="7428446" y="8654351"/>
            <a:ext cx="4793159" cy="545465"/>
          </a:xfrm>
          <a:prstGeom prst="rect">
            <a:avLst/>
          </a:prstGeom>
        </p:spPr>
        <p:txBody>
          <a:bodyPr anchor="t" rtlCol="false" tIns="0" lIns="0" bIns="0" rIns="0">
            <a:spAutoFit/>
          </a:bodyPr>
          <a:lstStyle/>
          <a:p>
            <a:pPr algn="ctr">
              <a:lnSpc>
                <a:spcPts val="4480"/>
              </a:lnSpc>
              <a:spcBef>
                <a:spcPct val="0"/>
              </a:spcBef>
            </a:pPr>
            <a:r>
              <a:rPr lang="en-US" sz="3500" i="true" spc="-87">
                <a:solidFill>
                  <a:srgbClr val="383838"/>
                </a:solidFill>
                <a:latin typeface="Noto Sans Italics"/>
                <a:ea typeface="Noto Sans Italics"/>
                <a:cs typeface="Noto Sans Italics"/>
                <a:sym typeface="Noto Sans Italics"/>
              </a:rPr>
              <a:t>Hình 7: Cấu trúc hệ thống</a:t>
            </a:r>
          </a:p>
        </p:txBody>
      </p:sp>
    </p:spTree>
  </p:cSld>
  <p:clrMapOvr>
    <a:masterClrMapping/>
  </p:clrMapOvr>
  <p:transition spd="fast">
    <p:push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18880" y="1624807"/>
            <a:ext cx="11450240" cy="7633493"/>
          </a:xfrm>
          <a:custGeom>
            <a:avLst/>
            <a:gdLst/>
            <a:ahLst/>
            <a:cxnLst/>
            <a:rect r="r" b="b" t="t" l="l"/>
            <a:pathLst>
              <a:path h="7633493" w="11450240">
                <a:moveTo>
                  <a:pt x="0" y="0"/>
                </a:moveTo>
                <a:lnTo>
                  <a:pt x="11450240" y="0"/>
                </a:lnTo>
                <a:lnTo>
                  <a:pt x="11450240" y="7633493"/>
                </a:lnTo>
                <a:lnTo>
                  <a:pt x="0" y="7633493"/>
                </a:lnTo>
                <a:lnTo>
                  <a:pt x="0" y="0"/>
                </a:lnTo>
                <a:close/>
              </a:path>
            </a:pathLst>
          </a:custGeom>
          <a:blipFill>
            <a:blip r:embed="rId4"/>
            <a:stretch>
              <a:fillRect l="0" t="0" r="0" b="0"/>
            </a:stretch>
          </a:blipFill>
        </p:spPr>
      </p:sp>
      <p:sp>
        <p:nvSpPr>
          <p:cNvPr name="TextBox 4" id="4"/>
          <p:cNvSpPr txBox="true"/>
          <p:nvPr/>
        </p:nvSpPr>
        <p:spPr>
          <a:xfrm rot="0">
            <a:off x="429351" y="588428"/>
            <a:ext cx="5912205"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Triển khai hệ thống</a:t>
            </a:r>
          </a:p>
        </p:txBody>
      </p:sp>
      <p:sp>
        <p:nvSpPr>
          <p:cNvPr name="TextBox 5" id="5"/>
          <p:cNvSpPr txBox="true"/>
          <p:nvPr/>
        </p:nvSpPr>
        <p:spPr>
          <a:xfrm rot="0">
            <a:off x="7952711" y="9570466"/>
            <a:ext cx="3027759" cy="321564"/>
          </a:xfrm>
          <a:prstGeom prst="rect">
            <a:avLst/>
          </a:prstGeom>
        </p:spPr>
        <p:txBody>
          <a:bodyPr anchor="t" rtlCol="false" tIns="0" lIns="0" bIns="0" rIns="0">
            <a:spAutoFit/>
          </a:bodyPr>
          <a:lstStyle/>
          <a:p>
            <a:pPr algn="ctr">
              <a:lnSpc>
                <a:spcPts val="2688"/>
              </a:lnSpc>
              <a:spcBef>
                <a:spcPct val="0"/>
              </a:spcBef>
            </a:pPr>
            <a:r>
              <a:rPr lang="en-US" sz="2100" i="true" spc="-52">
                <a:solidFill>
                  <a:srgbClr val="383838"/>
                </a:solidFill>
                <a:latin typeface="Noto Sans Italics"/>
                <a:ea typeface="Noto Sans Italics"/>
                <a:cs typeface="Noto Sans Italics"/>
                <a:sym typeface="Noto Sans Italics"/>
              </a:rPr>
              <a:t>Hình 8: Triển khai hệ thống</a:t>
            </a:r>
          </a:p>
        </p:txBody>
      </p:sp>
    </p:spTree>
  </p:cSld>
  <p:clrMapOvr>
    <a:masterClrMapping/>
  </p:clrMapOvr>
  <p:transition spd="fast">
    <p:push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2301" y="2855657"/>
            <a:ext cx="8621049" cy="5747366"/>
          </a:xfrm>
          <a:custGeom>
            <a:avLst/>
            <a:gdLst/>
            <a:ahLst/>
            <a:cxnLst/>
            <a:rect r="r" b="b" t="t" l="l"/>
            <a:pathLst>
              <a:path h="5747366" w="8621049">
                <a:moveTo>
                  <a:pt x="0" y="0"/>
                </a:moveTo>
                <a:lnTo>
                  <a:pt x="8621049" y="0"/>
                </a:lnTo>
                <a:lnTo>
                  <a:pt x="8621049" y="5747366"/>
                </a:lnTo>
                <a:lnTo>
                  <a:pt x="0" y="5747366"/>
                </a:lnTo>
                <a:lnTo>
                  <a:pt x="0" y="0"/>
                </a:lnTo>
                <a:close/>
              </a:path>
            </a:pathLst>
          </a:custGeom>
          <a:blipFill>
            <a:blip r:embed="rId4"/>
            <a:stretch>
              <a:fillRect l="0" t="0" r="0" b="0"/>
            </a:stretch>
          </a:blipFill>
        </p:spPr>
      </p:sp>
      <p:sp>
        <p:nvSpPr>
          <p:cNvPr name="TextBox 4" id="4"/>
          <p:cNvSpPr txBox="true"/>
          <p:nvPr/>
        </p:nvSpPr>
        <p:spPr>
          <a:xfrm rot="0">
            <a:off x="1028700" y="990600"/>
            <a:ext cx="8449921" cy="823394"/>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Noto Sans Bold"/>
                <a:ea typeface="Noto Sans Bold"/>
                <a:cs typeface="Noto Sans Bold"/>
                <a:sym typeface="Noto Sans Bold"/>
              </a:rPr>
              <a:t>Công nghệ áp dụng</a:t>
            </a:r>
          </a:p>
        </p:txBody>
      </p:sp>
      <p:sp>
        <p:nvSpPr>
          <p:cNvPr name="TextBox 5" id="5"/>
          <p:cNvSpPr txBox="true"/>
          <p:nvPr/>
        </p:nvSpPr>
        <p:spPr>
          <a:xfrm rot="0">
            <a:off x="1352301" y="2086037"/>
            <a:ext cx="2956768" cy="474345"/>
          </a:xfrm>
          <a:prstGeom prst="rect">
            <a:avLst/>
          </a:prstGeom>
        </p:spPr>
        <p:txBody>
          <a:bodyPr anchor="t" rtlCol="false" tIns="0" lIns="0" bIns="0" rIns="0">
            <a:spAutoFit/>
          </a:bodyPr>
          <a:lstStyle/>
          <a:p>
            <a:pPr algn="ctr">
              <a:lnSpc>
                <a:spcPts val="3840"/>
              </a:lnSpc>
              <a:spcBef>
                <a:spcPct val="0"/>
              </a:spcBef>
            </a:pPr>
            <a:r>
              <a:rPr lang="en-US" b="true" sz="3000" spc="-75">
                <a:solidFill>
                  <a:srgbClr val="383838"/>
                </a:solidFill>
                <a:latin typeface="Noto Sans Bold"/>
                <a:ea typeface="Noto Sans Bold"/>
                <a:cs typeface="Noto Sans Bold"/>
                <a:sym typeface="Noto Sans Bold"/>
              </a:rPr>
              <a:t>Về cơ sở dữ liệu:</a:t>
            </a:r>
          </a:p>
        </p:txBody>
      </p:sp>
      <p:sp>
        <p:nvSpPr>
          <p:cNvPr name="TextBox 6" id="6"/>
          <p:cNvSpPr txBox="true"/>
          <p:nvPr/>
        </p:nvSpPr>
        <p:spPr>
          <a:xfrm rot="0">
            <a:off x="10993289" y="2304159"/>
            <a:ext cx="6141619" cy="6403900"/>
          </a:xfrm>
          <a:prstGeom prst="rect">
            <a:avLst/>
          </a:prstGeom>
        </p:spPr>
        <p:txBody>
          <a:bodyPr anchor="t" rtlCol="false" tIns="0" lIns="0" bIns="0" rIns="0">
            <a:spAutoFit/>
          </a:bodyPr>
          <a:lstStyle/>
          <a:p>
            <a:pPr algn="l">
              <a:lnSpc>
                <a:spcPts val="3209"/>
              </a:lnSpc>
            </a:pPr>
            <a:r>
              <a:rPr lang="en-US" sz="2507" spc="-62">
                <a:solidFill>
                  <a:srgbClr val="383838"/>
                </a:solidFill>
                <a:latin typeface="Decalotype"/>
                <a:ea typeface="Decalotype"/>
                <a:cs typeface="Decalotype"/>
                <a:sym typeface="Decalotype"/>
              </a:rPr>
              <a:t>PostgreSQL</a:t>
            </a:r>
          </a:p>
          <a:p>
            <a:pPr algn="l">
              <a:lnSpc>
                <a:spcPts val="3209"/>
              </a:lnSpc>
            </a:pPr>
            <a:r>
              <a:rPr lang="en-US" sz="2507" spc="-62">
                <a:solidFill>
                  <a:srgbClr val="383838"/>
                </a:solidFill>
                <a:latin typeface="Decalotype"/>
                <a:ea typeface="Decalotype"/>
                <a:cs typeface="Decalotype"/>
                <a:sym typeface="Decalotype"/>
              </a:rPr>
              <a:t>→</a:t>
            </a:r>
            <a:r>
              <a:rPr lang="en-US" sz="2507" spc="-62">
                <a:solidFill>
                  <a:srgbClr val="383838"/>
                </a:solidFill>
                <a:latin typeface="Decalotype"/>
                <a:ea typeface="Decalotype"/>
                <a:cs typeface="Decalotype"/>
                <a:sym typeface="Decalotype"/>
              </a:rPr>
              <a:t> Dùng cho dữ liệu quan trọng</a:t>
            </a:r>
          </a:p>
          <a:p>
            <a:pPr algn="l" marL="541348" indent="-270674" lvl="1">
              <a:lnSpc>
                <a:spcPts val="3209"/>
              </a:lnSpc>
              <a:buFont typeface="Arial"/>
              <a:buChar char="•"/>
            </a:pPr>
            <a:r>
              <a:rPr lang="en-US" sz="2507" spc="-62">
                <a:solidFill>
                  <a:srgbClr val="383838"/>
                </a:solidFill>
                <a:latin typeface="Decalotype"/>
                <a:ea typeface="Decalotype"/>
                <a:cs typeface="Decalotype"/>
                <a:sym typeface="Decalotype"/>
              </a:rPr>
              <a:t>Độ tin cậy cao (ACID)</a:t>
            </a:r>
          </a:p>
          <a:p>
            <a:pPr algn="l" marL="541348" indent="-270674" lvl="1">
              <a:lnSpc>
                <a:spcPts val="3209"/>
              </a:lnSpc>
              <a:buFont typeface="Arial"/>
              <a:buChar char="•"/>
            </a:pPr>
            <a:r>
              <a:rPr lang="en-US" sz="2507" spc="-62">
                <a:solidFill>
                  <a:srgbClr val="383838"/>
                </a:solidFill>
                <a:latin typeface="Decalotype"/>
                <a:ea typeface="Decalotype"/>
                <a:cs typeface="Decalotype"/>
                <a:sym typeface="Decalotype"/>
              </a:rPr>
              <a:t>Xử lý giao dịch tốt</a:t>
            </a:r>
          </a:p>
          <a:p>
            <a:pPr algn="l" marL="541348" indent="-270674" lvl="1">
              <a:lnSpc>
                <a:spcPts val="3209"/>
              </a:lnSpc>
              <a:buFont typeface="Arial"/>
              <a:buChar char="•"/>
            </a:pPr>
            <a:r>
              <a:rPr lang="en-US" sz="2507" spc="-62">
                <a:solidFill>
                  <a:srgbClr val="383838"/>
                </a:solidFill>
                <a:latin typeface="Decalotype"/>
                <a:ea typeface="Decalotype"/>
                <a:cs typeface="Decalotype"/>
                <a:sym typeface="Decalotype"/>
              </a:rPr>
              <a:t>Phù hợp: user, đơn hàng, thanh toán</a:t>
            </a:r>
          </a:p>
          <a:p>
            <a:pPr algn="l">
              <a:lnSpc>
                <a:spcPts val="3209"/>
              </a:lnSpc>
            </a:pPr>
            <a:r>
              <a:rPr lang="en-US" sz="2507" spc="-62">
                <a:solidFill>
                  <a:srgbClr val="383838"/>
                </a:solidFill>
                <a:latin typeface="Decalotype"/>
                <a:ea typeface="Decalotype"/>
                <a:cs typeface="Decalotype"/>
                <a:sym typeface="Decalotype"/>
              </a:rPr>
              <a:t>🔹 MongoDB</a:t>
            </a:r>
          </a:p>
          <a:p>
            <a:pPr algn="l">
              <a:lnSpc>
                <a:spcPts val="3209"/>
              </a:lnSpc>
            </a:pPr>
            <a:r>
              <a:rPr lang="en-US" sz="2507" spc="-62">
                <a:solidFill>
                  <a:srgbClr val="383838"/>
                </a:solidFill>
                <a:latin typeface="Decalotype"/>
                <a:ea typeface="Decalotype"/>
                <a:cs typeface="Decalotype"/>
                <a:sym typeface="Decalotype"/>
              </a:rPr>
              <a:t>→ Dùng cho dữ liệu linh hoạt, lớn</a:t>
            </a:r>
          </a:p>
          <a:p>
            <a:pPr algn="l" marL="541348" indent="-270674" lvl="1">
              <a:lnSpc>
                <a:spcPts val="3209"/>
              </a:lnSpc>
              <a:buFont typeface="Arial"/>
              <a:buChar char="•"/>
            </a:pPr>
            <a:r>
              <a:rPr lang="en-US" sz="2507" spc="-62">
                <a:solidFill>
                  <a:srgbClr val="383838"/>
                </a:solidFill>
                <a:latin typeface="Decalotype"/>
                <a:ea typeface="Decalotype"/>
                <a:cs typeface="Decalotype"/>
                <a:sym typeface="Decalotype"/>
              </a:rPr>
              <a:t>Không cần schema (dễ thay đổi)</a:t>
            </a:r>
          </a:p>
          <a:p>
            <a:pPr algn="l" marL="541348" indent="-270674" lvl="1">
              <a:lnSpc>
                <a:spcPts val="3209"/>
              </a:lnSpc>
              <a:buFont typeface="Arial"/>
              <a:buChar char="•"/>
            </a:pPr>
            <a:r>
              <a:rPr lang="en-US" sz="2507" spc="-62">
                <a:solidFill>
                  <a:srgbClr val="383838"/>
                </a:solidFill>
                <a:latin typeface="Decalotype"/>
                <a:ea typeface="Decalotype"/>
                <a:cs typeface="Decalotype"/>
                <a:sym typeface="Decalotype"/>
              </a:rPr>
              <a:t>Ghi nhanh, scale tốt</a:t>
            </a:r>
          </a:p>
          <a:p>
            <a:pPr algn="l" marL="541348" indent="-270674" lvl="1">
              <a:lnSpc>
                <a:spcPts val="3209"/>
              </a:lnSpc>
              <a:buFont typeface="Arial"/>
              <a:buChar char="•"/>
            </a:pPr>
            <a:r>
              <a:rPr lang="en-US" sz="2507" spc="-62">
                <a:solidFill>
                  <a:srgbClr val="383838"/>
                </a:solidFill>
                <a:latin typeface="Decalotype"/>
                <a:ea typeface="Decalotype"/>
                <a:cs typeface="Decalotype"/>
                <a:sym typeface="Decalotype"/>
              </a:rPr>
              <a:t>Phù hợp: log, AI data, tracking</a:t>
            </a:r>
          </a:p>
          <a:p>
            <a:pPr algn="l">
              <a:lnSpc>
                <a:spcPts val="3209"/>
              </a:lnSpc>
            </a:pPr>
            <a:r>
              <a:rPr lang="en-US" sz="2507" spc="-62">
                <a:solidFill>
                  <a:srgbClr val="383838"/>
                </a:solidFill>
                <a:latin typeface="Decalotype"/>
                <a:ea typeface="Decalotype"/>
                <a:cs typeface="Decalotype"/>
                <a:sym typeface="Decalotype"/>
              </a:rPr>
              <a:t>🔹 MySQL</a:t>
            </a:r>
          </a:p>
          <a:p>
            <a:pPr algn="l">
              <a:lnSpc>
                <a:spcPts val="3209"/>
              </a:lnSpc>
            </a:pPr>
            <a:r>
              <a:rPr lang="en-US" sz="2507" spc="-62">
                <a:solidFill>
                  <a:srgbClr val="383838"/>
                </a:solidFill>
                <a:latin typeface="Decalotype"/>
                <a:ea typeface="Decalotype"/>
                <a:cs typeface="Decalotype"/>
                <a:sym typeface="Decalotype"/>
              </a:rPr>
              <a:t>→ Dùng cho service đọc nhiều</a:t>
            </a:r>
          </a:p>
          <a:p>
            <a:pPr algn="l" marL="541348" indent="-270674" lvl="1">
              <a:lnSpc>
                <a:spcPts val="3209"/>
              </a:lnSpc>
              <a:buFont typeface="Arial"/>
              <a:buChar char="•"/>
            </a:pPr>
            <a:r>
              <a:rPr lang="en-US" sz="2507" spc="-62">
                <a:solidFill>
                  <a:srgbClr val="383838"/>
                </a:solidFill>
                <a:latin typeface="Decalotype"/>
                <a:ea typeface="Decalotype"/>
                <a:cs typeface="Decalotype"/>
                <a:sym typeface="Decalotype"/>
              </a:rPr>
              <a:t>Dễ dùng, nhẹ</a:t>
            </a:r>
          </a:p>
          <a:p>
            <a:pPr algn="l" marL="541348" indent="-270674" lvl="1">
              <a:lnSpc>
                <a:spcPts val="3209"/>
              </a:lnSpc>
              <a:buFont typeface="Arial"/>
              <a:buChar char="•"/>
            </a:pPr>
            <a:r>
              <a:rPr lang="en-US" sz="2507" spc="-62">
                <a:solidFill>
                  <a:srgbClr val="383838"/>
                </a:solidFill>
                <a:latin typeface="Decalotype"/>
                <a:ea typeface="Decalotype"/>
                <a:cs typeface="Decalotype"/>
                <a:sym typeface="Decalotype"/>
              </a:rPr>
              <a:t>Tối ưu truy vấn đọc</a:t>
            </a:r>
          </a:p>
          <a:p>
            <a:pPr algn="l" marL="541348" indent="-270674" lvl="1">
              <a:lnSpc>
                <a:spcPts val="3209"/>
              </a:lnSpc>
              <a:buFont typeface="Arial"/>
              <a:buChar char="•"/>
            </a:pPr>
            <a:r>
              <a:rPr lang="en-US" sz="2507" spc="-62">
                <a:solidFill>
                  <a:srgbClr val="383838"/>
                </a:solidFill>
                <a:latin typeface="Decalotype"/>
                <a:ea typeface="Decalotype"/>
                <a:cs typeface="Decalotype"/>
                <a:sym typeface="Decalotype"/>
              </a:rPr>
              <a:t>Phù hợp: sản phẩm, nội dung</a:t>
            </a:r>
          </a:p>
          <a:p>
            <a:pPr algn="l">
              <a:lnSpc>
                <a:spcPts val="3209"/>
              </a:lnSpc>
              <a:spcBef>
                <a:spcPct val="0"/>
              </a:spcBef>
            </a:pPr>
          </a:p>
        </p:txBody>
      </p:sp>
      <p:sp>
        <p:nvSpPr>
          <p:cNvPr name="TextBox 7" id="7"/>
          <p:cNvSpPr txBox="true"/>
          <p:nvPr/>
        </p:nvSpPr>
        <p:spPr>
          <a:xfrm rot="0">
            <a:off x="4343712" y="8888773"/>
            <a:ext cx="2638227" cy="375591"/>
          </a:xfrm>
          <a:prstGeom prst="rect">
            <a:avLst/>
          </a:prstGeom>
        </p:spPr>
        <p:txBody>
          <a:bodyPr anchor="t" rtlCol="false" tIns="0" lIns="0" bIns="0" rIns="0">
            <a:spAutoFit/>
          </a:bodyPr>
          <a:lstStyle/>
          <a:p>
            <a:pPr algn="ctr">
              <a:lnSpc>
                <a:spcPts val="3081"/>
              </a:lnSpc>
              <a:spcBef>
                <a:spcPct val="0"/>
              </a:spcBef>
            </a:pPr>
            <a:r>
              <a:rPr lang="en-US" sz="2407" i="true" spc="-60">
                <a:solidFill>
                  <a:srgbClr val="383838"/>
                </a:solidFill>
                <a:latin typeface="Noto Sans Italics"/>
                <a:ea typeface="Noto Sans Italics"/>
                <a:cs typeface="Noto Sans Italics"/>
                <a:sym typeface="Noto Sans Italics"/>
              </a:rPr>
              <a:t>Hình 9: Cơ sở dữ liệu</a:t>
            </a:r>
          </a:p>
        </p:txBody>
      </p:sp>
    </p:spTree>
  </p:cSld>
  <p:clrMapOvr>
    <a:masterClrMapping/>
  </p:clrMapOvr>
  <p:transition spd="fast">
    <p:push dir="l"/>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8097250" y="2341598"/>
          <a:ext cx="8707707" cy="5090055"/>
        </p:xfrm>
        <a:graphic>
          <a:graphicData uri="http://schemas.openxmlformats.org/drawingml/2006/table">
            <a:tbl>
              <a:tblPr/>
              <a:tblGrid>
                <a:gridCol w="1760193"/>
                <a:gridCol w="6947514"/>
              </a:tblGrid>
              <a:tr h="5090055">
                <a:tc>
                  <a:txBody>
                    <a:bodyPr anchor="t" rtlCol="false"/>
                    <a:lstStyle/>
                    <a:p>
                      <a:pPr algn="ctr">
                        <a:lnSpc>
                          <a:spcPts val="3220"/>
                        </a:lnSpc>
                        <a:defRPr/>
                      </a:pPr>
                      <a:r>
                        <a:rPr lang="en-US" sz="2300" b="true">
                          <a:solidFill>
                            <a:srgbClr val="383838"/>
                          </a:solidFill>
                          <a:latin typeface="Noto Sans Bold"/>
                          <a:ea typeface="Noto Sans Bold"/>
                          <a:cs typeface="Noto Sans Bold"/>
                          <a:sym typeface="Noto Sans Bold"/>
                        </a:rPr>
                        <a:t>Front-end</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c>
                  <a:txBody>
                    <a:bodyPr anchor="t" rtlCol="false"/>
                    <a:lstStyle/>
                    <a:p>
                      <a:pPr algn="just" marL="539749" indent="-269875" lvl="1">
                        <a:lnSpc>
                          <a:spcPts val="3499"/>
                        </a:lnSpc>
                        <a:buFont typeface="Arial"/>
                        <a:buChar char="•"/>
                        <a:defRPr/>
                      </a:pPr>
                      <a:r>
                        <a:rPr lang="en-US" sz="2499">
                          <a:solidFill>
                            <a:srgbClr val="383838"/>
                          </a:solidFill>
                          <a:latin typeface="Noto Sans"/>
                          <a:ea typeface="Noto Sans"/>
                          <a:cs typeface="Noto Sans"/>
                          <a:sym typeface="Noto Sans"/>
                        </a:rPr>
                        <a:t>Sử dụng Next.js để xây dựng frontend (hỗ trợ SSR, tối ưu hiệu năng)</a:t>
                      </a:r>
                      <a:endParaRPr lang="en-US" sz="1100"/>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Áp</a:t>
                      </a:r>
                      <a:r>
                        <a:rPr lang="en-US" sz="2499">
                          <a:solidFill>
                            <a:srgbClr val="383838"/>
                          </a:solidFill>
                          <a:latin typeface="Noto Sans"/>
                          <a:ea typeface="Noto Sans"/>
                          <a:cs typeface="Noto Sans"/>
                          <a:sym typeface="Noto Sans"/>
                        </a:rPr>
                        <a:t> dụng React (component-based) → dễ tái sử dụng &amp; bảo trì</a:t>
                      </a:r>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Dù</a:t>
                      </a:r>
                      <a:r>
                        <a:rPr lang="en-US" sz="2499">
                          <a:solidFill>
                            <a:srgbClr val="383838"/>
                          </a:solidFill>
                          <a:latin typeface="Noto Sans"/>
                          <a:ea typeface="Noto Sans"/>
                          <a:cs typeface="Noto Sans"/>
                          <a:sym typeface="Noto Sans"/>
                        </a:rPr>
                        <a:t>ng TypeScript → kiểm soát kiểu dữ liệu, giảm lỗi</a:t>
                      </a:r>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Thiết kế UI bằng Tailwind CSS → phát triển nhanh</a:t>
                      </a:r>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Kết hợp Ant Design → cung cấp sẵn các component giao diện</a:t>
                      </a:r>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sp>
        <p:nvSpPr>
          <p:cNvPr name="Freeform 3" id="3"/>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31186" y="2326590"/>
            <a:ext cx="6588763" cy="5105063"/>
          </a:xfrm>
          <a:custGeom>
            <a:avLst/>
            <a:gdLst/>
            <a:ahLst/>
            <a:cxnLst/>
            <a:rect r="r" b="b" t="t" l="l"/>
            <a:pathLst>
              <a:path h="5105063" w="6588763">
                <a:moveTo>
                  <a:pt x="0" y="0"/>
                </a:moveTo>
                <a:lnTo>
                  <a:pt x="6588762" y="0"/>
                </a:lnTo>
                <a:lnTo>
                  <a:pt x="6588762" y="5105063"/>
                </a:lnTo>
                <a:lnTo>
                  <a:pt x="0" y="5105063"/>
                </a:lnTo>
                <a:lnTo>
                  <a:pt x="0" y="0"/>
                </a:lnTo>
                <a:close/>
              </a:path>
            </a:pathLst>
          </a:custGeom>
          <a:blipFill>
            <a:blip r:embed="rId4"/>
            <a:stretch>
              <a:fillRect l="-428" t="0" r="0" b="0"/>
            </a:stretch>
          </a:blipFill>
        </p:spPr>
      </p:sp>
      <p:sp>
        <p:nvSpPr>
          <p:cNvPr name="TextBox 5" id="5"/>
          <p:cNvSpPr txBox="true"/>
          <p:nvPr/>
        </p:nvSpPr>
        <p:spPr>
          <a:xfrm rot="0">
            <a:off x="-3174794" y="7936478"/>
            <a:ext cx="15000722" cy="375591"/>
          </a:xfrm>
          <a:prstGeom prst="rect">
            <a:avLst/>
          </a:prstGeom>
        </p:spPr>
        <p:txBody>
          <a:bodyPr anchor="t" rtlCol="false" tIns="0" lIns="0" bIns="0" rIns="0">
            <a:spAutoFit/>
          </a:bodyPr>
          <a:lstStyle/>
          <a:p>
            <a:pPr algn="ctr">
              <a:lnSpc>
                <a:spcPts val="3081"/>
              </a:lnSpc>
              <a:spcBef>
                <a:spcPct val="0"/>
              </a:spcBef>
            </a:pPr>
            <a:r>
              <a:rPr lang="en-US" sz="2407" i="true" spc="-60">
                <a:solidFill>
                  <a:srgbClr val="383838"/>
                </a:solidFill>
                <a:latin typeface="Noto Sans Italics"/>
                <a:ea typeface="Noto Sans Italics"/>
                <a:cs typeface="Noto Sans Italics"/>
                <a:sym typeface="Noto Sans Italics"/>
              </a:rPr>
              <a:t>Hình 10: Công nghệ Next.js cho front - end</a:t>
            </a:r>
          </a:p>
        </p:txBody>
      </p:sp>
      <p:sp>
        <p:nvSpPr>
          <p:cNvPr name="TextBox 6" id="6"/>
          <p:cNvSpPr txBox="true"/>
          <p:nvPr/>
        </p:nvSpPr>
        <p:spPr>
          <a:xfrm rot="0">
            <a:off x="419361" y="242458"/>
            <a:ext cx="8449921" cy="823394"/>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Noto Sans Bold"/>
                <a:ea typeface="Noto Sans Bold"/>
                <a:cs typeface="Noto Sans Bold"/>
                <a:sym typeface="Noto Sans Bold"/>
              </a:rPr>
              <a:t>Công nghệ áp dụng</a:t>
            </a:r>
          </a:p>
        </p:txBody>
      </p:sp>
      <p:sp>
        <p:nvSpPr>
          <p:cNvPr name="TextBox 7" id="7"/>
          <p:cNvSpPr txBox="true"/>
          <p:nvPr/>
        </p:nvSpPr>
        <p:spPr>
          <a:xfrm rot="0">
            <a:off x="999319" y="1337895"/>
            <a:ext cx="2444055" cy="474345"/>
          </a:xfrm>
          <a:prstGeom prst="rect">
            <a:avLst/>
          </a:prstGeom>
        </p:spPr>
        <p:txBody>
          <a:bodyPr anchor="t" rtlCol="false" tIns="0" lIns="0" bIns="0" rIns="0">
            <a:spAutoFit/>
          </a:bodyPr>
          <a:lstStyle/>
          <a:p>
            <a:pPr algn="ctr">
              <a:lnSpc>
                <a:spcPts val="3840"/>
              </a:lnSpc>
              <a:spcBef>
                <a:spcPct val="0"/>
              </a:spcBef>
            </a:pPr>
            <a:r>
              <a:rPr lang="en-US" b="true" sz="3000" spc="-75">
                <a:solidFill>
                  <a:srgbClr val="383838"/>
                </a:solidFill>
                <a:latin typeface="Noto Sans Bold"/>
                <a:ea typeface="Noto Sans Bold"/>
                <a:cs typeface="Noto Sans Bold"/>
                <a:sym typeface="Noto Sans Bold"/>
              </a:rPr>
              <a:t>Về front - end</a:t>
            </a:r>
          </a:p>
        </p:txBody>
      </p:sp>
    </p:spTree>
  </p:cSld>
  <p:clrMapOvr>
    <a:masterClrMapping/>
  </p:clrMapOvr>
  <p:transition spd="fast">
    <p:push dir="l"/>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8445811" y="2581275"/>
          <a:ext cx="8183916" cy="5124450"/>
        </p:xfrm>
        <a:graphic>
          <a:graphicData uri="http://schemas.openxmlformats.org/drawingml/2006/table">
            <a:tbl>
              <a:tblPr/>
              <a:tblGrid>
                <a:gridCol w="1760317"/>
                <a:gridCol w="6423600"/>
              </a:tblGrid>
              <a:tr h="5124450">
                <a:tc>
                  <a:txBody>
                    <a:bodyPr anchor="t" rtlCol="false"/>
                    <a:lstStyle/>
                    <a:p>
                      <a:pPr algn="ctr">
                        <a:lnSpc>
                          <a:spcPts val="3220"/>
                        </a:lnSpc>
                        <a:defRPr/>
                      </a:pPr>
                      <a:r>
                        <a:rPr lang="en-US" sz="2300" b="true">
                          <a:solidFill>
                            <a:srgbClr val="383838"/>
                          </a:solidFill>
                          <a:latin typeface="Noto Sans Bold"/>
                          <a:ea typeface="Noto Sans Bold"/>
                          <a:cs typeface="Noto Sans Bold"/>
                          <a:sym typeface="Noto Sans Bold"/>
                        </a:rPr>
                        <a:t>Back-end</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c>
                  <a:txBody>
                    <a:bodyPr anchor="t" rtlCol="false"/>
                    <a:lstStyle/>
                    <a:p>
                      <a:pPr algn="just" marL="539749" indent="-269875" lvl="1">
                        <a:lnSpc>
                          <a:spcPts val="3499"/>
                        </a:lnSpc>
                        <a:buFont typeface="Arial"/>
                        <a:buChar char="•"/>
                        <a:defRPr/>
                      </a:pPr>
                      <a:r>
                        <a:rPr lang="en-US" sz="2499">
                          <a:solidFill>
                            <a:srgbClr val="383838"/>
                          </a:solidFill>
                          <a:latin typeface="Noto Sans"/>
                          <a:ea typeface="Noto Sans"/>
                          <a:cs typeface="Noto Sans"/>
                          <a:sym typeface="Noto Sans"/>
                        </a:rPr>
                        <a:t>Backend sử dụng Node.js + NestJS (TypeScript)</a:t>
                      </a:r>
                      <a:endParaRPr lang="en-US" sz="1100"/>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Áp</a:t>
                      </a:r>
                      <a:r>
                        <a:rPr lang="en-US" sz="2499">
                          <a:solidFill>
                            <a:srgbClr val="383838"/>
                          </a:solidFill>
                          <a:latin typeface="Noto Sans"/>
                          <a:ea typeface="Noto Sans"/>
                          <a:cs typeface="Noto Sans"/>
                          <a:sym typeface="Noto Sans"/>
                        </a:rPr>
                        <a:t> dụng kiến trúc Module - Controller - Service → dễ quản lý &amp; mở rộng</a:t>
                      </a:r>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Hỗ trợ nhiều mô hình: REST A</a:t>
                      </a:r>
                      <a:r>
                        <a:rPr lang="en-US" sz="2499">
                          <a:solidFill>
                            <a:srgbClr val="383838"/>
                          </a:solidFill>
                          <a:latin typeface="Noto Sans"/>
                          <a:ea typeface="Noto Sans"/>
                          <a:cs typeface="Noto Sans"/>
                          <a:sym typeface="Noto Sans"/>
                        </a:rPr>
                        <a:t>PI, GraphQL, WebSocket, Microservices</a:t>
                      </a:r>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Hệ thống chia thành các microservice (product, user, auth, cart, order, payment, inventory)</a:t>
                      </a:r>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Các service</a:t>
                      </a:r>
                      <a:r>
                        <a:rPr lang="en-US" sz="2499">
                          <a:solidFill>
                            <a:srgbClr val="383838"/>
                          </a:solidFill>
                          <a:latin typeface="Noto Sans"/>
                          <a:ea typeface="Noto Sans"/>
                          <a:cs typeface="Noto Sans"/>
                          <a:sym typeface="Noto Sans"/>
                        </a:rPr>
                        <a:t> độc lập → dễ bảo trì &amp; mở rộng từng phần</a:t>
                      </a:r>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sp>
        <p:nvSpPr>
          <p:cNvPr name="Freeform 3" id="3"/>
          <p:cNvSpPr/>
          <p:nvPr/>
        </p:nvSpPr>
        <p:spPr>
          <a:xfrm flipH="false" flipV="false" rot="0">
            <a:off x="560299" y="2581275"/>
            <a:ext cx="7321340" cy="5124450"/>
          </a:xfrm>
          <a:custGeom>
            <a:avLst/>
            <a:gdLst/>
            <a:ahLst/>
            <a:cxnLst/>
            <a:rect r="r" b="b" t="t" l="l"/>
            <a:pathLst>
              <a:path h="5124450" w="7321340">
                <a:moveTo>
                  <a:pt x="0" y="0"/>
                </a:moveTo>
                <a:lnTo>
                  <a:pt x="7321340" y="0"/>
                </a:lnTo>
                <a:lnTo>
                  <a:pt x="7321340" y="5124450"/>
                </a:lnTo>
                <a:lnTo>
                  <a:pt x="0" y="5124450"/>
                </a:lnTo>
                <a:lnTo>
                  <a:pt x="0" y="0"/>
                </a:lnTo>
                <a:close/>
              </a:path>
            </a:pathLst>
          </a:custGeom>
          <a:blipFill>
            <a:blip r:embed="rId2"/>
            <a:stretch>
              <a:fillRect l="-3801" t="0" r="-3428" b="0"/>
            </a:stretch>
          </a:blipFill>
        </p:spPr>
      </p:sp>
      <p:sp>
        <p:nvSpPr>
          <p:cNvPr name="TextBox 4" id="4"/>
          <p:cNvSpPr txBox="true"/>
          <p:nvPr/>
        </p:nvSpPr>
        <p:spPr>
          <a:xfrm rot="0">
            <a:off x="560299" y="526266"/>
            <a:ext cx="7885513" cy="823394"/>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Noto Sans Bold"/>
                <a:ea typeface="Noto Sans Bold"/>
                <a:cs typeface="Noto Sans Bold"/>
                <a:sym typeface="Noto Sans Bold"/>
              </a:rPr>
              <a:t>Công nghệ áp dụng</a:t>
            </a:r>
          </a:p>
        </p:txBody>
      </p:sp>
      <p:sp>
        <p:nvSpPr>
          <p:cNvPr name="TextBox 5" id="5"/>
          <p:cNvSpPr txBox="true"/>
          <p:nvPr/>
        </p:nvSpPr>
        <p:spPr>
          <a:xfrm rot="0">
            <a:off x="1808720" y="8176734"/>
            <a:ext cx="5388670" cy="375591"/>
          </a:xfrm>
          <a:prstGeom prst="rect">
            <a:avLst/>
          </a:prstGeom>
        </p:spPr>
        <p:txBody>
          <a:bodyPr anchor="t" rtlCol="false" tIns="0" lIns="0" bIns="0" rIns="0">
            <a:spAutoFit/>
          </a:bodyPr>
          <a:lstStyle/>
          <a:p>
            <a:pPr algn="ctr">
              <a:lnSpc>
                <a:spcPts val="3081"/>
              </a:lnSpc>
              <a:spcBef>
                <a:spcPct val="0"/>
              </a:spcBef>
            </a:pPr>
            <a:r>
              <a:rPr lang="en-US" sz="2407" i="true" spc="-60">
                <a:solidFill>
                  <a:srgbClr val="383838"/>
                </a:solidFill>
                <a:latin typeface="Noto Sans Italics"/>
                <a:ea typeface="Noto Sans Italics"/>
                <a:cs typeface="Noto Sans Italics"/>
                <a:sym typeface="Noto Sans Italics"/>
              </a:rPr>
              <a:t>Hình 11: Công nghệ Nest.js cho back - end</a:t>
            </a:r>
          </a:p>
        </p:txBody>
      </p:sp>
      <p:sp>
        <p:nvSpPr>
          <p:cNvPr name="TextBox 6" id="6"/>
          <p:cNvSpPr txBox="true"/>
          <p:nvPr/>
        </p:nvSpPr>
        <p:spPr>
          <a:xfrm rot="0">
            <a:off x="1011783" y="1630680"/>
            <a:ext cx="2477889" cy="474345"/>
          </a:xfrm>
          <a:prstGeom prst="rect">
            <a:avLst/>
          </a:prstGeom>
        </p:spPr>
        <p:txBody>
          <a:bodyPr anchor="t" rtlCol="false" tIns="0" lIns="0" bIns="0" rIns="0">
            <a:spAutoFit/>
          </a:bodyPr>
          <a:lstStyle/>
          <a:p>
            <a:pPr algn="ctr">
              <a:lnSpc>
                <a:spcPts val="3840"/>
              </a:lnSpc>
              <a:spcBef>
                <a:spcPct val="0"/>
              </a:spcBef>
            </a:pPr>
            <a:r>
              <a:rPr lang="en-US" b="true" sz="3000" spc="-75">
                <a:solidFill>
                  <a:srgbClr val="383838"/>
                </a:solidFill>
                <a:latin typeface="Noto Sans Bold"/>
                <a:ea typeface="Noto Sans Bold"/>
                <a:cs typeface="Noto Sans Bold"/>
                <a:sym typeface="Noto Sans Bold"/>
              </a:rPr>
              <a:t>Về back  - end</a:t>
            </a:r>
          </a:p>
        </p:txBody>
      </p:sp>
    </p:spTree>
  </p:cSld>
  <p:clrMapOvr>
    <a:masterClrMapping/>
  </p:clrMapOvr>
  <p:transition spd="fast">
    <p:push dir="l"/>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2051888"/>
          <a:ext cx="7888765" cy="7753350"/>
        </p:xfrm>
        <a:graphic>
          <a:graphicData uri="http://schemas.openxmlformats.org/drawingml/2006/table">
            <a:tbl>
              <a:tblPr/>
              <a:tblGrid>
                <a:gridCol w="1760393"/>
                <a:gridCol w="6128371"/>
              </a:tblGrid>
              <a:tr h="7753350">
                <a:tc>
                  <a:txBody>
                    <a:bodyPr anchor="t" rtlCol="false"/>
                    <a:lstStyle/>
                    <a:p>
                      <a:pPr algn="ctr">
                        <a:lnSpc>
                          <a:spcPts val="3220"/>
                        </a:lnSpc>
                        <a:defRPr/>
                      </a:pPr>
                      <a:r>
                        <a:rPr lang="en-US" sz="2300" b="true">
                          <a:solidFill>
                            <a:srgbClr val="383838"/>
                          </a:solidFill>
                          <a:latin typeface="Noto Sans Bold"/>
                          <a:ea typeface="Noto Sans Bold"/>
                          <a:cs typeface="Noto Sans Bold"/>
                          <a:sym typeface="Noto Sans Bold"/>
                        </a:rPr>
                        <a:t>CI/CD</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c>
                  <a:txBody>
                    <a:bodyPr anchor="t" rtlCol="false"/>
                    <a:lstStyle/>
                    <a:p>
                      <a:pPr algn="just">
                        <a:lnSpc>
                          <a:spcPts val="3499"/>
                        </a:lnSpc>
                        <a:defRPr/>
                      </a:pPr>
                      <a:r>
                        <a:rPr lang="en-US" sz="2499">
                          <a:solidFill>
                            <a:srgbClr val="383838"/>
                          </a:solidFill>
                          <a:latin typeface="Noto Sans"/>
                          <a:ea typeface="Noto Sans"/>
                          <a:cs typeface="Noto Sans"/>
                          <a:sym typeface="Noto Sans"/>
                        </a:rPr>
                        <a:t>Sử dụng Postman cho CI/CD. </a:t>
                      </a:r>
                      <a:endParaRPr lang="en-US" sz="1100"/>
                    </a:p>
                    <a:p>
                      <a:pPr algn="just">
                        <a:lnSpc>
                          <a:spcPts val="3499"/>
                        </a:lnSpc>
                      </a:pPr>
                      <a:r>
                        <a:rPr lang="en-US" sz="2499">
                          <a:solidFill>
                            <a:srgbClr val="383838"/>
                          </a:solidFill>
                          <a:latin typeface="Noto Sans"/>
                          <a:ea typeface="Noto Sans"/>
                          <a:cs typeface="Noto Sans"/>
                          <a:sym typeface="Noto Sans"/>
                        </a:rPr>
                        <a:t>Vai trò của Postman:</a:t>
                      </a:r>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Kiểm tra độc lập các API (GET, POST, PUT, DELETE) trước khi tích hợp front-end.</a:t>
                      </a:r>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Lưu trữ và quản lý các endpoint dễ dàng qua Collection.</a:t>
                      </a:r>
                    </a:p>
                    <a:p>
                      <a:pPr algn="just">
                        <a:lnSpc>
                          <a:spcPts val="3499"/>
                        </a:lnSpc>
                      </a:pPr>
                      <a:r>
                        <a:rPr lang="en-US" sz="2499">
                          <a:solidFill>
                            <a:srgbClr val="383838"/>
                          </a:solidFill>
                          <a:latin typeface="Noto Sans"/>
                          <a:ea typeface="Noto Sans"/>
                          <a:cs typeface="Noto Sans"/>
                          <a:sym typeface="Noto Sans"/>
                        </a:rPr>
                        <a:t>Tính năng nổi bật:</a:t>
                      </a:r>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Test Scripts: Hỗ trợ viết kịch bản kiểm thử tự động.</a:t>
                      </a:r>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Quản lý môi trường: Chuyển đổi linh hoạt giữa các môi trường (Local, Dev, Prod...).</a:t>
                      </a:r>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Collection Runner: Chạy kiểm thử hàng loạt API cùng lúc.</a:t>
                      </a:r>
                    </a:p>
                    <a:p>
                      <a:pPr algn="just" marL="539749" indent="-269875" lvl="1">
                        <a:lnSpc>
                          <a:spcPts val="3499"/>
                        </a:lnSpc>
                        <a:buFont typeface="Arial"/>
                        <a:buChar char="•"/>
                      </a:pPr>
                      <a:r>
                        <a:rPr lang="en-US" sz="2499">
                          <a:solidFill>
                            <a:srgbClr val="383838"/>
                          </a:solidFill>
                          <a:latin typeface="Noto Sans"/>
                          <a:ea typeface="Noto Sans"/>
                          <a:cs typeface="Noto Sans"/>
                          <a:sym typeface="Noto Sans"/>
                        </a:rPr>
                        <a:t>Dữ liệu động: Nhập dữ liệu test từ file ngoại vi (CSV, JSON).</a:t>
                      </a:r>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sp>
        <p:nvSpPr>
          <p:cNvPr name="Freeform 3" id="3"/>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795761" y="2333091"/>
            <a:ext cx="6599322" cy="6603518"/>
          </a:xfrm>
          <a:custGeom>
            <a:avLst/>
            <a:gdLst/>
            <a:ahLst/>
            <a:cxnLst/>
            <a:rect r="r" b="b" t="t" l="l"/>
            <a:pathLst>
              <a:path h="6603518" w="6599322">
                <a:moveTo>
                  <a:pt x="0" y="0"/>
                </a:moveTo>
                <a:lnTo>
                  <a:pt x="6599322" y="0"/>
                </a:lnTo>
                <a:lnTo>
                  <a:pt x="6599322" y="6603518"/>
                </a:lnTo>
                <a:lnTo>
                  <a:pt x="0" y="6603518"/>
                </a:lnTo>
                <a:lnTo>
                  <a:pt x="0" y="0"/>
                </a:lnTo>
                <a:close/>
              </a:path>
            </a:pathLst>
          </a:custGeom>
          <a:blipFill>
            <a:blip r:embed="rId4"/>
            <a:stretch>
              <a:fillRect l="-8104" t="0" r="-8104" b="0"/>
            </a:stretch>
          </a:blipFill>
        </p:spPr>
      </p:sp>
      <p:sp>
        <p:nvSpPr>
          <p:cNvPr name="TextBox 5" id="5"/>
          <p:cNvSpPr txBox="true"/>
          <p:nvPr/>
        </p:nvSpPr>
        <p:spPr>
          <a:xfrm rot="0">
            <a:off x="706109" y="222250"/>
            <a:ext cx="7479117" cy="806450"/>
          </a:xfrm>
          <a:prstGeom prst="rect">
            <a:avLst/>
          </a:prstGeom>
        </p:spPr>
        <p:txBody>
          <a:bodyPr anchor="t" rtlCol="false" tIns="0" lIns="0" bIns="0" rIns="0">
            <a:spAutoFit/>
          </a:bodyPr>
          <a:lstStyle/>
          <a:p>
            <a:pPr algn="l">
              <a:lnSpc>
                <a:spcPts val="6400"/>
              </a:lnSpc>
              <a:spcBef>
                <a:spcPct val="0"/>
              </a:spcBef>
            </a:pPr>
            <a:r>
              <a:rPr lang="en-US" b="true" sz="5000" spc="-125">
                <a:solidFill>
                  <a:srgbClr val="383838"/>
                </a:solidFill>
                <a:latin typeface="Noto Sans Bold"/>
                <a:ea typeface="Noto Sans Bold"/>
                <a:cs typeface="Noto Sans Bold"/>
                <a:sym typeface="Noto Sans Bold"/>
              </a:rPr>
              <a:t>Công nghệ áp dụng</a:t>
            </a:r>
          </a:p>
        </p:txBody>
      </p:sp>
      <p:sp>
        <p:nvSpPr>
          <p:cNvPr name="TextBox 6" id="6"/>
          <p:cNvSpPr txBox="true"/>
          <p:nvPr/>
        </p:nvSpPr>
        <p:spPr>
          <a:xfrm rot="0">
            <a:off x="11258853" y="9258427"/>
            <a:ext cx="4449862" cy="321564"/>
          </a:xfrm>
          <a:prstGeom prst="rect">
            <a:avLst/>
          </a:prstGeom>
        </p:spPr>
        <p:txBody>
          <a:bodyPr anchor="t" rtlCol="false" tIns="0" lIns="0" bIns="0" rIns="0">
            <a:spAutoFit/>
          </a:bodyPr>
          <a:lstStyle/>
          <a:p>
            <a:pPr algn="ctr">
              <a:lnSpc>
                <a:spcPts val="2687"/>
              </a:lnSpc>
              <a:spcBef>
                <a:spcPct val="0"/>
              </a:spcBef>
            </a:pPr>
            <a:r>
              <a:rPr lang="en-US" sz="2099" i="true" spc="-52">
                <a:solidFill>
                  <a:srgbClr val="383838"/>
                </a:solidFill>
                <a:latin typeface="Noto Sans Italics"/>
                <a:ea typeface="Noto Sans Italics"/>
                <a:cs typeface="Noto Sans Italics"/>
                <a:sym typeface="Noto Sans Italics"/>
              </a:rPr>
              <a:t>Hình 12: Công nghệ Postman cho CI/CD</a:t>
            </a:r>
          </a:p>
        </p:txBody>
      </p:sp>
      <p:sp>
        <p:nvSpPr>
          <p:cNvPr name="TextBox 7" id="7"/>
          <p:cNvSpPr txBox="true"/>
          <p:nvPr/>
        </p:nvSpPr>
        <p:spPr>
          <a:xfrm rot="0">
            <a:off x="1483271" y="1293597"/>
            <a:ext cx="1568748" cy="474345"/>
          </a:xfrm>
          <a:prstGeom prst="rect">
            <a:avLst/>
          </a:prstGeom>
        </p:spPr>
        <p:txBody>
          <a:bodyPr anchor="t" rtlCol="false" tIns="0" lIns="0" bIns="0" rIns="0">
            <a:spAutoFit/>
          </a:bodyPr>
          <a:lstStyle/>
          <a:p>
            <a:pPr algn="ctr">
              <a:lnSpc>
                <a:spcPts val="3840"/>
              </a:lnSpc>
              <a:spcBef>
                <a:spcPct val="0"/>
              </a:spcBef>
            </a:pPr>
            <a:r>
              <a:rPr lang="en-US" b="true" sz="3000" spc="-75">
                <a:solidFill>
                  <a:srgbClr val="383838"/>
                </a:solidFill>
                <a:latin typeface="Noto Sans Bold"/>
                <a:ea typeface="Noto Sans Bold"/>
                <a:cs typeface="Noto Sans Bold"/>
                <a:sym typeface="Noto Sans Bold"/>
              </a:rPr>
              <a:t>Về CI/CD</a:t>
            </a:r>
          </a:p>
        </p:txBody>
      </p:sp>
    </p:spTree>
  </p:cSld>
  <p:clrMapOvr>
    <a:masterClrMapping/>
  </p:clrMapOvr>
  <p:transition spd="fast">
    <p:push dir="l"/>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2392934"/>
          <a:ext cx="8718420" cy="6877050"/>
        </p:xfrm>
        <a:graphic>
          <a:graphicData uri="http://schemas.openxmlformats.org/drawingml/2006/table">
            <a:tbl>
              <a:tblPr/>
              <a:tblGrid>
                <a:gridCol w="1835442"/>
                <a:gridCol w="6882978"/>
              </a:tblGrid>
              <a:tr h="6877050">
                <a:tc>
                  <a:txBody>
                    <a:bodyPr anchor="t" rtlCol="false"/>
                    <a:lstStyle/>
                    <a:p>
                      <a:pPr algn="l">
                        <a:lnSpc>
                          <a:spcPts val="3220"/>
                        </a:lnSpc>
                        <a:defRPr/>
                      </a:pPr>
                      <a:r>
                        <a:rPr lang="en-US" sz="2300" b="true">
                          <a:solidFill>
                            <a:srgbClr val="383838"/>
                          </a:solidFill>
                          <a:latin typeface="Noto Sans Bold"/>
                          <a:ea typeface="Noto Sans Bold"/>
                          <a:cs typeface="Noto Sans Bold"/>
                          <a:sym typeface="Noto Sans Bold"/>
                        </a:rPr>
                        <a:t>Cloudinary</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c>
                  <a:txBody>
                    <a:bodyPr anchor="t" rtlCol="false"/>
                    <a:lstStyle/>
                    <a:p>
                      <a:pPr algn="just">
                        <a:lnSpc>
                          <a:spcPts val="3499"/>
                        </a:lnSpc>
                        <a:defRPr/>
                      </a:pPr>
                      <a:r>
                        <a:rPr lang="en-US" sz="2499">
                          <a:solidFill>
                            <a:srgbClr val="383838"/>
                          </a:solidFill>
                          <a:latin typeface="Noto Sans"/>
                          <a:ea typeface="Noto Sans"/>
                          <a:cs typeface="Noto Sans"/>
                          <a:sym typeface="Noto Sans"/>
                        </a:rPr>
                        <a:t>Tính năng chính:</a:t>
                      </a:r>
                      <a:endParaRPr lang="en-US" sz="1100"/>
                    </a:p>
                    <a:p>
                      <a:pPr algn="just" marL="539745" indent="-269872" lvl="1">
                        <a:lnSpc>
                          <a:spcPts val="3499"/>
                        </a:lnSpc>
                        <a:buFont typeface="Arial"/>
                        <a:buChar char="•"/>
                      </a:pPr>
                      <a:r>
                        <a:rPr lang="en-US" sz="2499">
                          <a:solidFill>
                            <a:srgbClr val="383838"/>
                          </a:solidFill>
                          <a:latin typeface="Noto Sans"/>
                          <a:ea typeface="Noto Sans"/>
                          <a:cs typeface="Noto Sans"/>
                          <a:sym typeface="Noto Sans"/>
                        </a:rPr>
                        <a:t>Lưu trữ an toàn, quản lý tập trung</a:t>
                      </a:r>
                    </a:p>
                    <a:p>
                      <a:pPr algn="just" marL="539745" indent="-269872" lvl="1">
                        <a:lnSpc>
                          <a:spcPts val="3499"/>
                        </a:lnSpc>
                        <a:buFont typeface="Arial"/>
                        <a:buChar char="•"/>
                      </a:pPr>
                      <a:r>
                        <a:rPr lang="en-US" sz="2499">
                          <a:solidFill>
                            <a:srgbClr val="383838"/>
                          </a:solidFill>
                          <a:latin typeface="Noto Sans"/>
                          <a:ea typeface="Noto Sans"/>
                          <a:cs typeface="Noto Sans"/>
                          <a:sym typeface="Noto Sans"/>
                        </a:rPr>
                        <a:t>Xử lý ảnh/video động qua URL (resize, crop, watermark...)</a:t>
                      </a:r>
                    </a:p>
                    <a:p>
                      <a:pPr algn="just" marL="539745" indent="-269872" lvl="1">
                        <a:lnSpc>
                          <a:spcPts val="3499"/>
                        </a:lnSpc>
                        <a:buFont typeface="Arial"/>
                        <a:buChar char="•"/>
                      </a:pPr>
                      <a:r>
                        <a:rPr lang="en-US" sz="2499">
                          <a:solidFill>
                            <a:srgbClr val="383838"/>
                          </a:solidFill>
                          <a:latin typeface="Noto Sans"/>
                          <a:ea typeface="Noto Sans"/>
                          <a:cs typeface="Noto Sans"/>
                          <a:sym typeface="Noto Sans"/>
                        </a:rPr>
                        <a:t>Tối ưu dung lượng, tăng tốc tải trang</a:t>
                      </a:r>
                    </a:p>
                    <a:p>
                      <a:pPr algn="just" marL="539745" indent="-269872" lvl="1">
                        <a:lnSpc>
                          <a:spcPts val="3499"/>
                        </a:lnSpc>
                        <a:buFont typeface="Arial"/>
                        <a:buChar char="•"/>
                      </a:pPr>
                      <a:r>
                        <a:rPr lang="en-US" sz="2499">
                          <a:solidFill>
                            <a:srgbClr val="383838"/>
                          </a:solidFill>
                          <a:latin typeface="Noto Sans"/>
                          <a:ea typeface="Noto Sans"/>
                          <a:cs typeface="Noto Sans"/>
                          <a:sym typeface="Noto Sans"/>
                        </a:rPr>
                        <a:t>Tích hợp CDN giúp truy cập nhanh toàn cầu</a:t>
                      </a:r>
                    </a:p>
                    <a:p>
                      <a:pPr algn="just">
                        <a:lnSpc>
                          <a:spcPts val="3499"/>
                        </a:lnSpc>
                      </a:pPr>
                      <a:r>
                        <a:rPr lang="en-US" sz="2499">
                          <a:solidFill>
                            <a:srgbClr val="383838"/>
                          </a:solidFill>
                          <a:latin typeface="Noto Sans"/>
                          <a:ea typeface="Noto Sans"/>
                          <a:cs typeface="Noto Sans"/>
                          <a:sym typeface="Noto Sans"/>
                        </a:rPr>
                        <a:t>Ưu điểm:</a:t>
                      </a:r>
                    </a:p>
                    <a:p>
                      <a:pPr algn="just" marL="539745" indent="-269872" lvl="1">
                        <a:lnSpc>
                          <a:spcPts val="3499"/>
                        </a:lnSpc>
                        <a:buFont typeface="Arial"/>
                        <a:buChar char="•"/>
                      </a:pPr>
                      <a:r>
                        <a:rPr lang="en-US" sz="2499">
                          <a:solidFill>
                            <a:srgbClr val="383838"/>
                          </a:solidFill>
                          <a:latin typeface="Noto Sans"/>
                          <a:ea typeface="Noto Sans"/>
                          <a:cs typeface="Noto Sans"/>
                          <a:sym typeface="Noto Sans"/>
                        </a:rPr>
                        <a:t>Giảm tải cho server (không cần xử lý/lưu file)</a:t>
                      </a:r>
                    </a:p>
                    <a:p>
                      <a:pPr algn="just" marL="539745" indent="-269872" lvl="1">
                        <a:lnSpc>
                          <a:spcPts val="3499"/>
                        </a:lnSpc>
                        <a:buFont typeface="Arial"/>
                        <a:buChar char="•"/>
                      </a:pPr>
                      <a:r>
                        <a:rPr lang="en-US" sz="2499">
                          <a:solidFill>
                            <a:srgbClr val="383838"/>
                          </a:solidFill>
                          <a:latin typeface="Noto Sans"/>
                          <a:ea typeface="Noto Sans"/>
                          <a:cs typeface="Noto Sans"/>
                          <a:sym typeface="Noto Sans"/>
                        </a:rPr>
                        <a:t>Dễ tích hợp với nhiều ngôn ngữ</a:t>
                      </a:r>
                    </a:p>
                    <a:p>
                      <a:pPr algn="just" marL="539745" indent="-269872" lvl="1">
                        <a:lnSpc>
                          <a:spcPts val="3499"/>
                        </a:lnSpc>
                        <a:buFont typeface="Arial"/>
                        <a:buChar char="•"/>
                      </a:pPr>
                      <a:r>
                        <a:rPr lang="en-US" sz="2499">
                          <a:solidFill>
                            <a:srgbClr val="383838"/>
                          </a:solidFill>
                          <a:latin typeface="Noto Sans"/>
                          <a:ea typeface="Noto Sans"/>
                          <a:cs typeface="Noto Sans"/>
                          <a:sym typeface="Noto Sans"/>
                        </a:rPr>
                        <a:t>Có hỗ trợ AI (nhận diện, cắt ảnh, gắn tag...)</a:t>
                      </a:r>
                    </a:p>
                    <a:p>
                      <a:pPr algn="just" marL="539745" indent="-269872" lvl="1">
                        <a:lnSpc>
                          <a:spcPts val="3499"/>
                        </a:lnSpc>
                        <a:buFont typeface="Arial"/>
                        <a:buChar char="•"/>
                      </a:pPr>
                      <a:r>
                        <a:rPr lang="en-US" sz="2499">
                          <a:solidFill>
                            <a:srgbClr val="383838"/>
                          </a:solidFill>
                          <a:latin typeface="Noto Sans"/>
                          <a:ea typeface="Noto Sans"/>
                          <a:cs typeface="Noto Sans"/>
                          <a:sym typeface="Noto Sans"/>
                        </a:rPr>
                        <a:t>Phù hợp kiến trúc Docker, Microservices (nhẹ, dễ scale)</a:t>
                      </a:r>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sp>
        <p:nvSpPr>
          <p:cNvPr name="Freeform 3" id="3"/>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72807" y="2589063"/>
            <a:ext cx="6986493" cy="5108873"/>
          </a:xfrm>
          <a:custGeom>
            <a:avLst/>
            <a:gdLst/>
            <a:ahLst/>
            <a:cxnLst/>
            <a:rect r="r" b="b" t="t" l="l"/>
            <a:pathLst>
              <a:path h="5108873" w="6986493">
                <a:moveTo>
                  <a:pt x="0" y="0"/>
                </a:moveTo>
                <a:lnTo>
                  <a:pt x="6986493" y="0"/>
                </a:lnTo>
                <a:lnTo>
                  <a:pt x="6986493" y="5108874"/>
                </a:lnTo>
                <a:lnTo>
                  <a:pt x="0" y="5108874"/>
                </a:lnTo>
                <a:lnTo>
                  <a:pt x="0" y="0"/>
                </a:lnTo>
                <a:close/>
              </a:path>
            </a:pathLst>
          </a:custGeom>
          <a:blipFill>
            <a:blip r:embed="rId4"/>
            <a:stretch>
              <a:fillRect l="0" t="0" r="0" b="0"/>
            </a:stretch>
          </a:blipFill>
        </p:spPr>
      </p:sp>
      <p:sp>
        <p:nvSpPr>
          <p:cNvPr name="TextBox 5" id="5"/>
          <p:cNvSpPr txBox="true"/>
          <p:nvPr/>
        </p:nvSpPr>
        <p:spPr>
          <a:xfrm rot="0">
            <a:off x="565907" y="222325"/>
            <a:ext cx="8115300" cy="806375"/>
          </a:xfrm>
          <a:prstGeom prst="rect">
            <a:avLst/>
          </a:prstGeom>
        </p:spPr>
        <p:txBody>
          <a:bodyPr anchor="t" rtlCol="false" tIns="0" lIns="0" bIns="0" rIns="0">
            <a:spAutoFit/>
          </a:bodyPr>
          <a:lstStyle/>
          <a:p>
            <a:pPr algn="l">
              <a:lnSpc>
                <a:spcPts val="6409"/>
              </a:lnSpc>
              <a:spcBef>
                <a:spcPct val="0"/>
              </a:spcBef>
            </a:pPr>
            <a:r>
              <a:rPr lang="en-US" b="true" sz="5007" spc="-125">
                <a:solidFill>
                  <a:srgbClr val="383838"/>
                </a:solidFill>
                <a:latin typeface="Noto Sans Bold"/>
                <a:ea typeface="Noto Sans Bold"/>
                <a:cs typeface="Noto Sans Bold"/>
                <a:sym typeface="Noto Sans Bold"/>
              </a:rPr>
              <a:t>Công nghệ áp dụng</a:t>
            </a:r>
          </a:p>
        </p:txBody>
      </p:sp>
      <p:sp>
        <p:nvSpPr>
          <p:cNvPr name="TextBox 6" id="6"/>
          <p:cNvSpPr txBox="true"/>
          <p:nvPr/>
        </p:nvSpPr>
        <p:spPr>
          <a:xfrm rot="0">
            <a:off x="10470255" y="8129440"/>
            <a:ext cx="6591598" cy="366141"/>
          </a:xfrm>
          <a:prstGeom prst="rect">
            <a:avLst/>
          </a:prstGeom>
        </p:spPr>
        <p:txBody>
          <a:bodyPr anchor="t" rtlCol="false" tIns="0" lIns="0" bIns="0" rIns="0">
            <a:spAutoFit/>
          </a:bodyPr>
          <a:lstStyle/>
          <a:p>
            <a:pPr algn="ctr">
              <a:lnSpc>
                <a:spcPts val="3072"/>
              </a:lnSpc>
              <a:spcBef>
                <a:spcPct val="0"/>
              </a:spcBef>
            </a:pPr>
            <a:r>
              <a:rPr lang="en-US" sz="2400" i="true" spc="-60">
                <a:solidFill>
                  <a:srgbClr val="383838"/>
                </a:solidFill>
                <a:latin typeface="Noto Sans Italics"/>
                <a:ea typeface="Noto Sans Italics"/>
                <a:cs typeface="Noto Sans Italics"/>
                <a:sym typeface="Noto Sans Italics"/>
              </a:rPr>
              <a:t>Hình 13: Cloudinary cho việc lưu trữ hình ảnh/video</a:t>
            </a:r>
          </a:p>
        </p:txBody>
      </p:sp>
      <p:sp>
        <p:nvSpPr>
          <p:cNvPr name="TextBox 7" id="7"/>
          <p:cNvSpPr txBox="true"/>
          <p:nvPr/>
        </p:nvSpPr>
        <p:spPr>
          <a:xfrm rot="0">
            <a:off x="1028700" y="1389025"/>
            <a:ext cx="7189714" cy="474345"/>
          </a:xfrm>
          <a:prstGeom prst="rect">
            <a:avLst/>
          </a:prstGeom>
        </p:spPr>
        <p:txBody>
          <a:bodyPr anchor="t" rtlCol="false" tIns="0" lIns="0" bIns="0" rIns="0">
            <a:spAutoFit/>
          </a:bodyPr>
          <a:lstStyle/>
          <a:p>
            <a:pPr algn="ctr">
              <a:lnSpc>
                <a:spcPts val="3840"/>
              </a:lnSpc>
              <a:spcBef>
                <a:spcPct val="0"/>
              </a:spcBef>
            </a:pPr>
            <a:r>
              <a:rPr lang="en-US" b="true" sz="3000" spc="-75">
                <a:solidFill>
                  <a:srgbClr val="383838"/>
                </a:solidFill>
                <a:latin typeface="Noto Sans Bold"/>
                <a:ea typeface="Noto Sans Bold"/>
                <a:cs typeface="Noto Sans Bold"/>
                <a:sym typeface="Noto Sans Bold"/>
              </a:rPr>
              <a:t>Về việc lưu trữ hình ảnh/video</a:t>
            </a:r>
          </a:p>
        </p:txBody>
      </p:sp>
    </p:spTree>
  </p:cSld>
  <p:clrMapOvr>
    <a:masterClrMapping/>
  </p:clrMapOvr>
  <p:transition spd="fast">
    <p:push dir="l"/>
  </p:transition>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599399" y="6866949"/>
            <a:ext cx="659901" cy="643383"/>
          </a:xfrm>
          <a:custGeom>
            <a:avLst/>
            <a:gdLst/>
            <a:ahLst/>
            <a:cxnLst/>
            <a:rect r="r" b="b" t="t" l="l"/>
            <a:pathLst>
              <a:path h="643383" w="659901">
                <a:moveTo>
                  <a:pt x="0" y="0"/>
                </a:moveTo>
                <a:lnTo>
                  <a:pt x="659901" y="0"/>
                </a:lnTo>
                <a:lnTo>
                  <a:pt x="659901" y="643383"/>
                </a:lnTo>
                <a:lnTo>
                  <a:pt x="0" y="6433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0" y="981075"/>
            <a:ext cx="11360409" cy="832919"/>
          </a:xfrm>
          <a:prstGeom prst="rect">
            <a:avLst/>
          </a:prstGeom>
        </p:spPr>
        <p:txBody>
          <a:bodyPr anchor="t" rtlCol="false" tIns="0" lIns="0" bIns="0" rIns="0">
            <a:spAutoFit/>
          </a:bodyPr>
          <a:lstStyle/>
          <a:p>
            <a:pPr algn="ctr">
              <a:lnSpc>
                <a:spcPts val="6665"/>
              </a:lnSpc>
              <a:spcBef>
                <a:spcPct val="0"/>
              </a:spcBef>
            </a:pPr>
            <a:r>
              <a:rPr lang="en-US" b="true" sz="5207" spc="-130">
                <a:solidFill>
                  <a:srgbClr val="383838"/>
                </a:solidFill>
                <a:latin typeface="Decalotype Bold"/>
                <a:ea typeface="Decalotype Bold"/>
                <a:cs typeface="Decalotype Bold"/>
                <a:sym typeface="Decalotype Bold"/>
              </a:rPr>
              <a:t>Kiến trúc Nodejs và Micro-service</a:t>
            </a:r>
          </a:p>
        </p:txBody>
      </p:sp>
      <p:sp>
        <p:nvSpPr>
          <p:cNvPr name="AutoShape 4" id="4"/>
          <p:cNvSpPr/>
          <p:nvPr/>
        </p:nvSpPr>
        <p:spPr>
          <a:xfrm flipV="true">
            <a:off x="900314" y="2925254"/>
            <a:ext cx="15851548" cy="0"/>
          </a:xfrm>
          <a:prstGeom prst="line">
            <a:avLst/>
          </a:prstGeom>
          <a:ln cap="flat" w="9525">
            <a:solidFill>
              <a:srgbClr val="737373"/>
            </a:solidFill>
            <a:prstDash val="solid"/>
            <a:headEnd type="none" len="sm" w="sm"/>
            <a:tailEnd type="none" len="sm" w="sm"/>
          </a:ln>
        </p:spPr>
      </p:sp>
      <p:grpSp>
        <p:nvGrpSpPr>
          <p:cNvPr name="Group 5" id="5"/>
          <p:cNvGrpSpPr/>
          <p:nvPr/>
        </p:nvGrpSpPr>
        <p:grpSpPr>
          <a:xfrm rot="0">
            <a:off x="900314" y="2776668"/>
            <a:ext cx="297173" cy="2971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838"/>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621"/>
                </a:lnSpc>
              </a:pPr>
            </a:p>
          </p:txBody>
        </p:sp>
      </p:grpSp>
      <p:grpSp>
        <p:nvGrpSpPr>
          <p:cNvPr name="Group 8" id="8"/>
          <p:cNvGrpSpPr/>
          <p:nvPr/>
        </p:nvGrpSpPr>
        <p:grpSpPr>
          <a:xfrm rot="0">
            <a:off x="6786816" y="2776668"/>
            <a:ext cx="297173" cy="2971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838"/>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621"/>
                </a:lnSpc>
              </a:pPr>
            </a:p>
          </p:txBody>
        </p:sp>
      </p:grpSp>
      <p:grpSp>
        <p:nvGrpSpPr>
          <p:cNvPr name="Group 11" id="11"/>
          <p:cNvGrpSpPr/>
          <p:nvPr/>
        </p:nvGrpSpPr>
        <p:grpSpPr>
          <a:xfrm rot="0">
            <a:off x="12469684" y="2776668"/>
            <a:ext cx="297173" cy="29717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3838"/>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21"/>
                </a:lnSpc>
              </a:pPr>
            </a:p>
          </p:txBody>
        </p:sp>
      </p:grpSp>
      <p:sp>
        <p:nvSpPr>
          <p:cNvPr name="TextBox 14" id="14"/>
          <p:cNvSpPr txBox="true"/>
          <p:nvPr/>
        </p:nvSpPr>
        <p:spPr>
          <a:xfrm rot="0">
            <a:off x="900314" y="3348454"/>
            <a:ext cx="2778873" cy="438277"/>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Decalotype Ultra-Bold"/>
                <a:ea typeface="Decalotype Ultra-Bold"/>
                <a:cs typeface="Decalotype Ultra-Bold"/>
                <a:sym typeface="Decalotype Ultra-Bold"/>
              </a:rPr>
              <a:t>Node.js</a:t>
            </a:r>
          </a:p>
        </p:txBody>
      </p:sp>
      <p:sp>
        <p:nvSpPr>
          <p:cNvPr name="TextBox 15" id="15"/>
          <p:cNvSpPr txBox="true"/>
          <p:nvPr/>
        </p:nvSpPr>
        <p:spPr>
          <a:xfrm rot="0">
            <a:off x="1048900" y="4015331"/>
            <a:ext cx="4393960" cy="1779270"/>
          </a:xfrm>
          <a:prstGeom prst="rect">
            <a:avLst/>
          </a:prstGeom>
        </p:spPr>
        <p:txBody>
          <a:bodyPr anchor="t" rtlCol="false" tIns="0" lIns="0" bIns="0" rIns="0">
            <a:spAutoFit/>
          </a:bodyPr>
          <a:lstStyle/>
          <a:p>
            <a:pPr algn="l" marL="531111" indent="-265555" lvl="1">
              <a:lnSpc>
                <a:spcPts val="3566"/>
              </a:lnSpc>
              <a:buFont typeface="Arial"/>
              <a:buChar char="•"/>
            </a:pPr>
            <a:r>
              <a:rPr lang="en-US" sz="2459">
                <a:solidFill>
                  <a:srgbClr val="383838"/>
                </a:solidFill>
                <a:latin typeface="Decalotype"/>
                <a:ea typeface="Decalotype"/>
                <a:cs typeface="Decalotype"/>
                <a:sym typeface="Decalotype"/>
              </a:rPr>
              <a:t>Mô hình asynchronous + event-driven</a:t>
            </a:r>
          </a:p>
          <a:p>
            <a:pPr algn="l" marL="531111" indent="-265555" lvl="1">
              <a:lnSpc>
                <a:spcPts val="3566"/>
              </a:lnSpc>
              <a:buFont typeface="Arial"/>
              <a:buChar char="•"/>
            </a:pPr>
            <a:r>
              <a:rPr lang="en-US" sz="2459">
                <a:solidFill>
                  <a:srgbClr val="383838"/>
                </a:solidFill>
                <a:latin typeface="Decalotype"/>
                <a:ea typeface="Decalotype"/>
                <a:cs typeface="Decalotype"/>
                <a:sym typeface="Decalotype"/>
              </a:rPr>
              <a:t>Xử lý nhiều request hiệu quả</a:t>
            </a:r>
          </a:p>
          <a:p>
            <a:pPr algn="l" marL="0" indent="0" lvl="0">
              <a:lnSpc>
                <a:spcPts val="3566"/>
              </a:lnSpc>
              <a:spcBef>
                <a:spcPct val="0"/>
              </a:spcBef>
            </a:pPr>
          </a:p>
        </p:txBody>
      </p:sp>
      <p:sp>
        <p:nvSpPr>
          <p:cNvPr name="TextBox 16" id="16"/>
          <p:cNvSpPr txBox="true"/>
          <p:nvPr/>
        </p:nvSpPr>
        <p:spPr>
          <a:xfrm rot="0">
            <a:off x="6709645" y="3348454"/>
            <a:ext cx="2778873" cy="438277"/>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Decalotype Ultra-Bold"/>
                <a:ea typeface="Decalotype Ultra-Bold"/>
                <a:cs typeface="Decalotype Ultra-Bold"/>
                <a:sym typeface="Decalotype Ultra-Bold"/>
              </a:rPr>
              <a:t>Sử dụng NestJS</a:t>
            </a:r>
          </a:p>
        </p:txBody>
      </p:sp>
      <p:sp>
        <p:nvSpPr>
          <p:cNvPr name="TextBox 17" id="17"/>
          <p:cNvSpPr txBox="true"/>
          <p:nvPr/>
        </p:nvSpPr>
        <p:spPr>
          <a:xfrm rot="0">
            <a:off x="6904602" y="4015331"/>
            <a:ext cx="4067680" cy="1331595"/>
          </a:xfrm>
          <a:prstGeom prst="rect">
            <a:avLst/>
          </a:prstGeom>
        </p:spPr>
        <p:txBody>
          <a:bodyPr anchor="t" rtlCol="false" tIns="0" lIns="0" bIns="0" rIns="0">
            <a:spAutoFit/>
          </a:bodyPr>
          <a:lstStyle/>
          <a:p>
            <a:pPr algn="l" marL="531111" indent="-265555" lvl="1">
              <a:lnSpc>
                <a:spcPts val="3566"/>
              </a:lnSpc>
              <a:buFont typeface="Arial"/>
              <a:buChar char="•"/>
            </a:pPr>
            <a:r>
              <a:rPr lang="en-US" sz="2459">
                <a:solidFill>
                  <a:srgbClr val="383838"/>
                </a:solidFill>
                <a:latin typeface="Decalotype"/>
                <a:ea typeface="Decalotype"/>
                <a:cs typeface="Decalotype"/>
                <a:sym typeface="Decalotype"/>
              </a:rPr>
              <a:t>Cấu trúc module rõ ràng</a:t>
            </a:r>
          </a:p>
          <a:p>
            <a:pPr algn="l" marL="531111" indent="-265555" lvl="1">
              <a:lnSpc>
                <a:spcPts val="3566"/>
              </a:lnSpc>
              <a:buFont typeface="Arial"/>
              <a:buChar char="•"/>
            </a:pPr>
            <a:r>
              <a:rPr lang="en-US" sz="2459">
                <a:solidFill>
                  <a:srgbClr val="383838"/>
                </a:solidFill>
                <a:latin typeface="Decalotype"/>
                <a:ea typeface="Decalotype"/>
                <a:cs typeface="Decalotype"/>
                <a:sym typeface="Decalotype"/>
              </a:rPr>
              <a:t>Hỗ trợ dependency injection</a:t>
            </a:r>
          </a:p>
          <a:p>
            <a:pPr algn="l" marL="0" indent="0" lvl="0">
              <a:lnSpc>
                <a:spcPts val="3566"/>
              </a:lnSpc>
              <a:spcBef>
                <a:spcPct val="0"/>
              </a:spcBef>
            </a:pPr>
          </a:p>
        </p:txBody>
      </p:sp>
      <p:sp>
        <p:nvSpPr>
          <p:cNvPr name="TextBox 18" id="18"/>
          <p:cNvSpPr txBox="true"/>
          <p:nvPr/>
        </p:nvSpPr>
        <p:spPr>
          <a:xfrm rot="0">
            <a:off x="12517468" y="3348454"/>
            <a:ext cx="3603273" cy="438277"/>
          </a:xfrm>
          <a:prstGeom prst="rect">
            <a:avLst/>
          </a:prstGeom>
        </p:spPr>
        <p:txBody>
          <a:bodyPr anchor="t" rtlCol="false" tIns="0" lIns="0" bIns="0" rIns="0">
            <a:spAutoFit/>
          </a:bodyPr>
          <a:lstStyle/>
          <a:p>
            <a:pPr algn="l" marL="0" indent="0" lvl="0">
              <a:lnSpc>
                <a:spcPts val="3583"/>
              </a:lnSpc>
            </a:pPr>
            <a:r>
              <a:rPr lang="en-US" b="true" sz="2799" spc="-69">
                <a:solidFill>
                  <a:srgbClr val="383838"/>
                </a:solidFill>
                <a:latin typeface="Decalotype Ultra-Bold"/>
                <a:ea typeface="Decalotype Ultra-Bold"/>
                <a:cs typeface="Decalotype Ultra-Bold"/>
                <a:sym typeface="Decalotype Ultra-Bold"/>
              </a:rPr>
              <a:t>Kiến trúc Microservices</a:t>
            </a:r>
          </a:p>
        </p:txBody>
      </p:sp>
      <p:sp>
        <p:nvSpPr>
          <p:cNvPr name="TextBox 19" id="19"/>
          <p:cNvSpPr txBox="true"/>
          <p:nvPr/>
        </p:nvSpPr>
        <p:spPr>
          <a:xfrm rot="0">
            <a:off x="12618271" y="4015331"/>
            <a:ext cx="4512643" cy="2674620"/>
          </a:xfrm>
          <a:prstGeom prst="rect">
            <a:avLst/>
          </a:prstGeom>
        </p:spPr>
        <p:txBody>
          <a:bodyPr anchor="t" rtlCol="false" tIns="0" lIns="0" bIns="0" rIns="0">
            <a:spAutoFit/>
          </a:bodyPr>
          <a:lstStyle/>
          <a:p>
            <a:pPr algn="l" marL="531111" indent="-265555" lvl="1">
              <a:lnSpc>
                <a:spcPts val="3566"/>
              </a:lnSpc>
              <a:buFont typeface="Arial"/>
              <a:buChar char="•"/>
            </a:pPr>
            <a:r>
              <a:rPr lang="en-US" sz="2459">
                <a:solidFill>
                  <a:srgbClr val="383838"/>
                </a:solidFill>
                <a:latin typeface="Decalotype"/>
                <a:ea typeface="Decalotype"/>
                <a:cs typeface="Decalotype"/>
                <a:sym typeface="Decalotype"/>
              </a:rPr>
              <a:t>Chia hệ thống thành nhiều service nhỏ: Product, User, Auth, Cart, Order...</a:t>
            </a:r>
          </a:p>
          <a:p>
            <a:pPr algn="l" marL="531111" indent="-265555" lvl="1">
              <a:lnSpc>
                <a:spcPts val="3566"/>
              </a:lnSpc>
              <a:buFont typeface="Arial"/>
              <a:buChar char="•"/>
            </a:pPr>
            <a:r>
              <a:rPr lang="en-US" sz="2459">
                <a:solidFill>
                  <a:srgbClr val="383838"/>
                </a:solidFill>
                <a:latin typeface="Decalotype"/>
                <a:ea typeface="Decalotype"/>
                <a:cs typeface="Decalotype"/>
                <a:sym typeface="Decalotype"/>
              </a:rPr>
              <a:t>Mỗi service độc lập, giao tiếp qua API</a:t>
            </a:r>
          </a:p>
          <a:p>
            <a:pPr algn="l" marL="0" indent="0" lvl="0">
              <a:lnSpc>
                <a:spcPts val="3566"/>
              </a:lnSpc>
              <a:spcBef>
                <a:spcPct val="0"/>
              </a:spcBef>
            </a:pPr>
          </a:p>
        </p:txBody>
      </p:sp>
    </p:spTree>
  </p:cSld>
  <p:clrMapOvr>
    <a:masterClrMapping/>
  </p:clrMapOvr>
  <p:transition spd="fast">
    <p:push dir="l"/>
  </p:transition>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859738" y="1932572"/>
            <a:ext cx="8954460" cy="5674889"/>
          </a:xfrm>
          <a:custGeom>
            <a:avLst/>
            <a:gdLst/>
            <a:ahLst/>
            <a:cxnLst/>
            <a:rect r="r" b="b" t="t" l="l"/>
            <a:pathLst>
              <a:path h="5674889" w="8954460">
                <a:moveTo>
                  <a:pt x="0" y="0"/>
                </a:moveTo>
                <a:lnTo>
                  <a:pt x="8954460" y="0"/>
                </a:lnTo>
                <a:lnTo>
                  <a:pt x="8954460" y="5674889"/>
                </a:lnTo>
                <a:lnTo>
                  <a:pt x="0" y="5674889"/>
                </a:lnTo>
                <a:lnTo>
                  <a:pt x="0" y="0"/>
                </a:lnTo>
                <a:close/>
              </a:path>
            </a:pathLst>
          </a:custGeom>
          <a:blipFill>
            <a:blip r:embed="rId4"/>
            <a:stretch>
              <a:fillRect l="0" t="0" r="0" b="0"/>
            </a:stretch>
          </a:blipFill>
        </p:spPr>
      </p:sp>
      <p:sp>
        <p:nvSpPr>
          <p:cNvPr name="TextBox 4" id="4"/>
          <p:cNvSpPr txBox="true"/>
          <p:nvPr/>
        </p:nvSpPr>
        <p:spPr>
          <a:xfrm rot="0">
            <a:off x="877398" y="195781"/>
            <a:ext cx="4191025"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API Gateway</a:t>
            </a:r>
          </a:p>
        </p:txBody>
      </p:sp>
      <p:sp>
        <p:nvSpPr>
          <p:cNvPr name="TextBox 5" id="5"/>
          <p:cNvSpPr txBox="true"/>
          <p:nvPr/>
        </p:nvSpPr>
        <p:spPr>
          <a:xfrm rot="0">
            <a:off x="1270241" y="2249866"/>
            <a:ext cx="7047777" cy="5046346"/>
          </a:xfrm>
          <a:prstGeom prst="rect">
            <a:avLst/>
          </a:prstGeom>
        </p:spPr>
        <p:txBody>
          <a:bodyPr anchor="t" rtlCol="false" tIns="0" lIns="0" bIns="0" rIns="0">
            <a:spAutoFit/>
          </a:bodyPr>
          <a:lstStyle/>
          <a:p>
            <a:pPr algn="just">
              <a:lnSpc>
                <a:spcPts val="4436"/>
              </a:lnSpc>
              <a:spcBef>
                <a:spcPct val="0"/>
              </a:spcBef>
            </a:pPr>
            <a:r>
              <a:rPr lang="en-US" sz="3059">
                <a:solidFill>
                  <a:srgbClr val="383838"/>
                </a:solidFill>
                <a:latin typeface="Decalotype"/>
                <a:ea typeface="Decalotype"/>
                <a:cs typeface="Decalotype"/>
                <a:sym typeface="Decalotype"/>
              </a:rPr>
              <a:t>API Gateway là trung gian giữa client và các microservice. Client gửi request đến gateway, sau đó gateway chuyển đến service phù hợp.</a:t>
            </a:r>
          </a:p>
          <a:p>
            <a:pPr algn="just">
              <a:lnSpc>
                <a:spcPts val="4436"/>
              </a:lnSpc>
              <a:spcBef>
                <a:spcPct val="0"/>
              </a:spcBef>
            </a:pPr>
            <a:r>
              <a:rPr lang="en-US" sz="3059">
                <a:solidFill>
                  <a:srgbClr val="383838"/>
                </a:solidFill>
                <a:latin typeface="Decalotype"/>
                <a:ea typeface="Decalotype"/>
                <a:cs typeface="Decalotype"/>
                <a:sym typeface="Decalotype"/>
              </a:rPr>
              <a:t>Trong hệ thống, gateway dùng NestJS, xử lý:</a:t>
            </a:r>
          </a:p>
          <a:p>
            <a:pPr algn="just" marL="660648" indent="-330324" lvl="1">
              <a:lnSpc>
                <a:spcPts val="4436"/>
              </a:lnSpc>
              <a:buFont typeface="Arial"/>
              <a:buChar char="•"/>
            </a:pPr>
            <a:r>
              <a:rPr lang="en-US" sz="3059">
                <a:solidFill>
                  <a:srgbClr val="383838"/>
                </a:solidFill>
                <a:latin typeface="Decalotype"/>
                <a:ea typeface="Decalotype"/>
                <a:cs typeface="Decalotype"/>
                <a:sym typeface="Decalotype"/>
              </a:rPr>
              <a:t>Xác thực (JWT)</a:t>
            </a:r>
          </a:p>
          <a:p>
            <a:pPr algn="just" marL="660648" indent="-330324" lvl="1">
              <a:lnSpc>
                <a:spcPts val="4436"/>
              </a:lnSpc>
              <a:buFont typeface="Arial"/>
              <a:buChar char="•"/>
            </a:pPr>
            <a:r>
              <a:rPr lang="en-US" sz="3059">
                <a:solidFill>
                  <a:srgbClr val="383838"/>
                </a:solidFill>
                <a:latin typeface="Decalotype"/>
                <a:ea typeface="Decalotype"/>
                <a:cs typeface="Decalotype"/>
                <a:sym typeface="Decalotype"/>
              </a:rPr>
              <a:t>Phân quyền</a:t>
            </a:r>
          </a:p>
          <a:p>
            <a:pPr algn="just" marL="660648" indent="-330324" lvl="1">
              <a:lnSpc>
                <a:spcPts val="4436"/>
              </a:lnSpc>
              <a:buFont typeface="Arial"/>
              <a:buChar char="•"/>
            </a:pPr>
            <a:r>
              <a:rPr lang="en-US" sz="3059">
                <a:solidFill>
                  <a:srgbClr val="383838"/>
                </a:solidFill>
                <a:latin typeface="Decalotype"/>
                <a:ea typeface="Decalotype"/>
                <a:cs typeface="Decalotype"/>
                <a:sym typeface="Decalotype"/>
              </a:rPr>
              <a:t>Điều phối request</a:t>
            </a:r>
          </a:p>
          <a:p>
            <a:pPr algn="just">
              <a:lnSpc>
                <a:spcPts val="4436"/>
              </a:lnSpc>
              <a:spcBef>
                <a:spcPct val="0"/>
              </a:spcBef>
            </a:pPr>
            <a:r>
              <a:rPr lang="en-US" sz="3059">
                <a:solidFill>
                  <a:srgbClr val="383838"/>
                </a:solidFill>
                <a:latin typeface="Decalotype"/>
                <a:ea typeface="Decalotype"/>
                <a:cs typeface="Decalotype"/>
                <a:sym typeface="Decalotype"/>
              </a:rPr>
              <a:t>Lợi ích: đơn giản hóa client, tăng bảo mật, ẩn cấu trúc hệ thống.</a:t>
            </a:r>
          </a:p>
        </p:txBody>
      </p:sp>
      <p:sp>
        <p:nvSpPr>
          <p:cNvPr name="TextBox 6" id="6"/>
          <p:cNvSpPr txBox="true"/>
          <p:nvPr/>
        </p:nvSpPr>
        <p:spPr>
          <a:xfrm rot="0">
            <a:off x="12388135" y="8130896"/>
            <a:ext cx="2901255" cy="375591"/>
          </a:xfrm>
          <a:prstGeom prst="rect">
            <a:avLst/>
          </a:prstGeom>
        </p:spPr>
        <p:txBody>
          <a:bodyPr anchor="t" rtlCol="false" tIns="0" lIns="0" bIns="0" rIns="0">
            <a:spAutoFit/>
          </a:bodyPr>
          <a:lstStyle/>
          <a:p>
            <a:pPr algn="ctr">
              <a:lnSpc>
                <a:spcPts val="3081"/>
              </a:lnSpc>
              <a:spcBef>
                <a:spcPct val="0"/>
              </a:spcBef>
            </a:pPr>
            <a:r>
              <a:rPr lang="en-US" sz="2407" i="true" spc="-60">
                <a:solidFill>
                  <a:srgbClr val="383838"/>
                </a:solidFill>
                <a:latin typeface="Noto Sans Italics"/>
                <a:ea typeface="Noto Sans Italics"/>
                <a:cs typeface="Noto Sans Italics"/>
                <a:sym typeface="Noto Sans Italics"/>
              </a:rPr>
              <a:t> Hình 14 : API Gateway</a:t>
            </a:r>
          </a:p>
        </p:txBody>
      </p:sp>
    </p:spTree>
  </p:cSld>
  <p:clrMapOvr>
    <a:masterClrMapping/>
  </p:clrMapOvr>
  <p:transition spd="fast">
    <p:push dir="l"/>
  </p:transition>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72182" y="4450312"/>
            <a:ext cx="13143635" cy="4486296"/>
          </a:xfrm>
          <a:custGeom>
            <a:avLst/>
            <a:gdLst/>
            <a:ahLst/>
            <a:cxnLst/>
            <a:rect r="r" b="b" t="t" l="l"/>
            <a:pathLst>
              <a:path h="4486296" w="13143635">
                <a:moveTo>
                  <a:pt x="0" y="0"/>
                </a:moveTo>
                <a:lnTo>
                  <a:pt x="13143636" y="0"/>
                </a:lnTo>
                <a:lnTo>
                  <a:pt x="13143636" y="4486297"/>
                </a:lnTo>
                <a:lnTo>
                  <a:pt x="0" y="4486297"/>
                </a:lnTo>
                <a:lnTo>
                  <a:pt x="0" y="0"/>
                </a:lnTo>
                <a:close/>
              </a:path>
            </a:pathLst>
          </a:custGeom>
          <a:blipFill>
            <a:blip r:embed="rId4"/>
            <a:stretch>
              <a:fillRect l="0" t="0" r="0" b="0"/>
            </a:stretch>
          </a:blipFill>
        </p:spPr>
      </p:sp>
      <p:sp>
        <p:nvSpPr>
          <p:cNvPr name="TextBox 4" id="4"/>
          <p:cNvSpPr txBox="true"/>
          <p:nvPr/>
        </p:nvSpPr>
        <p:spPr>
          <a:xfrm rot="0">
            <a:off x="350880" y="195781"/>
            <a:ext cx="13821250" cy="1671119"/>
          </a:xfrm>
          <a:prstGeom prst="rect">
            <a:avLst/>
          </a:prstGeom>
        </p:spPr>
        <p:txBody>
          <a:bodyPr anchor="t" rtlCol="false" tIns="0" lIns="0" bIns="0" rIns="0">
            <a:spAutoFit/>
          </a:bodyPr>
          <a:lstStyle/>
          <a:p>
            <a:pPr algn="l">
              <a:lnSpc>
                <a:spcPts val="6665"/>
              </a:lnSpc>
            </a:pPr>
            <a:r>
              <a:rPr lang="en-US" sz="5207" spc="-130" b="true">
                <a:solidFill>
                  <a:srgbClr val="383838"/>
                </a:solidFill>
                <a:latin typeface="Decalotype Bold"/>
                <a:ea typeface="Decalotype Bold"/>
                <a:cs typeface="Decalotype Bold"/>
                <a:sym typeface="Decalotype Bold"/>
              </a:rPr>
              <a:t>Định hướng tích hợp hệ thống AI Agent</a:t>
            </a:r>
          </a:p>
          <a:p>
            <a:pPr algn="l">
              <a:lnSpc>
                <a:spcPts val="6665"/>
              </a:lnSpc>
              <a:spcBef>
                <a:spcPct val="0"/>
              </a:spcBef>
            </a:pPr>
          </a:p>
        </p:txBody>
      </p:sp>
      <p:sp>
        <p:nvSpPr>
          <p:cNvPr name="TextBox 5" id="5"/>
          <p:cNvSpPr txBox="true"/>
          <p:nvPr/>
        </p:nvSpPr>
        <p:spPr>
          <a:xfrm rot="0">
            <a:off x="1028700" y="1366029"/>
            <a:ext cx="15131075" cy="2415159"/>
          </a:xfrm>
          <a:prstGeom prst="rect">
            <a:avLst/>
          </a:prstGeom>
        </p:spPr>
        <p:txBody>
          <a:bodyPr anchor="t" rtlCol="false" tIns="0" lIns="0" bIns="0" rIns="0">
            <a:spAutoFit/>
          </a:bodyPr>
          <a:lstStyle/>
          <a:p>
            <a:pPr algn="l">
              <a:lnSpc>
                <a:spcPts val="4818"/>
              </a:lnSpc>
            </a:pPr>
            <a:r>
              <a:rPr lang="en-US" sz="3300" spc="-82" b="true">
                <a:solidFill>
                  <a:srgbClr val="383838"/>
                </a:solidFill>
                <a:latin typeface="Decalotype Bold"/>
                <a:ea typeface="Decalotype Bold"/>
                <a:cs typeface="Decalotype Bold"/>
                <a:sym typeface="Decalotype Bold"/>
              </a:rPr>
              <a:t>AI Agent được tích hợp vào website bán quần áo nhằm tăng tính thông minh, hỗ trợ người dùng và cá nhân hóa trải nghiệm mua sắm. AI Agent không hoạt động độc lập mà được kết hợp với n8n, trong đó n8n đóng vai trò điều phối workflow, còn AI Agent đảm nhiệm xử lý ngữ cảnh, sinh phản hồi, gợi ý sản phẩm và hỗ trợ phân tích dữ liệu.</a:t>
            </a:r>
          </a:p>
        </p:txBody>
      </p:sp>
      <p:sp>
        <p:nvSpPr>
          <p:cNvPr name="TextBox 6" id="6"/>
          <p:cNvSpPr txBox="true"/>
          <p:nvPr/>
        </p:nvSpPr>
        <p:spPr>
          <a:xfrm rot="0">
            <a:off x="7638584" y="9364129"/>
            <a:ext cx="4113808" cy="403150"/>
          </a:xfrm>
          <a:prstGeom prst="rect">
            <a:avLst/>
          </a:prstGeom>
        </p:spPr>
        <p:txBody>
          <a:bodyPr anchor="t" rtlCol="false" tIns="0" lIns="0" bIns="0" rIns="0">
            <a:spAutoFit/>
          </a:bodyPr>
          <a:lstStyle/>
          <a:p>
            <a:pPr algn="ctr">
              <a:lnSpc>
                <a:spcPts val="3209"/>
              </a:lnSpc>
              <a:spcBef>
                <a:spcPct val="0"/>
              </a:spcBef>
            </a:pPr>
            <a:r>
              <a:rPr lang="en-US" sz="2507" i="true" spc="-62">
                <a:solidFill>
                  <a:srgbClr val="383838"/>
                </a:solidFill>
                <a:latin typeface="Noto Sans Italics"/>
                <a:ea typeface="Noto Sans Italics"/>
                <a:cs typeface="Noto Sans Italics"/>
                <a:sym typeface="Noto Sans Italics"/>
              </a:rPr>
              <a:t> Hình 15 : Các module AI Agent</a:t>
            </a:r>
          </a:p>
        </p:txBody>
      </p:sp>
    </p:spTree>
  </p:cSld>
  <p:clrMapOvr>
    <a:masterClrMapping/>
  </p:clrMapOvr>
  <p:transition spd="fast">
    <p:push dir="l"/>
  </p:transition>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72512" y="1523790"/>
            <a:ext cx="12091860" cy="8056202"/>
          </a:xfrm>
          <a:custGeom>
            <a:avLst/>
            <a:gdLst/>
            <a:ahLst/>
            <a:cxnLst/>
            <a:rect r="r" b="b" t="t" l="l"/>
            <a:pathLst>
              <a:path h="8056202" w="12091860">
                <a:moveTo>
                  <a:pt x="0" y="0"/>
                </a:moveTo>
                <a:lnTo>
                  <a:pt x="12091860" y="0"/>
                </a:lnTo>
                <a:lnTo>
                  <a:pt x="12091860" y="8056201"/>
                </a:lnTo>
                <a:lnTo>
                  <a:pt x="0" y="8056201"/>
                </a:lnTo>
                <a:lnTo>
                  <a:pt x="0" y="0"/>
                </a:lnTo>
                <a:close/>
              </a:path>
            </a:pathLst>
          </a:custGeom>
          <a:blipFill>
            <a:blip r:embed="rId4"/>
            <a:stretch>
              <a:fillRect l="0" t="0" r="0" b="0"/>
            </a:stretch>
          </a:blipFill>
        </p:spPr>
      </p:sp>
      <p:sp>
        <p:nvSpPr>
          <p:cNvPr name="TextBox 4" id="4"/>
          <p:cNvSpPr txBox="true"/>
          <p:nvPr/>
        </p:nvSpPr>
        <p:spPr>
          <a:xfrm rot="0">
            <a:off x="279193" y="468728"/>
            <a:ext cx="10846244"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 Kiến trúc tích hợp AI Agent</a:t>
            </a:r>
          </a:p>
        </p:txBody>
      </p:sp>
      <p:sp>
        <p:nvSpPr>
          <p:cNvPr name="TextBox 5" id="5"/>
          <p:cNvSpPr txBox="true"/>
          <p:nvPr/>
        </p:nvSpPr>
        <p:spPr>
          <a:xfrm rot="0">
            <a:off x="6707535" y="9770491"/>
            <a:ext cx="4872930" cy="501829"/>
          </a:xfrm>
          <a:prstGeom prst="rect">
            <a:avLst/>
          </a:prstGeom>
        </p:spPr>
        <p:txBody>
          <a:bodyPr anchor="t" rtlCol="false" tIns="0" lIns="0" bIns="0" rIns="0">
            <a:spAutoFit/>
          </a:bodyPr>
          <a:lstStyle/>
          <a:p>
            <a:pPr algn="ctr">
              <a:lnSpc>
                <a:spcPts val="3977"/>
              </a:lnSpc>
              <a:spcBef>
                <a:spcPct val="0"/>
              </a:spcBef>
            </a:pPr>
            <a:r>
              <a:rPr lang="en-US" sz="3107" i="true" spc="-77">
                <a:solidFill>
                  <a:srgbClr val="383838"/>
                </a:solidFill>
                <a:latin typeface="Decalotype Italics"/>
                <a:ea typeface="Decalotype Italics"/>
                <a:cs typeface="Decalotype Italics"/>
                <a:sym typeface="Decalotype Italics"/>
              </a:rPr>
              <a:t> Hình 16:  Kiến trúc tích hợp AI Agent</a:t>
            </a:r>
          </a:p>
        </p:txBody>
      </p:sp>
    </p:spTree>
  </p:cSld>
  <p:clrMapOvr>
    <a:masterClrMapping/>
  </p:clrMapOvr>
  <p:transition spd="fast">
    <p:push dir="l"/>
  </p:transition>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192163" y="1520540"/>
            <a:ext cx="10908360" cy="8059451"/>
          </a:xfrm>
          <a:custGeom>
            <a:avLst/>
            <a:gdLst/>
            <a:ahLst/>
            <a:cxnLst/>
            <a:rect r="r" b="b" t="t" l="l"/>
            <a:pathLst>
              <a:path h="8059451" w="10908360">
                <a:moveTo>
                  <a:pt x="0" y="0"/>
                </a:moveTo>
                <a:lnTo>
                  <a:pt x="10908360" y="0"/>
                </a:lnTo>
                <a:lnTo>
                  <a:pt x="10908360" y="8059451"/>
                </a:lnTo>
                <a:lnTo>
                  <a:pt x="0" y="8059451"/>
                </a:lnTo>
                <a:lnTo>
                  <a:pt x="0" y="0"/>
                </a:lnTo>
                <a:close/>
              </a:path>
            </a:pathLst>
          </a:custGeom>
          <a:blipFill>
            <a:blip r:embed="rId4"/>
            <a:stretch>
              <a:fillRect l="0" t="0" r="0" b="-1511"/>
            </a:stretch>
          </a:blipFill>
        </p:spPr>
      </p:sp>
      <p:sp>
        <p:nvSpPr>
          <p:cNvPr name="TextBox 4" id="4"/>
          <p:cNvSpPr txBox="true"/>
          <p:nvPr/>
        </p:nvSpPr>
        <p:spPr>
          <a:xfrm rot="0">
            <a:off x="279193" y="468728"/>
            <a:ext cx="10846244" cy="1671119"/>
          </a:xfrm>
          <a:prstGeom prst="rect">
            <a:avLst/>
          </a:prstGeom>
        </p:spPr>
        <p:txBody>
          <a:bodyPr anchor="t" rtlCol="false" tIns="0" lIns="0" bIns="0" rIns="0">
            <a:spAutoFit/>
          </a:bodyPr>
          <a:lstStyle/>
          <a:p>
            <a:pPr algn="l">
              <a:lnSpc>
                <a:spcPts val="6665"/>
              </a:lnSpc>
            </a:pPr>
            <a:r>
              <a:rPr lang="en-US" sz="5207" spc="-130" b="true">
                <a:solidFill>
                  <a:srgbClr val="383838"/>
                </a:solidFill>
                <a:latin typeface="Decalotype Bold"/>
                <a:ea typeface="Decalotype Bold"/>
                <a:cs typeface="Decalotype Bold"/>
                <a:sym typeface="Decalotype Bold"/>
              </a:rPr>
              <a:t>Luồng xử lý AI Agent cá thể hóa</a:t>
            </a:r>
          </a:p>
          <a:p>
            <a:pPr algn="l">
              <a:lnSpc>
                <a:spcPts val="6665"/>
              </a:lnSpc>
              <a:spcBef>
                <a:spcPct val="0"/>
              </a:spcBef>
            </a:pPr>
          </a:p>
        </p:txBody>
      </p:sp>
      <p:sp>
        <p:nvSpPr>
          <p:cNvPr name="TextBox 5" id="5"/>
          <p:cNvSpPr txBox="true"/>
          <p:nvPr/>
        </p:nvSpPr>
        <p:spPr>
          <a:xfrm rot="0">
            <a:off x="5702315" y="9732085"/>
            <a:ext cx="6207919" cy="554915"/>
          </a:xfrm>
          <a:prstGeom prst="rect">
            <a:avLst/>
          </a:prstGeom>
        </p:spPr>
        <p:txBody>
          <a:bodyPr anchor="t" rtlCol="false" tIns="0" lIns="0" bIns="0" rIns="0">
            <a:spAutoFit/>
          </a:bodyPr>
          <a:lstStyle/>
          <a:p>
            <a:pPr algn="ctr">
              <a:lnSpc>
                <a:spcPts val="4489"/>
              </a:lnSpc>
              <a:spcBef>
                <a:spcPct val="0"/>
              </a:spcBef>
            </a:pPr>
            <a:r>
              <a:rPr lang="en-US" sz="3507" spc="-87">
                <a:solidFill>
                  <a:srgbClr val="383838"/>
                </a:solidFill>
                <a:latin typeface="Decalotype"/>
                <a:ea typeface="Decalotype"/>
                <a:cs typeface="Decalotype"/>
                <a:sym typeface="Decalotype"/>
              </a:rPr>
              <a:t> Hình 17: Luồng xử lý AI Agent cá thể hóa</a:t>
            </a:r>
          </a:p>
        </p:txBody>
      </p:sp>
    </p:spTree>
  </p:cSld>
  <p:clrMapOvr>
    <a:masterClrMapping/>
  </p:clrMapOvr>
  <p:transition spd="fast">
    <p:push dir="l"/>
  </p:transition>
</p:sld>
</file>

<file path=ppt/slides/slide30.xml><?xml version="1.0" encoding="utf-8"?>
<p:sld xmlns:p="http://schemas.openxmlformats.org/presentationml/2006/main" xmlns:a="http://schemas.openxmlformats.org/drawingml/2006/main">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5976517" y="1351291"/>
          <a:ext cx="6334966" cy="2390775"/>
        </p:xfrm>
        <a:graphic>
          <a:graphicData uri="http://schemas.openxmlformats.org/drawingml/2006/table">
            <a:tbl>
              <a:tblPr/>
              <a:tblGrid>
                <a:gridCol w="6334966"/>
              </a:tblGrid>
              <a:tr h="2390775">
                <a:tc>
                  <a:txBody>
                    <a:bodyPr anchor="t" rtlCol="false"/>
                    <a:lstStyle/>
                    <a:p>
                      <a:pPr algn="ctr">
                        <a:lnSpc>
                          <a:spcPts val="13720"/>
                        </a:lnSpc>
                        <a:defRPr/>
                      </a:pPr>
                      <a:r>
                        <a:rPr lang="en-US" sz="9800" spc="-784">
                          <a:solidFill>
                            <a:srgbClr val="383838"/>
                          </a:solidFill>
                          <a:latin typeface="Roca Two"/>
                          <a:ea typeface="Roca Two"/>
                          <a:cs typeface="Roca Two"/>
                          <a:sym typeface="Roca Two"/>
                        </a:rPr>
                        <a:t>Chương 3</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sp>
        <p:nvSpPr>
          <p:cNvPr name="TextBox 3" id="3"/>
          <p:cNvSpPr txBox="true"/>
          <p:nvPr/>
        </p:nvSpPr>
        <p:spPr>
          <a:xfrm rot="0">
            <a:off x="3351976" y="4306570"/>
            <a:ext cx="12593369" cy="1588135"/>
          </a:xfrm>
          <a:prstGeom prst="rect">
            <a:avLst/>
          </a:prstGeom>
        </p:spPr>
        <p:txBody>
          <a:bodyPr anchor="t" rtlCol="false" tIns="0" lIns="0" bIns="0" rIns="0">
            <a:spAutoFit/>
          </a:bodyPr>
          <a:lstStyle/>
          <a:p>
            <a:pPr algn="ctr">
              <a:lnSpc>
                <a:spcPts val="6440"/>
              </a:lnSpc>
            </a:pPr>
            <a:r>
              <a:rPr lang="en-US" sz="4600" b="true">
                <a:solidFill>
                  <a:srgbClr val="000000"/>
                </a:solidFill>
                <a:latin typeface="Noto Sans Bold"/>
                <a:ea typeface="Noto Sans Bold"/>
                <a:cs typeface="Noto Sans Bold"/>
                <a:sym typeface="Noto Sans Bold"/>
              </a:rPr>
              <a:t>Phân tích yêu cầu và thiết kế hệ thống thương mại điện tử thông minh</a:t>
            </a:r>
          </a:p>
        </p:txBody>
      </p:sp>
    </p:spTree>
  </p:cSld>
  <p:clrMapOvr>
    <a:masterClrMapping/>
  </p:clrMapOvr>
  <p:transition spd="fast">
    <p:push dir="l"/>
  </p:transition>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50880" y="1701857"/>
            <a:ext cx="9672111" cy="6563793"/>
          </a:xfrm>
          <a:prstGeom prst="rect">
            <a:avLst/>
          </a:prstGeom>
        </p:spPr>
        <p:txBody>
          <a:bodyPr anchor="t" rtlCol="false" tIns="0" lIns="0" bIns="0" rIns="0">
            <a:spAutoFit/>
          </a:bodyPr>
          <a:lstStyle/>
          <a:p>
            <a:pPr algn="l" marL="584527" indent="-292263" lvl="1">
              <a:lnSpc>
                <a:spcPts val="3465"/>
              </a:lnSpc>
              <a:buFont typeface="Arial"/>
              <a:buChar char="•"/>
            </a:pPr>
            <a:r>
              <a:rPr lang="en-US" b="true" sz="2707" spc="-67">
                <a:solidFill>
                  <a:srgbClr val="383838"/>
                </a:solidFill>
                <a:latin typeface="Decalotype Bold"/>
                <a:ea typeface="Decalotype Bold"/>
                <a:cs typeface="Decalotype Bold"/>
                <a:sym typeface="Decalotype Bold"/>
              </a:rPr>
              <a:t>Use Case Diagram mô tả các</a:t>
            </a:r>
            <a:r>
              <a:rPr lang="en-US" b="true" sz="2707" spc="-67">
                <a:solidFill>
                  <a:srgbClr val="383838"/>
                </a:solidFill>
                <a:latin typeface="Decalotype Bold"/>
                <a:ea typeface="Decalotype Bold"/>
                <a:cs typeface="Decalotype Bold"/>
                <a:sym typeface="Decalotype Bold"/>
              </a:rPr>
              <a:t> chức năng chính của hệ thống và sự tương tác giữa ba tác nhân chính: Người mua, Người bán và Quản trị viên.</a:t>
            </a:r>
          </a:p>
          <a:p>
            <a:pPr algn="l" marL="584527" indent="-292263" lvl="1">
              <a:lnSpc>
                <a:spcPts val="3465"/>
              </a:lnSpc>
              <a:buFont typeface="Arial"/>
              <a:buChar char="•"/>
            </a:pPr>
            <a:r>
              <a:rPr lang="en-US" b="true" sz="2707" spc="-67">
                <a:solidFill>
                  <a:srgbClr val="383838"/>
                </a:solidFill>
                <a:latin typeface="Decalotype Bold"/>
                <a:ea typeface="Decalotype Bold"/>
                <a:cs typeface="Decalotype Bold"/>
                <a:sym typeface="Decalotype Bold"/>
              </a:rPr>
              <a:t>Người mua có thể đăng ký/đăng nhập, tìm kiếm sản phẩm, xem chi tiết sản phẩm, thêm vào giỏ hàng, đặt hàng, thanh toán, theo dõi đơn hàng và đánh giá sản phẩm.</a:t>
            </a:r>
          </a:p>
          <a:p>
            <a:pPr algn="l" marL="584527" indent="-292263" lvl="1">
              <a:lnSpc>
                <a:spcPts val="3465"/>
              </a:lnSpc>
              <a:buFont typeface="Arial"/>
              <a:buChar char="•"/>
            </a:pPr>
            <a:r>
              <a:rPr lang="en-US" b="true" sz="2707" spc="-67">
                <a:solidFill>
                  <a:srgbClr val="383838"/>
                </a:solidFill>
                <a:latin typeface="Decalotype Bold"/>
                <a:ea typeface="Decalotype Bold"/>
                <a:cs typeface="Decalotype Bold"/>
                <a:sym typeface="Decalotype Bold"/>
              </a:rPr>
              <a:t>Người bán thực hiện các chức năng như đăng ký tài khoản bán hàng, đăng sản phẩm, quản lý sản phẩm, xử lý đơn hàng và theo dõi doanh thu.</a:t>
            </a:r>
          </a:p>
          <a:p>
            <a:pPr algn="l" marL="584527" indent="-292263" lvl="1">
              <a:lnSpc>
                <a:spcPts val="3465"/>
              </a:lnSpc>
              <a:buFont typeface="Arial"/>
              <a:buChar char="•"/>
            </a:pPr>
            <a:r>
              <a:rPr lang="en-US" b="true" sz="2707" spc="-67">
                <a:solidFill>
                  <a:srgbClr val="383838"/>
                </a:solidFill>
                <a:latin typeface="Decalotype Bold"/>
                <a:ea typeface="Decalotype Bold"/>
                <a:cs typeface="Decalotype Bold"/>
                <a:sym typeface="Decalotype Bold"/>
              </a:rPr>
              <a:t>Quản trị viên chịu trách nhiệm quản lý người dùng, kiểm duyệt sản phẩm, quản lý đơn hàng và xem các báo cáo, thống kê của hệ thống.</a:t>
            </a:r>
          </a:p>
          <a:p>
            <a:pPr algn="l" marL="584527" indent="-292263" lvl="1">
              <a:lnSpc>
                <a:spcPts val="3465"/>
              </a:lnSpc>
              <a:buFont typeface="Arial"/>
              <a:buChar char="•"/>
            </a:pPr>
            <a:r>
              <a:rPr lang="en-US" b="true" sz="2707" spc="-67">
                <a:solidFill>
                  <a:srgbClr val="383838"/>
                </a:solidFill>
                <a:latin typeface="Decalotype Bold"/>
                <a:ea typeface="Decalotype Bold"/>
                <a:cs typeface="Decalotype Bold"/>
                <a:sym typeface="Decalotype Bold"/>
              </a:rPr>
              <a:t>Nhìn chung, Use Case Diagram giúp thể hiện rõ vai trò của từng tác nhân và các chức năng mà họ có thể thực hiện trong hệ thống thương mại điện tử.</a:t>
            </a:r>
          </a:p>
          <a:p>
            <a:pPr algn="l">
              <a:lnSpc>
                <a:spcPts val="3465"/>
              </a:lnSpc>
            </a:pPr>
          </a:p>
        </p:txBody>
      </p:sp>
      <p:sp>
        <p:nvSpPr>
          <p:cNvPr name="Freeform 4" id="4"/>
          <p:cNvSpPr/>
          <p:nvPr/>
        </p:nvSpPr>
        <p:spPr>
          <a:xfrm flipH="false" flipV="false" rot="0">
            <a:off x="10366019" y="1720907"/>
            <a:ext cx="6768889" cy="6544743"/>
          </a:xfrm>
          <a:custGeom>
            <a:avLst/>
            <a:gdLst/>
            <a:ahLst/>
            <a:cxnLst/>
            <a:rect r="r" b="b" t="t" l="l"/>
            <a:pathLst>
              <a:path h="6544743" w="6768889">
                <a:moveTo>
                  <a:pt x="0" y="0"/>
                </a:moveTo>
                <a:lnTo>
                  <a:pt x="6768889" y="0"/>
                </a:lnTo>
                <a:lnTo>
                  <a:pt x="6768889" y="6544743"/>
                </a:lnTo>
                <a:lnTo>
                  <a:pt x="0" y="6544743"/>
                </a:lnTo>
                <a:lnTo>
                  <a:pt x="0" y="0"/>
                </a:lnTo>
                <a:close/>
              </a:path>
            </a:pathLst>
          </a:custGeom>
          <a:blipFill>
            <a:blip r:embed="rId4"/>
            <a:stretch>
              <a:fillRect l="-2405" t="0" r="-2405" b="0"/>
            </a:stretch>
          </a:blipFill>
        </p:spPr>
      </p:sp>
      <p:sp>
        <p:nvSpPr>
          <p:cNvPr name="TextBox 5" id="5"/>
          <p:cNvSpPr txBox="true"/>
          <p:nvPr/>
        </p:nvSpPr>
        <p:spPr>
          <a:xfrm rot="0">
            <a:off x="601784" y="588428"/>
            <a:ext cx="179371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Use case tổng quát</a:t>
            </a:r>
          </a:p>
        </p:txBody>
      </p:sp>
      <p:sp>
        <p:nvSpPr>
          <p:cNvPr name="TextBox 6" id="6"/>
          <p:cNvSpPr txBox="true"/>
          <p:nvPr/>
        </p:nvSpPr>
        <p:spPr>
          <a:xfrm rot="0">
            <a:off x="12354339" y="8685148"/>
            <a:ext cx="3257054" cy="436245"/>
          </a:xfrm>
          <a:prstGeom prst="rect">
            <a:avLst/>
          </a:prstGeom>
        </p:spPr>
        <p:txBody>
          <a:bodyPr anchor="t" rtlCol="false" tIns="0" lIns="0" bIns="0" rIns="0">
            <a:spAutoFit/>
          </a:bodyPr>
          <a:lstStyle/>
          <a:p>
            <a:pPr algn="ctr">
              <a:lnSpc>
                <a:spcPts val="3566"/>
              </a:lnSpc>
              <a:spcBef>
                <a:spcPct val="0"/>
              </a:spcBef>
            </a:pPr>
            <a:r>
              <a:rPr lang="en-US" sz="2459" i="true">
                <a:solidFill>
                  <a:srgbClr val="383838"/>
                </a:solidFill>
                <a:latin typeface="Decalotype Italics"/>
                <a:ea typeface="Decalotype Italics"/>
                <a:cs typeface="Decalotype Italics"/>
                <a:sym typeface="Decalotype Italics"/>
              </a:rPr>
              <a:t> Hình 18: Use case tổng quát</a:t>
            </a:r>
          </a:p>
        </p:txBody>
      </p:sp>
    </p:spTree>
  </p:cSld>
  <p:clrMapOvr>
    <a:masterClrMapping/>
  </p:clrMapOvr>
  <p:transition spd="fast">
    <p:push dir="l"/>
  </p:transition>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538838" y="1490820"/>
            <a:ext cx="9561205" cy="7445788"/>
          </a:xfrm>
          <a:custGeom>
            <a:avLst/>
            <a:gdLst/>
            <a:ahLst/>
            <a:cxnLst/>
            <a:rect r="r" b="b" t="t" l="l"/>
            <a:pathLst>
              <a:path h="7445788" w="9561205">
                <a:moveTo>
                  <a:pt x="0" y="0"/>
                </a:moveTo>
                <a:lnTo>
                  <a:pt x="9561204" y="0"/>
                </a:lnTo>
                <a:lnTo>
                  <a:pt x="9561204" y="7445789"/>
                </a:lnTo>
                <a:lnTo>
                  <a:pt x="0" y="7445789"/>
                </a:lnTo>
                <a:lnTo>
                  <a:pt x="0" y="0"/>
                </a:lnTo>
                <a:close/>
              </a:path>
            </a:pathLst>
          </a:custGeom>
          <a:blipFill>
            <a:blip r:embed="rId4"/>
            <a:stretch>
              <a:fillRect l="0" t="0" r="0" b="0"/>
            </a:stretch>
          </a:blipFill>
        </p:spPr>
      </p:sp>
      <p:sp>
        <p:nvSpPr>
          <p:cNvPr name="TextBox 4" id="4"/>
          <p:cNvSpPr txBox="true"/>
          <p:nvPr/>
        </p:nvSpPr>
        <p:spPr>
          <a:xfrm rot="0">
            <a:off x="350880" y="195781"/>
            <a:ext cx="179371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Lược đồ dữ liệu ( ERD)</a:t>
            </a:r>
          </a:p>
        </p:txBody>
      </p:sp>
      <p:sp>
        <p:nvSpPr>
          <p:cNvPr name="TextBox 5" id="5"/>
          <p:cNvSpPr txBox="true"/>
          <p:nvPr/>
        </p:nvSpPr>
        <p:spPr>
          <a:xfrm rot="0">
            <a:off x="7918415" y="9336659"/>
            <a:ext cx="4028281" cy="436245"/>
          </a:xfrm>
          <a:prstGeom prst="rect">
            <a:avLst/>
          </a:prstGeom>
        </p:spPr>
        <p:txBody>
          <a:bodyPr anchor="t" rtlCol="false" tIns="0" lIns="0" bIns="0" rIns="0">
            <a:spAutoFit/>
          </a:bodyPr>
          <a:lstStyle/>
          <a:p>
            <a:pPr algn="ctr">
              <a:lnSpc>
                <a:spcPts val="3566"/>
              </a:lnSpc>
              <a:spcBef>
                <a:spcPct val="0"/>
              </a:spcBef>
            </a:pPr>
            <a:r>
              <a:rPr lang="en-US" sz="2459" i="true">
                <a:solidFill>
                  <a:srgbClr val="383838"/>
                </a:solidFill>
                <a:latin typeface="Decalotype Italics"/>
                <a:ea typeface="Decalotype Italics"/>
                <a:cs typeface="Decalotype Italics"/>
                <a:sym typeface="Decalotype Italics"/>
              </a:rPr>
              <a:t> Hình 19; Lược đồ dữ liệu hệ thống</a:t>
            </a:r>
          </a:p>
        </p:txBody>
      </p:sp>
    </p:spTree>
  </p:cSld>
  <p:clrMapOvr>
    <a:masterClrMapping/>
  </p:clrMapOvr>
  <p:transition spd="fast">
    <p:push dir="l"/>
  </p:transition>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39893" y="1028700"/>
            <a:ext cx="5044611" cy="8229600"/>
          </a:xfrm>
          <a:custGeom>
            <a:avLst/>
            <a:gdLst/>
            <a:ahLst/>
            <a:cxnLst/>
            <a:rect r="r" b="b" t="t" l="l"/>
            <a:pathLst>
              <a:path h="8229600" w="5044611">
                <a:moveTo>
                  <a:pt x="0" y="0"/>
                </a:moveTo>
                <a:lnTo>
                  <a:pt x="5044611" y="0"/>
                </a:lnTo>
                <a:lnTo>
                  <a:pt x="5044611" y="8229600"/>
                </a:lnTo>
                <a:lnTo>
                  <a:pt x="0" y="8229600"/>
                </a:lnTo>
                <a:lnTo>
                  <a:pt x="0" y="0"/>
                </a:lnTo>
                <a:close/>
              </a:path>
            </a:pathLst>
          </a:custGeom>
          <a:blipFill>
            <a:blip r:embed="rId4"/>
            <a:stretch>
              <a:fillRect l="0" t="0" r="0" b="0"/>
            </a:stretch>
          </a:blipFill>
        </p:spPr>
      </p:sp>
      <p:sp>
        <p:nvSpPr>
          <p:cNvPr name="TextBox 4" id="4"/>
          <p:cNvSpPr txBox="true"/>
          <p:nvPr/>
        </p:nvSpPr>
        <p:spPr>
          <a:xfrm rot="0">
            <a:off x="350880" y="195781"/>
            <a:ext cx="179371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Quy tắc Database per service</a:t>
            </a:r>
          </a:p>
        </p:txBody>
      </p:sp>
      <p:sp>
        <p:nvSpPr>
          <p:cNvPr name="TextBox 5" id="5"/>
          <p:cNvSpPr txBox="true"/>
          <p:nvPr/>
        </p:nvSpPr>
        <p:spPr>
          <a:xfrm rot="0">
            <a:off x="853260" y="1441165"/>
            <a:ext cx="9052023" cy="7832170"/>
          </a:xfrm>
          <a:prstGeom prst="rect">
            <a:avLst/>
          </a:prstGeom>
        </p:spPr>
        <p:txBody>
          <a:bodyPr anchor="t" rtlCol="false" tIns="0" lIns="0" bIns="0" rIns="0">
            <a:spAutoFit/>
          </a:bodyPr>
          <a:lstStyle/>
          <a:p>
            <a:pPr algn="l">
              <a:lnSpc>
                <a:spcPts val="4751"/>
              </a:lnSpc>
            </a:pPr>
            <a:r>
              <a:rPr lang="en-US" sz="3712" spc="-92">
                <a:solidFill>
                  <a:srgbClr val="383838"/>
                </a:solidFill>
                <a:latin typeface="Decalotype"/>
                <a:ea typeface="Decalotype"/>
                <a:cs typeface="Decalotype"/>
                <a:sym typeface="Decalotype"/>
              </a:rPr>
              <a:t>Database per Service là nguyên tắc mỗi microservice sở hữu database riêng và giao tiếp với nhau thông qua API hoặc message để tăng tính độc lập và khả năng mở rộng. Hệ thống sử dụng:</a:t>
            </a:r>
          </a:p>
          <a:p>
            <a:pPr algn="l">
              <a:lnSpc>
                <a:spcPts val="4751"/>
              </a:lnSpc>
            </a:pPr>
          </a:p>
          <a:p>
            <a:pPr algn="l" marL="801463" indent="-400732" lvl="1">
              <a:lnSpc>
                <a:spcPts val="4751"/>
              </a:lnSpc>
              <a:buFont typeface="Arial"/>
              <a:buChar char="•"/>
            </a:pPr>
            <a:r>
              <a:rPr lang="en-US" sz="3712" spc="-92">
                <a:solidFill>
                  <a:srgbClr val="383838"/>
                </a:solidFill>
                <a:latin typeface="Decalotype"/>
                <a:ea typeface="Decalotype"/>
                <a:cs typeface="Decalotype"/>
                <a:sym typeface="Decalotype"/>
              </a:rPr>
              <a:t>PostgreSQL cho Auth, Payment, Order và Inventory Service do yêu cầu ACID và transaction chính xác</a:t>
            </a:r>
          </a:p>
          <a:p>
            <a:pPr algn="l">
              <a:lnSpc>
                <a:spcPts val="4751"/>
              </a:lnSpc>
            </a:pPr>
          </a:p>
          <a:p>
            <a:pPr algn="l" marL="801463" indent="-400732" lvl="1">
              <a:lnSpc>
                <a:spcPts val="4751"/>
              </a:lnSpc>
              <a:buFont typeface="Arial"/>
              <a:buChar char="•"/>
            </a:pPr>
            <a:r>
              <a:rPr lang="en-US" sz="3712" spc="-92">
                <a:solidFill>
                  <a:srgbClr val="383838"/>
                </a:solidFill>
                <a:latin typeface="Decalotype"/>
                <a:ea typeface="Decalotype"/>
                <a:cs typeface="Decalotype"/>
                <a:sym typeface="Decalotype"/>
              </a:rPr>
              <a:t>MongoDB cho Product Service nhờ schema linh hoạt</a:t>
            </a:r>
          </a:p>
          <a:p>
            <a:pPr algn="l">
              <a:lnSpc>
                <a:spcPts val="4751"/>
              </a:lnSpc>
            </a:pPr>
          </a:p>
          <a:p>
            <a:pPr algn="l" marL="801463" indent="-400732" lvl="1">
              <a:lnSpc>
                <a:spcPts val="4751"/>
              </a:lnSpc>
              <a:buFont typeface="Arial"/>
              <a:buChar char="•"/>
            </a:pPr>
            <a:r>
              <a:rPr lang="en-US" sz="3712" spc="-92">
                <a:solidFill>
                  <a:srgbClr val="383838"/>
                </a:solidFill>
                <a:latin typeface="Decalotype"/>
                <a:ea typeface="Decalotype"/>
                <a:cs typeface="Decalotype"/>
                <a:sym typeface="Decalotype"/>
              </a:rPr>
              <a:t>MySQL cho User Service để tối ưu truy vấn và mở rộng dữ liệu người dùng.</a:t>
            </a:r>
          </a:p>
        </p:txBody>
      </p:sp>
      <p:sp>
        <p:nvSpPr>
          <p:cNvPr name="TextBox 6" id="6"/>
          <p:cNvSpPr txBox="true"/>
          <p:nvPr/>
        </p:nvSpPr>
        <p:spPr>
          <a:xfrm rot="0">
            <a:off x="11239011" y="9513316"/>
            <a:ext cx="4484092" cy="436245"/>
          </a:xfrm>
          <a:prstGeom prst="rect">
            <a:avLst/>
          </a:prstGeom>
        </p:spPr>
        <p:txBody>
          <a:bodyPr anchor="t" rtlCol="false" tIns="0" lIns="0" bIns="0" rIns="0">
            <a:spAutoFit/>
          </a:bodyPr>
          <a:lstStyle/>
          <a:p>
            <a:pPr algn="ctr">
              <a:lnSpc>
                <a:spcPts val="3566"/>
              </a:lnSpc>
              <a:spcBef>
                <a:spcPct val="0"/>
              </a:spcBef>
            </a:pPr>
            <a:r>
              <a:rPr lang="en-US" sz="2459" i="true">
                <a:solidFill>
                  <a:srgbClr val="383838"/>
                </a:solidFill>
                <a:latin typeface="Decalotype Italics"/>
                <a:ea typeface="Decalotype Italics"/>
                <a:cs typeface="Decalotype Italics"/>
                <a:sym typeface="Decalotype Italics"/>
              </a:rPr>
              <a:t> Hình 20: Quy tắc Database per service </a:t>
            </a:r>
          </a:p>
        </p:txBody>
      </p:sp>
    </p:spTree>
  </p:cSld>
  <p:clrMapOvr>
    <a:masterClrMapping/>
  </p:clrMapOvr>
  <p:transition spd="fast">
    <p:push dir="l"/>
  </p:transition>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35794" y="4673562"/>
            <a:ext cx="8997421" cy="4584738"/>
          </a:xfrm>
          <a:custGeom>
            <a:avLst/>
            <a:gdLst/>
            <a:ahLst/>
            <a:cxnLst/>
            <a:rect r="r" b="b" t="t" l="l"/>
            <a:pathLst>
              <a:path h="4584738" w="8997421">
                <a:moveTo>
                  <a:pt x="0" y="0"/>
                </a:moveTo>
                <a:lnTo>
                  <a:pt x="8997421" y="0"/>
                </a:lnTo>
                <a:lnTo>
                  <a:pt x="8997421" y="4584738"/>
                </a:lnTo>
                <a:lnTo>
                  <a:pt x="0" y="4584738"/>
                </a:lnTo>
                <a:lnTo>
                  <a:pt x="0" y="0"/>
                </a:lnTo>
                <a:close/>
              </a:path>
            </a:pathLst>
          </a:custGeom>
          <a:blipFill>
            <a:blip r:embed="rId4"/>
            <a:stretch>
              <a:fillRect l="0" t="0" r="0" b="0"/>
            </a:stretch>
          </a:blipFill>
        </p:spPr>
      </p:sp>
      <p:sp>
        <p:nvSpPr>
          <p:cNvPr name="TextBox 4" id="4"/>
          <p:cNvSpPr txBox="true"/>
          <p:nvPr/>
        </p:nvSpPr>
        <p:spPr>
          <a:xfrm rot="0">
            <a:off x="350880" y="195781"/>
            <a:ext cx="179371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Compoment Diagram</a:t>
            </a:r>
          </a:p>
        </p:txBody>
      </p:sp>
      <p:sp>
        <p:nvSpPr>
          <p:cNvPr name="TextBox 5" id="5"/>
          <p:cNvSpPr txBox="true"/>
          <p:nvPr/>
        </p:nvSpPr>
        <p:spPr>
          <a:xfrm rot="0">
            <a:off x="2390751" y="1470063"/>
            <a:ext cx="12224355" cy="3203500"/>
          </a:xfrm>
          <a:prstGeom prst="rect">
            <a:avLst/>
          </a:prstGeom>
        </p:spPr>
        <p:txBody>
          <a:bodyPr anchor="t" rtlCol="false" tIns="0" lIns="0" bIns="0" rIns="0">
            <a:spAutoFit/>
          </a:bodyPr>
          <a:lstStyle/>
          <a:p>
            <a:pPr algn="l">
              <a:lnSpc>
                <a:spcPts val="3209"/>
              </a:lnSpc>
            </a:pPr>
            <a:r>
              <a:rPr lang="en-US" sz="2507" spc="-62">
                <a:solidFill>
                  <a:srgbClr val="383838"/>
                </a:solidFill>
                <a:latin typeface="Decalotype"/>
                <a:ea typeface="Decalotype"/>
                <a:cs typeface="Decalotype"/>
                <a:sym typeface="Decalotype"/>
              </a:rPr>
              <a:t>Componen</a:t>
            </a:r>
            <a:r>
              <a:rPr lang="en-US" sz="2507" spc="-62">
                <a:solidFill>
                  <a:srgbClr val="383838"/>
                </a:solidFill>
                <a:latin typeface="Decalotype"/>
                <a:ea typeface="Decalotype"/>
                <a:cs typeface="Decalotype"/>
                <a:sym typeface="Decalotype"/>
              </a:rPr>
              <a:t>t Diagram mô tả cấu trúc bên trong của một container và cách các component tương tác với nhau.</a:t>
            </a:r>
          </a:p>
          <a:p>
            <a:pPr algn="l">
              <a:lnSpc>
                <a:spcPts val="3209"/>
              </a:lnSpc>
            </a:pPr>
            <a:r>
              <a:rPr lang="en-US" sz="2507" spc="-62">
                <a:solidFill>
                  <a:srgbClr val="383838"/>
                </a:solidFill>
                <a:latin typeface="Decalotype"/>
                <a:ea typeface="Decalotype"/>
                <a:cs typeface="Decalotype"/>
                <a:sym typeface="Decalotype"/>
              </a:rPr>
              <a:t>Các component thường là controller, service, repository hoặc module xử lý nghiệp vụ, mỗi component đảm nhận một chức năng riêng biệt.</a:t>
            </a:r>
          </a:p>
          <a:p>
            <a:pPr algn="l">
              <a:lnSpc>
                <a:spcPts val="3209"/>
              </a:lnSpc>
            </a:pPr>
            <a:r>
              <a:rPr lang="en-US" sz="2507" spc="-62">
                <a:solidFill>
                  <a:srgbClr val="383838"/>
                </a:solidFill>
                <a:latin typeface="Decalotype"/>
                <a:ea typeface="Decalotype"/>
                <a:cs typeface="Decalotype"/>
                <a:sym typeface="Decalotype"/>
              </a:rPr>
              <a:t>Sơ</a:t>
            </a:r>
            <a:r>
              <a:rPr lang="en-US" sz="2507" spc="-62">
                <a:solidFill>
                  <a:srgbClr val="383838"/>
                </a:solidFill>
                <a:latin typeface="Decalotype"/>
                <a:ea typeface="Decalotype"/>
                <a:cs typeface="Decalotype"/>
                <a:sym typeface="Decalotype"/>
              </a:rPr>
              <a:t> đồ giúp thể hiện:</a:t>
            </a:r>
          </a:p>
          <a:p>
            <a:pPr algn="l" marL="541348" indent="-270674" lvl="1">
              <a:lnSpc>
                <a:spcPts val="3209"/>
              </a:lnSpc>
              <a:buFont typeface="Arial"/>
              <a:buChar char="•"/>
            </a:pPr>
            <a:r>
              <a:rPr lang="en-US" sz="2507" spc="-62">
                <a:solidFill>
                  <a:srgbClr val="383838"/>
                </a:solidFill>
                <a:latin typeface="Decalotype"/>
                <a:ea typeface="Decalotype"/>
                <a:cs typeface="Decalotype"/>
                <a:sym typeface="Decalotype"/>
              </a:rPr>
              <a:t>Chức năn</a:t>
            </a:r>
            <a:r>
              <a:rPr lang="en-US" sz="2507" spc="-62">
                <a:solidFill>
                  <a:srgbClr val="383838"/>
                </a:solidFill>
                <a:latin typeface="Decalotype"/>
                <a:ea typeface="Decalotype"/>
                <a:cs typeface="Decalotype"/>
                <a:sym typeface="Decalotype"/>
              </a:rPr>
              <a:t>g của từng component</a:t>
            </a:r>
          </a:p>
          <a:p>
            <a:pPr algn="l" marL="541348" indent="-270674" lvl="1">
              <a:lnSpc>
                <a:spcPts val="3209"/>
              </a:lnSpc>
              <a:buFont typeface="Arial"/>
              <a:buChar char="•"/>
            </a:pPr>
            <a:r>
              <a:rPr lang="en-US" sz="2507" spc="-62">
                <a:solidFill>
                  <a:srgbClr val="383838"/>
                </a:solidFill>
                <a:latin typeface="Decalotype"/>
                <a:ea typeface="Decalotype"/>
                <a:cs typeface="Decalotype"/>
                <a:sym typeface="Decalotype"/>
              </a:rPr>
              <a:t>Mối quan hệ giữa các component</a:t>
            </a:r>
          </a:p>
          <a:p>
            <a:pPr algn="l" marL="541348" indent="-270674" lvl="1">
              <a:lnSpc>
                <a:spcPts val="3209"/>
              </a:lnSpc>
              <a:buFont typeface="Arial"/>
              <a:buChar char="•"/>
            </a:pPr>
            <a:r>
              <a:rPr lang="en-US" sz="2507" spc="-62">
                <a:solidFill>
                  <a:srgbClr val="383838"/>
                </a:solidFill>
                <a:latin typeface="Decalotype"/>
                <a:ea typeface="Decalotype"/>
                <a:cs typeface="Decalotype"/>
                <a:sym typeface="Decalotype"/>
              </a:rPr>
              <a:t>Cách component giao tiếp với các container hoặc hệ thống bên ngoài.</a:t>
            </a:r>
          </a:p>
          <a:p>
            <a:pPr algn="l">
              <a:lnSpc>
                <a:spcPts val="3209"/>
              </a:lnSpc>
            </a:pPr>
          </a:p>
        </p:txBody>
      </p:sp>
      <p:sp>
        <p:nvSpPr>
          <p:cNvPr name="TextBox 6" id="6"/>
          <p:cNvSpPr txBox="true"/>
          <p:nvPr/>
        </p:nvSpPr>
        <p:spPr>
          <a:xfrm rot="0">
            <a:off x="7224585" y="9560941"/>
            <a:ext cx="4189710" cy="438202"/>
          </a:xfrm>
          <a:prstGeom prst="rect">
            <a:avLst/>
          </a:prstGeom>
        </p:spPr>
        <p:txBody>
          <a:bodyPr anchor="t" rtlCol="false" tIns="0" lIns="0" bIns="0" rIns="0">
            <a:spAutoFit/>
          </a:bodyPr>
          <a:lstStyle/>
          <a:p>
            <a:pPr algn="ctr">
              <a:lnSpc>
                <a:spcPts val="3593"/>
              </a:lnSpc>
              <a:spcBef>
                <a:spcPct val="0"/>
              </a:spcBef>
            </a:pPr>
            <a:r>
              <a:rPr lang="en-US" sz="2807" i="true" spc="-70">
                <a:solidFill>
                  <a:srgbClr val="383838"/>
                </a:solidFill>
                <a:latin typeface="Decalotype Italics"/>
                <a:ea typeface="Decalotype Italics"/>
                <a:cs typeface="Decalotype Italics"/>
                <a:sym typeface="Decalotype Italics"/>
              </a:rPr>
              <a:t> Hình 21:  Compoment Diagram C1 </a:t>
            </a:r>
          </a:p>
        </p:txBody>
      </p:sp>
    </p:spTree>
  </p:cSld>
  <p:clrMapOvr>
    <a:masterClrMapping/>
  </p:clrMapOvr>
  <p:transition spd="fast">
    <p:push dir="l"/>
  </p:transition>
</p:sld>
</file>

<file path=ppt/slides/slide35.xml><?xml version="1.0" encoding="utf-8"?>
<p:sld xmlns:p="http://schemas.openxmlformats.org/presentationml/2006/main" xmlns:a="http://schemas.openxmlformats.org/drawingml/2006/main">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395789" y="1790973"/>
          <a:ext cx="11496422" cy="2390775"/>
        </p:xfrm>
        <a:graphic>
          <a:graphicData uri="http://schemas.openxmlformats.org/drawingml/2006/table">
            <a:tbl>
              <a:tblPr/>
              <a:tblGrid>
                <a:gridCol w="11496422"/>
              </a:tblGrid>
              <a:tr h="2390775">
                <a:tc>
                  <a:txBody>
                    <a:bodyPr anchor="t" rtlCol="false"/>
                    <a:lstStyle/>
                    <a:p>
                      <a:pPr algn="ctr">
                        <a:lnSpc>
                          <a:spcPts val="13720"/>
                        </a:lnSpc>
                        <a:defRPr/>
                      </a:pPr>
                      <a:r>
                        <a:rPr lang="en-US" sz="9800" spc="-784">
                          <a:solidFill>
                            <a:srgbClr val="383838"/>
                          </a:solidFill>
                          <a:latin typeface="Roca Two"/>
                          <a:ea typeface="Roca Two"/>
                          <a:cs typeface="Roca Two"/>
                          <a:sym typeface="Roca Two"/>
                        </a:rPr>
                        <a:t>Chương 4</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sp>
        <p:nvSpPr>
          <p:cNvPr name="TextBox 3" id="3"/>
          <p:cNvSpPr txBox="true"/>
          <p:nvPr/>
        </p:nvSpPr>
        <p:spPr>
          <a:xfrm rot="0">
            <a:off x="4166129" y="5048250"/>
            <a:ext cx="10499675"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Noto Sans Bold"/>
                <a:ea typeface="Noto Sans Bold"/>
                <a:cs typeface="Noto Sans Bold"/>
                <a:sym typeface="Noto Sans Bold"/>
              </a:rPr>
              <a:t>Thiết kế hệ thống Microservices</a:t>
            </a:r>
          </a:p>
        </p:txBody>
      </p:sp>
    </p:spTree>
  </p:cSld>
  <p:clrMapOvr>
    <a:masterClrMapping/>
  </p:clrMapOvr>
  <p:transition spd="fast">
    <p:push dir="l"/>
  </p:transition>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8908315" y="1749960"/>
            <a:ext cx="6955965" cy="7293279"/>
          </a:xfrm>
          <a:custGeom>
            <a:avLst/>
            <a:gdLst/>
            <a:ahLst/>
            <a:cxnLst/>
            <a:rect r="r" b="b" t="t" l="l"/>
            <a:pathLst>
              <a:path h="7293279" w="6955965">
                <a:moveTo>
                  <a:pt x="0" y="0"/>
                </a:moveTo>
                <a:lnTo>
                  <a:pt x="6955965" y="0"/>
                </a:lnTo>
                <a:lnTo>
                  <a:pt x="6955965" y="7293279"/>
                </a:lnTo>
                <a:lnTo>
                  <a:pt x="0" y="7293279"/>
                </a:lnTo>
                <a:lnTo>
                  <a:pt x="0" y="0"/>
                </a:lnTo>
                <a:close/>
              </a:path>
            </a:pathLst>
          </a:custGeom>
          <a:blipFill>
            <a:blip r:embed="rId2"/>
            <a:stretch>
              <a:fillRect l="0" t="0" r="0" b="0"/>
            </a:stretch>
          </a:blipFill>
        </p:spPr>
      </p:sp>
      <p:sp>
        <p:nvSpPr>
          <p:cNvPr name="TextBox 3" id="3"/>
          <p:cNvSpPr txBox="true"/>
          <p:nvPr/>
        </p:nvSpPr>
        <p:spPr>
          <a:xfrm rot="0">
            <a:off x="1701511" y="608330"/>
            <a:ext cx="5358904"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Decalotype Bold"/>
                <a:ea typeface="Decalotype Bold"/>
                <a:cs typeface="Decalotype Bold"/>
                <a:sym typeface="Decalotype Bold"/>
              </a:rPr>
              <a:t>System Context Diagram</a:t>
            </a:r>
          </a:p>
        </p:txBody>
      </p:sp>
      <p:sp>
        <p:nvSpPr>
          <p:cNvPr name="TextBox 4" id="4"/>
          <p:cNvSpPr txBox="true"/>
          <p:nvPr/>
        </p:nvSpPr>
        <p:spPr>
          <a:xfrm rot="0">
            <a:off x="1028700" y="1985782"/>
            <a:ext cx="6704526" cy="4939029"/>
          </a:xfrm>
          <a:prstGeom prst="rect">
            <a:avLst/>
          </a:prstGeom>
        </p:spPr>
        <p:txBody>
          <a:bodyPr anchor="t" rtlCol="false" tIns="0" lIns="0" bIns="0" rIns="0">
            <a:spAutoFit/>
          </a:bodyPr>
          <a:lstStyle/>
          <a:p>
            <a:pPr algn="l">
              <a:lnSpc>
                <a:spcPts val="3920"/>
              </a:lnSpc>
            </a:pPr>
            <a:r>
              <a:rPr lang="en-US" sz="2800">
                <a:solidFill>
                  <a:srgbClr val="000000"/>
                </a:solidFill>
                <a:latin typeface="Decalotype"/>
                <a:ea typeface="Decalotype"/>
                <a:cs typeface="Decalotype"/>
                <a:sym typeface="Decalotype"/>
              </a:rPr>
              <a:t>Mô tả phạm vi tổng thể hệ thống</a:t>
            </a:r>
          </a:p>
          <a:p>
            <a:pPr algn="l">
              <a:lnSpc>
                <a:spcPts val="3920"/>
              </a:lnSpc>
            </a:pPr>
            <a:r>
              <a:rPr lang="en-US" sz="2800">
                <a:solidFill>
                  <a:srgbClr val="000000"/>
                </a:solidFill>
                <a:latin typeface="Decalotype"/>
                <a:ea typeface="Decalotype"/>
                <a:cs typeface="Decalotype"/>
                <a:sym typeface="Decalotype"/>
              </a:rPr>
              <a:t>Các actor:</a:t>
            </a:r>
          </a:p>
          <a:p>
            <a:pPr algn="l" marL="604532" indent="-302266" lvl="1">
              <a:lnSpc>
                <a:spcPts val="3920"/>
              </a:lnSpc>
              <a:buFont typeface="Arial"/>
              <a:buChar char="•"/>
            </a:pPr>
            <a:r>
              <a:rPr lang="en-US" sz="2800">
                <a:solidFill>
                  <a:srgbClr val="000000"/>
                </a:solidFill>
                <a:latin typeface="Decalotype"/>
                <a:ea typeface="Decalotype"/>
                <a:cs typeface="Decalotype"/>
                <a:sym typeface="Decalotype"/>
              </a:rPr>
              <a:t>Customer</a:t>
            </a:r>
          </a:p>
          <a:p>
            <a:pPr algn="l" marL="604532" indent="-302266" lvl="1">
              <a:lnSpc>
                <a:spcPts val="3920"/>
              </a:lnSpc>
              <a:buFont typeface="Arial"/>
              <a:buChar char="•"/>
            </a:pPr>
            <a:r>
              <a:rPr lang="en-US" sz="2800">
                <a:solidFill>
                  <a:srgbClr val="000000"/>
                </a:solidFill>
                <a:latin typeface="Decalotype"/>
                <a:ea typeface="Decalotype"/>
                <a:cs typeface="Decalotype"/>
                <a:sym typeface="Decalotype"/>
              </a:rPr>
              <a:t>Seller</a:t>
            </a:r>
          </a:p>
          <a:p>
            <a:pPr algn="l" marL="604532" indent="-302266" lvl="1">
              <a:lnSpc>
                <a:spcPts val="3920"/>
              </a:lnSpc>
              <a:buFont typeface="Arial"/>
              <a:buChar char="•"/>
            </a:pPr>
            <a:r>
              <a:rPr lang="en-US" sz="2800">
                <a:solidFill>
                  <a:srgbClr val="000000"/>
                </a:solidFill>
                <a:latin typeface="Decalotype"/>
                <a:ea typeface="Decalotype"/>
                <a:cs typeface="Decalotype"/>
                <a:sym typeface="Decalotype"/>
              </a:rPr>
              <a:t>Admin</a:t>
            </a:r>
          </a:p>
          <a:p>
            <a:pPr algn="l">
              <a:lnSpc>
                <a:spcPts val="3920"/>
              </a:lnSpc>
            </a:pPr>
            <a:r>
              <a:rPr lang="en-US" sz="2800">
                <a:solidFill>
                  <a:srgbClr val="000000"/>
                </a:solidFill>
                <a:latin typeface="Decalotype"/>
                <a:ea typeface="Decalotype"/>
                <a:cs typeface="Decalotype"/>
                <a:sym typeface="Decalotype"/>
              </a:rPr>
              <a:t>Kết nối với:</a:t>
            </a:r>
          </a:p>
          <a:p>
            <a:pPr algn="l" marL="604532" indent="-302266" lvl="1">
              <a:lnSpc>
                <a:spcPts val="3920"/>
              </a:lnSpc>
              <a:buFont typeface="Arial"/>
              <a:buChar char="•"/>
            </a:pPr>
            <a:r>
              <a:rPr lang="en-US" sz="2800">
                <a:solidFill>
                  <a:srgbClr val="000000"/>
                </a:solidFill>
                <a:latin typeface="Decalotype"/>
                <a:ea typeface="Decalotype"/>
                <a:cs typeface="Decalotype"/>
                <a:sym typeface="Decalotype"/>
              </a:rPr>
              <a:t>Payment Gateway</a:t>
            </a:r>
          </a:p>
          <a:p>
            <a:pPr algn="l" marL="604532" indent="-302266" lvl="1">
              <a:lnSpc>
                <a:spcPts val="3920"/>
              </a:lnSpc>
              <a:buFont typeface="Arial"/>
              <a:buChar char="•"/>
            </a:pPr>
            <a:r>
              <a:rPr lang="en-US" sz="2800">
                <a:solidFill>
                  <a:srgbClr val="000000"/>
                </a:solidFill>
                <a:latin typeface="Decalotype"/>
                <a:ea typeface="Decalotype"/>
                <a:cs typeface="Decalotype"/>
                <a:sym typeface="Decalotype"/>
              </a:rPr>
              <a:t>Cloudinary</a:t>
            </a:r>
          </a:p>
          <a:p>
            <a:pPr algn="l" marL="604532" indent="-302266" lvl="1">
              <a:lnSpc>
                <a:spcPts val="3920"/>
              </a:lnSpc>
              <a:buFont typeface="Arial"/>
              <a:buChar char="•"/>
            </a:pPr>
            <a:r>
              <a:rPr lang="en-US" sz="2800">
                <a:solidFill>
                  <a:srgbClr val="000000"/>
                </a:solidFill>
                <a:latin typeface="Decalotype"/>
                <a:ea typeface="Decalotype"/>
                <a:cs typeface="Decalotype"/>
                <a:sym typeface="Decalotype"/>
              </a:rPr>
              <a:t>AI Agent</a:t>
            </a:r>
          </a:p>
          <a:p>
            <a:pPr algn="l" marL="604532" indent="-302266" lvl="1">
              <a:lnSpc>
                <a:spcPts val="3920"/>
              </a:lnSpc>
              <a:buFont typeface="Arial"/>
              <a:buChar char="•"/>
            </a:pPr>
            <a:r>
              <a:rPr lang="en-US" sz="2800">
                <a:solidFill>
                  <a:srgbClr val="000000"/>
                </a:solidFill>
                <a:latin typeface="Decalotype"/>
                <a:ea typeface="Decalotype"/>
                <a:cs typeface="Decalotype"/>
                <a:sym typeface="Decalotype"/>
              </a:rPr>
              <a:t>Luồng dữ liệu giữa hệ thống và bên ngoài</a:t>
            </a:r>
          </a:p>
        </p:txBody>
      </p:sp>
      <p:sp>
        <p:nvSpPr>
          <p:cNvPr name="TextBox 5" id="5"/>
          <p:cNvSpPr txBox="true"/>
          <p:nvPr/>
        </p:nvSpPr>
        <p:spPr>
          <a:xfrm rot="0">
            <a:off x="10821918" y="9248775"/>
            <a:ext cx="3965674" cy="321489"/>
          </a:xfrm>
          <a:prstGeom prst="rect">
            <a:avLst/>
          </a:prstGeom>
        </p:spPr>
        <p:txBody>
          <a:bodyPr anchor="t" rtlCol="false" tIns="0" lIns="0" bIns="0" rIns="0">
            <a:spAutoFit/>
          </a:bodyPr>
          <a:lstStyle/>
          <a:p>
            <a:pPr algn="ctr">
              <a:lnSpc>
                <a:spcPts val="2697"/>
              </a:lnSpc>
              <a:spcBef>
                <a:spcPct val="0"/>
              </a:spcBef>
            </a:pPr>
            <a:r>
              <a:rPr lang="en-US" sz="2107" i="true" spc="-52">
                <a:solidFill>
                  <a:srgbClr val="000000"/>
                </a:solidFill>
                <a:latin typeface="Noto Sans Italics"/>
                <a:ea typeface="Noto Sans Italics"/>
                <a:cs typeface="Noto Sans Italics"/>
                <a:sym typeface="Noto Sans Italics"/>
              </a:rPr>
              <a:t> Hình 22: System Context Diagram  </a:t>
            </a:r>
          </a:p>
        </p:txBody>
      </p:sp>
    </p:spTree>
  </p:cSld>
  <p:clrMapOvr>
    <a:masterClrMapping/>
  </p:clrMapOvr>
  <p:transition spd="fast">
    <p:push dir="l"/>
  </p:transition>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08446" y="1698723"/>
            <a:ext cx="7696511" cy="6159464"/>
          </a:xfrm>
          <a:custGeom>
            <a:avLst/>
            <a:gdLst/>
            <a:ahLst/>
            <a:cxnLst/>
            <a:rect r="r" b="b" t="t" l="l"/>
            <a:pathLst>
              <a:path h="6159464" w="7696511">
                <a:moveTo>
                  <a:pt x="0" y="0"/>
                </a:moveTo>
                <a:lnTo>
                  <a:pt x="7696511" y="0"/>
                </a:lnTo>
                <a:lnTo>
                  <a:pt x="7696511" y="6159464"/>
                </a:lnTo>
                <a:lnTo>
                  <a:pt x="0" y="6159464"/>
                </a:lnTo>
                <a:lnTo>
                  <a:pt x="0" y="0"/>
                </a:lnTo>
                <a:close/>
              </a:path>
            </a:pathLst>
          </a:custGeom>
          <a:blipFill>
            <a:blip r:embed="rId4"/>
            <a:stretch>
              <a:fillRect l="0" t="0" r="0" b="0"/>
            </a:stretch>
          </a:blipFill>
        </p:spPr>
      </p:sp>
      <p:sp>
        <p:nvSpPr>
          <p:cNvPr name="TextBox 4" id="4"/>
          <p:cNvSpPr txBox="true"/>
          <p:nvPr/>
        </p:nvSpPr>
        <p:spPr>
          <a:xfrm rot="0">
            <a:off x="877398" y="195781"/>
            <a:ext cx="5839824"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Container Diagram</a:t>
            </a:r>
          </a:p>
        </p:txBody>
      </p:sp>
      <p:sp>
        <p:nvSpPr>
          <p:cNvPr name="TextBox 5" id="5"/>
          <p:cNvSpPr txBox="true"/>
          <p:nvPr/>
        </p:nvSpPr>
        <p:spPr>
          <a:xfrm rot="0">
            <a:off x="1270241" y="1875216"/>
            <a:ext cx="7047777" cy="5982971"/>
          </a:xfrm>
          <a:prstGeom prst="rect">
            <a:avLst/>
          </a:prstGeom>
        </p:spPr>
        <p:txBody>
          <a:bodyPr anchor="t" rtlCol="false" tIns="0" lIns="0" bIns="0" rIns="0">
            <a:spAutoFit/>
          </a:bodyPr>
          <a:lstStyle/>
          <a:p>
            <a:pPr algn="just">
              <a:lnSpc>
                <a:spcPts val="4726"/>
              </a:lnSpc>
              <a:spcBef>
                <a:spcPct val="0"/>
              </a:spcBef>
            </a:pPr>
            <a:r>
              <a:rPr lang="en-US" sz="3259">
                <a:solidFill>
                  <a:srgbClr val="383838"/>
                </a:solidFill>
                <a:latin typeface="Decalotype"/>
                <a:ea typeface="Decalotype"/>
                <a:cs typeface="Decalotype"/>
                <a:sym typeface="Decalotype"/>
              </a:rPr>
              <a:t>Con</a:t>
            </a:r>
            <a:r>
              <a:rPr lang="en-US" sz="3259">
                <a:solidFill>
                  <a:srgbClr val="383838"/>
                </a:solidFill>
                <a:latin typeface="Decalotype"/>
                <a:ea typeface="Decalotype"/>
                <a:cs typeface="Decalotype"/>
                <a:sym typeface="Decalotype"/>
              </a:rPr>
              <a:t>tainer Diagram mô tả các thành phần chính của hệ thống và cách chúng giao tiếp với nhau. Các container có thể là Frontend, Backend, Database hoặc các dịch vụ khác. Sơ đồ giúp thể hiện:</a:t>
            </a:r>
          </a:p>
          <a:p>
            <a:pPr algn="just" marL="703826" indent="-351913" lvl="1">
              <a:lnSpc>
                <a:spcPts val="4726"/>
              </a:lnSpc>
              <a:spcBef>
                <a:spcPct val="0"/>
              </a:spcBef>
              <a:buFont typeface="Arial"/>
              <a:buChar char="•"/>
            </a:pPr>
            <a:r>
              <a:rPr lang="en-US" sz="3259">
                <a:solidFill>
                  <a:srgbClr val="383838"/>
                </a:solidFill>
                <a:latin typeface="Decalotype"/>
                <a:ea typeface="Decalotype"/>
                <a:cs typeface="Decalotype"/>
                <a:sym typeface="Decalotype"/>
              </a:rPr>
              <a:t>Công nghệ sử dụng</a:t>
            </a:r>
          </a:p>
          <a:p>
            <a:pPr algn="just" marL="703826" indent="-351913" lvl="1">
              <a:lnSpc>
                <a:spcPts val="4726"/>
              </a:lnSpc>
              <a:buFont typeface="Arial"/>
              <a:buChar char="•"/>
            </a:pPr>
            <a:r>
              <a:rPr lang="en-US" sz="3259">
                <a:solidFill>
                  <a:srgbClr val="383838"/>
                </a:solidFill>
                <a:latin typeface="Decalotype"/>
                <a:ea typeface="Decalotype"/>
                <a:cs typeface="Decalotype"/>
                <a:sym typeface="Decalotype"/>
              </a:rPr>
              <a:t>Mối quan hệ giữa c</a:t>
            </a:r>
            <a:r>
              <a:rPr lang="en-US" sz="3259">
                <a:solidFill>
                  <a:srgbClr val="383838"/>
                </a:solidFill>
                <a:latin typeface="Decalotype"/>
                <a:ea typeface="Decalotype"/>
                <a:cs typeface="Decalotype"/>
                <a:sym typeface="Decalotype"/>
              </a:rPr>
              <a:t>ác container</a:t>
            </a:r>
          </a:p>
          <a:p>
            <a:pPr algn="just" marL="703826" indent="-351913" lvl="1">
              <a:lnSpc>
                <a:spcPts val="4726"/>
              </a:lnSpc>
              <a:spcBef>
                <a:spcPct val="0"/>
              </a:spcBef>
              <a:buFont typeface="Arial"/>
              <a:buChar char="•"/>
            </a:pPr>
            <a:r>
              <a:rPr lang="en-US" sz="3259">
                <a:solidFill>
                  <a:srgbClr val="383838"/>
                </a:solidFill>
                <a:latin typeface="Decalotype"/>
                <a:ea typeface="Decalotype"/>
                <a:cs typeface="Decalotype"/>
                <a:sym typeface="Decalotype"/>
              </a:rPr>
              <a:t>Cách hệ t</a:t>
            </a:r>
            <a:r>
              <a:rPr lang="en-US" sz="3259">
                <a:solidFill>
                  <a:srgbClr val="383838"/>
                </a:solidFill>
                <a:latin typeface="Decalotype"/>
                <a:ea typeface="Decalotype"/>
                <a:cs typeface="Decalotype"/>
                <a:sym typeface="Decalotype"/>
              </a:rPr>
              <a:t>hống tương tác với người dùng và dịch vụ bên ngoài.</a:t>
            </a:r>
          </a:p>
          <a:p>
            <a:pPr algn="just">
              <a:lnSpc>
                <a:spcPts val="4726"/>
              </a:lnSpc>
              <a:spcBef>
                <a:spcPct val="0"/>
              </a:spcBef>
            </a:pPr>
          </a:p>
        </p:txBody>
      </p:sp>
      <p:sp>
        <p:nvSpPr>
          <p:cNvPr name="TextBox 6" id="6"/>
          <p:cNvSpPr txBox="true"/>
          <p:nvPr/>
        </p:nvSpPr>
        <p:spPr>
          <a:xfrm rot="0">
            <a:off x="11954499" y="8130896"/>
            <a:ext cx="3768527" cy="375591"/>
          </a:xfrm>
          <a:prstGeom prst="rect">
            <a:avLst/>
          </a:prstGeom>
        </p:spPr>
        <p:txBody>
          <a:bodyPr anchor="t" rtlCol="false" tIns="0" lIns="0" bIns="0" rIns="0">
            <a:spAutoFit/>
          </a:bodyPr>
          <a:lstStyle/>
          <a:p>
            <a:pPr algn="ctr">
              <a:lnSpc>
                <a:spcPts val="3081"/>
              </a:lnSpc>
              <a:spcBef>
                <a:spcPct val="0"/>
              </a:spcBef>
            </a:pPr>
            <a:r>
              <a:rPr lang="en-US" sz="2407" i="true" spc="-60">
                <a:solidFill>
                  <a:srgbClr val="383838"/>
                </a:solidFill>
                <a:latin typeface="Noto Sans Italics"/>
                <a:ea typeface="Noto Sans Italics"/>
                <a:cs typeface="Noto Sans Italics"/>
                <a:sym typeface="Noto Sans Italics"/>
              </a:rPr>
              <a:t> Hình 23 : Container Diagram</a:t>
            </a:r>
          </a:p>
        </p:txBody>
      </p:sp>
    </p:spTree>
  </p:cSld>
  <p:clrMapOvr>
    <a:masterClrMapping/>
  </p:clrMapOvr>
  <p:transition spd="fast">
    <p:push dir="l"/>
  </p:transition>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761705" y="2071039"/>
            <a:ext cx="8703153" cy="5787148"/>
          </a:xfrm>
          <a:custGeom>
            <a:avLst/>
            <a:gdLst/>
            <a:ahLst/>
            <a:cxnLst/>
            <a:rect r="r" b="b" t="t" l="l"/>
            <a:pathLst>
              <a:path h="5787148" w="8703153">
                <a:moveTo>
                  <a:pt x="0" y="0"/>
                </a:moveTo>
                <a:lnTo>
                  <a:pt x="8703153" y="0"/>
                </a:lnTo>
                <a:lnTo>
                  <a:pt x="8703153" y="5787148"/>
                </a:lnTo>
                <a:lnTo>
                  <a:pt x="0" y="5787148"/>
                </a:lnTo>
                <a:lnTo>
                  <a:pt x="0" y="0"/>
                </a:lnTo>
                <a:close/>
              </a:path>
            </a:pathLst>
          </a:custGeom>
          <a:blipFill>
            <a:blip r:embed="rId4"/>
            <a:stretch>
              <a:fillRect l="0" t="0" r="0" b="0"/>
            </a:stretch>
          </a:blipFill>
        </p:spPr>
      </p:sp>
      <p:sp>
        <p:nvSpPr>
          <p:cNvPr name="TextBox 4" id="4"/>
          <p:cNvSpPr txBox="true"/>
          <p:nvPr/>
        </p:nvSpPr>
        <p:spPr>
          <a:xfrm rot="0">
            <a:off x="642762" y="588428"/>
            <a:ext cx="8302735"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Giao tiếp trong microservice</a:t>
            </a:r>
          </a:p>
        </p:txBody>
      </p:sp>
      <p:sp>
        <p:nvSpPr>
          <p:cNvPr name="TextBox 5" id="5"/>
          <p:cNvSpPr txBox="true"/>
          <p:nvPr/>
        </p:nvSpPr>
        <p:spPr>
          <a:xfrm rot="0">
            <a:off x="1270241" y="1875216"/>
            <a:ext cx="7047777" cy="5982971"/>
          </a:xfrm>
          <a:prstGeom prst="rect">
            <a:avLst/>
          </a:prstGeom>
        </p:spPr>
        <p:txBody>
          <a:bodyPr anchor="t" rtlCol="false" tIns="0" lIns="0" bIns="0" rIns="0">
            <a:spAutoFit/>
          </a:bodyPr>
          <a:lstStyle/>
          <a:p>
            <a:pPr algn="just">
              <a:lnSpc>
                <a:spcPts val="4726"/>
              </a:lnSpc>
              <a:spcBef>
                <a:spcPct val="0"/>
              </a:spcBef>
            </a:pPr>
            <a:r>
              <a:rPr lang="en-US" sz="3259">
                <a:solidFill>
                  <a:srgbClr val="383838"/>
                </a:solidFill>
                <a:latin typeface="Decalotype"/>
                <a:ea typeface="Decalotype"/>
                <a:cs typeface="Decalotype"/>
                <a:sym typeface="Decalotype"/>
              </a:rPr>
              <a:t>Trong k</a:t>
            </a:r>
            <a:r>
              <a:rPr lang="en-US" sz="3259">
                <a:solidFill>
                  <a:srgbClr val="383838"/>
                </a:solidFill>
                <a:latin typeface="Decalotype"/>
                <a:ea typeface="Decalotype"/>
                <a:cs typeface="Decalotype"/>
                <a:sym typeface="Decalotype"/>
              </a:rPr>
              <a:t>iến trúc Microservices, hệ thống được chia thành nhiều service nhỏ và giao tiếp với nhau để xử lý nghiệp vụ. Có hai hình thức giao tiếp chính:</a:t>
            </a:r>
          </a:p>
          <a:p>
            <a:pPr algn="just" marL="703826" indent="-351913" lvl="1">
              <a:lnSpc>
                <a:spcPts val="4726"/>
              </a:lnSpc>
              <a:spcBef>
                <a:spcPct val="0"/>
              </a:spcBef>
              <a:buFont typeface="Arial"/>
              <a:buChar char="•"/>
            </a:pPr>
            <a:r>
              <a:rPr lang="en-US" sz="3259">
                <a:solidFill>
                  <a:srgbClr val="383838"/>
                </a:solidFill>
                <a:latin typeface="Decalotype"/>
                <a:ea typeface="Decalotype"/>
                <a:cs typeface="Decalotype"/>
                <a:sym typeface="Decalotype"/>
              </a:rPr>
              <a:t>Giao tiếp đồng bộ (Synchronous)</a:t>
            </a:r>
          </a:p>
          <a:p>
            <a:pPr algn="just" marL="703826" indent="-351913" lvl="1">
              <a:lnSpc>
                <a:spcPts val="4726"/>
              </a:lnSpc>
              <a:buFont typeface="Arial"/>
              <a:buChar char="•"/>
            </a:pPr>
            <a:r>
              <a:rPr lang="en-US" sz="3259">
                <a:solidFill>
                  <a:srgbClr val="383838"/>
                </a:solidFill>
                <a:latin typeface="Decalotype"/>
                <a:ea typeface="Decalotype"/>
                <a:cs typeface="Decalotype"/>
                <a:sym typeface="Decalotype"/>
              </a:rPr>
              <a:t>G</a:t>
            </a:r>
            <a:r>
              <a:rPr lang="en-US" sz="3259">
                <a:solidFill>
                  <a:srgbClr val="383838"/>
                </a:solidFill>
                <a:latin typeface="Decalotype"/>
                <a:ea typeface="Decalotype"/>
                <a:cs typeface="Decalotype"/>
                <a:sym typeface="Decalotype"/>
              </a:rPr>
              <a:t>iao tiếp bất đồng bộ</a:t>
            </a:r>
            <a:r>
              <a:rPr lang="en-US" sz="3259">
                <a:solidFill>
                  <a:srgbClr val="383838"/>
                </a:solidFill>
                <a:latin typeface="Decalotype"/>
                <a:ea typeface="Decalotype"/>
                <a:cs typeface="Decalotype"/>
                <a:sym typeface="Decalotype"/>
              </a:rPr>
              <a:t> (Asynchronous)</a:t>
            </a:r>
          </a:p>
          <a:p>
            <a:pPr algn="just">
              <a:lnSpc>
                <a:spcPts val="4726"/>
              </a:lnSpc>
              <a:spcBef>
                <a:spcPct val="0"/>
              </a:spcBef>
            </a:pPr>
            <a:r>
              <a:rPr lang="en-US" sz="3259">
                <a:solidFill>
                  <a:srgbClr val="383838"/>
                </a:solidFill>
                <a:latin typeface="Decalotype"/>
                <a:ea typeface="Decalotype"/>
                <a:cs typeface="Decalotype"/>
                <a:sym typeface="Decalotype"/>
              </a:rPr>
              <a:t>Trong hệ t</a:t>
            </a:r>
            <a:r>
              <a:rPr lang="en-US" sz="3259">
                <a:solidFill>
                  <a:srgbClr val="383838"/>
                </a:solidFill>
                <a:latin typeface="Decalotype"/>
                <a:ea typeface="Decalotype"/>
                <a:cs typeface="Decalotype"/>
                <a:sym typeface="Decalotype"/>
              </a:rPr>
              <a:t>hống thương mại điện tử, cả hai được sử dụng để đảm bảo hiệu năng, tính ổn định và khả năng mở rộng hệ thống.</a:t>
            </a:r>
          </a:p>
          <a:p>
            <a:pPr algn="just">
              <a:lnSpc>
                <a:spcPts val="4726"/>
              </a:lnSpc>
              <a:spcBef>
                <a:spcPct val="0"/>
              </a:spcBef>
            </a:pPr>
          </a:p>
        </p:txBody>
      </p:sp>
      <p:sp>
        <p:nvSpPr>
          <p:cNvPr name="TextBox 6" id="6"/>
          <p:cNvSpPr txBox="true"/>
          <p:nvPr/>
        </p:nvSpPr>
        <p:spPr>
          <a:xfrm rot="0">
            <a:off x="11380271" y="8130896"/>
            <a:ext cx="4916984" cy="375591"/>
          </a:xfrm>
          <a:prstGeom prst="rect">
            <a:avLst/>
          </a:prstGeom>
        </p:spPr>
        <p:txBody>
          <a:bodyPr anchor="t" rtlCol="false" tIns="0" lIns="0" bIns="0" rIns="0">
            <a:spAutoFit/>
          </a:bodyPr>
          <a:lstStyle/>
          <a:p>
            <a:pPr algn="ctr">
              <a:lnSpc>
                <a:spcPts val="3081"/>
              </a:lnSpc>
              <a:spcBef>
                <a:spcPct val="0"/>
              </a:spcBef>
            </a:pPr>
            <a:r>
              <a:rPr lang="en-US" sz="2407" i="true" spc="-60">
                <a:solidFill>
                  <a:srgbClr val="383838"/>
                </a:solidFill>
                <a:latin typeface="Noto Sans Italics"/>
                <a:ea typeface="Noto Sans Italics"/>
                <a:cs typeface="Noto Sans Italics"/>
                <a:sym typeface="Noto Sans Italics"/>
              </a:rPr>
              <a:t> Hình 24 : Giao tiếp trong microservice</a:t>
            </a:r>
          </a:p>
        </p:txBody>
      </p:sp>
    </p:spTree>
  </p:cSld>
  <p:clrMapOvr>
    <a:masterClrMapping/>
  </p:clrMapOvr>
  <p:transition spd="fast">
    <p:push dir="l"/>
  </p:transition>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579892" y="2358357"/>
            <a:ext cx="8555015" cy="5570286"/>
          </a:xfrm>
          <a:custGeom>
            <a:avLst/>
            <a:gdLst/>
            <a:ahLst/>
            <a:cxnLst/>
            <a:rect r="r" b="b" t="t" l="l"/>
            <a:pathLst>
              <a:path h="5570286" w="8555015">
                <a:moveTo>
                  <a:pt x="0" y="0"/>
                </a:moveTo>
                <a:lnTo>
                  <a:pt x="8555016" y="0"/>
                </a:lnTo>
                <a:lnTo>
                  <a:pt x="8555016" y="5570286"/>
                </a:lnTo>
                <a:lnTo>
                  <a:pt x="0" y="5570286"/>
                </a:lnTo>
                <a:lnTo>
                  <a:pt x="0" y="0"/>
                </a:lnTo>
                <a:close/>
              </a:path>
            </a:pathLst>
          </a:custGeom>
          <a:blipFill>
            <a:blip r:embed="rId4"/>
            <a:stretch>
              <a:fillRect l="0" t="0" r="0" b="0"/>
            </a:stretch>
          </a:blipFill>
        </p:spPr>
      </p:sp>
      <p:sp>
        <p:nvSpPr>
          <p:cNvPr name="TextBox 4" id="4"/>
          <p:cNvSpPr txBox="true"/>
          <p:nvPr/>
        </p:nvSpPr>
        <p:spPr>
          <a:xfrm rot="0">
            <a:off x="642762" y="588428"/>
            <a:ext cx="108476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RESTful API trong kiến trúc Microservices</a:t>
            </a:r>
          </a:p>
        </p:txBody>
      </p:sp>
      <p:sp>
        <p:nvSpPr>
          <p:cNvPr name="TextBox 5" id="5"/>
          <p:cNvSpPr txBox="true"/>
          <p:nvPr/>
        </p:nvSpPr>
        <p:spPr>
          <a:xfrm rot="0">
            <a:off x="1270241" y="1865691"/>
            <a:ext cx="6484370" cy="7210425"/>
          </a:xfrm>
          <a:prstGeom prst="rect">
            <a:avLst/>
          </a:prstGeom>
        </p:spPr>
        <p:txBody>
          <a:bodyPr anchor="t" rtlCol="false" tIns="0" lIns="0" bIns="0" rIns="0">
            <a:spAutoFit/>
          </a:bodyPr>
          <a:lstStyle/>
          <a:p>
            <a:pPr algn="l" marL="777238" indent="-388619" lvl="1">
              <a:lnSpc>
                <a:spcPts val="5219"/>
              </a:lnSpc>
              <a:buFont typeface="Arial"/>
              <a:buChar char="•"/>
            </a:pPr>
            <a:r>
              <a:rPr lang="en-US" sz="3599">
                <a:solidFill>
                  <a:srgbClr val="383838"/>
                </a:solidFill>
                <a:latin typeface="Decalotype"/>
                <a:ea typeface="Decalotype"/>
                <a:cs typeface="Decalotype"/>
                <a:sym typeface="Decalotype"/>
              </a:rPr>
              <a:t>RESTful API là cơ</a:t>
            </a:r>
            <a:r>
              <a:rPr lang="en-US" sz="3599">
                <a:solidFill>
                  <a:srgbClr val="383838"/>
                </a:solidFill>
                <a:latin typeface="Decalotype"/>
                <a:ea typeface="Decalotype"/>
                <a:cs typeface="Decalotype"/>
                <a:sym typeface="Decalotype"/>
              </a:rPr>
              <a:t> chế giao tiếp giữa Client và Server qua HTTP/HTTPS, sử dụng các phương thức như GET, POST, PUT, DELETE và dữ liệu dạng JSON/XML.</a:t>
            </a:r>
          </a:p>
          <a:p>
            <a:pPr algn="l" marL="777238" indent="-388619" lvl="1">
              <a:lnSpc>
                <a:spcPts val="5219"/>
              </a:lnSpc>
              <a:buFont typeface="Arial"/>
              <a:buChar char="•"/>
            </a:pPr>
            <a:r>
              <a:rPr lang="en-US" sz="3599">
                <a:solidFill>
                  <a:srgbClr val="383838"/>
                </a:solidFill>
                <a:latin typeface="Decalotype"/>
                <a:ea typeface="Decalotype"/>
                <a:cs typeface="Decalotype"/>
                <a:sym typeface="Decalotype"/>
              </a:rPr>
              <a:t>Trong hệ thống Shop Micro, RESTful API giúp kết nối các Microservices một cách chuẩn hóa và bảo mật.</a:t>
            </a:r>
          </a:p>
          <a:p>
            <a:pPr algn="l">
              <a:lnSpc>
                <a:spcPts val="5219"/>
              </a:lnSpc>
            </a:pPr>
          </a:p>
        </p:txBody>
      </p:sp>
      <p:sp>
        <p:nvSpPr>
          <p:cNvPr name="TextBox 6" id="6"/>
          <p:cNvSpPr txBox="true"/>
          <p:nvPr/>
        </p:nvSpPr>
        <p:spPr>
          <a:xfrm rot="0">
            <a:off x="9875878" y="8345957"/>
            <a:ext cx="6563717" cy="375591"/>
          </a:xfrm>
          <a:prstGeom prst="rect">
            <a:avLst/>
          </a:prstGeom>
        </p:spPr>
        <p:txBody>
          <a:bodyPr anchor="t" rtlCol="false" tIns="0" lIns="0" bIns="0" rIns="0">
            <a:spAutoFit/>
          </a:bodyPr>
          <a:lstStyle/>
          <a:p>
            <a:pPr algn="ctr">
              <a:lnSpc>
                <a:spcPts val="3081"/>
              </a:lnSpc>
              <a:spcBef>
                <a:spcPct val="0"/>
              </a:spcBef>
            </a:pPr>
            <a:r>
              <a:rPr lang="en-US" sz="2407" i="true" spc="-60">
                <a:solidFill>
                  <a:srgbClr val="383838"/>
                </a:solidFill>
                <a:latin typeface="Noto Sans Italics"/>
                <a:ea typeface="Noto Sans Italics"/>
                <a:cs typeface="Noto Sans Italics"/>
                <a:sym typeface="Noto Sans Italics"/>
              </a:rPr>
              <a:t> Hình 25 : RESTful API trong kiến trúc Microservices </a:t>
            </a:r>
          </a:p>
        </p:txBody>
      </p:sp>
    </p:spTree>
  </p:cSld>
  <p:clrMapOvr>
    <a:masterClrMapping/>
  </p:clrMapOvr>
  <p:transition spd="fast">
    <p:push dir="l"/>
  </p:transition>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080540" y="1725900"/>
            <a:ext cx="8054368" cy="6835201"/>
          </a:xfrm>
          <a:custGeom>
            <a:avLst/>
            <a:gdLst/>
            <a:ahLst/>
            <a:cxnLst/>
            <a:rect r="r" b="b" t="t" l="l"/>
            <a:pathLst>
              <a:path h="6835201" w="8054368">
                <a:moveTo>
                  <a:pt x="0" y="0"/>
                </a:moveTo>
                <a:lnTo>
                  <a:pt x="8054368" y="0"/>
                </a:lnTo>
                <a:lnTo>
                  <a:pt x="8054368" y="6835200"/>
                </a:lnTo>
                <a:lnTo>
                  <a:pt x="0" y="6835200"/>
                </a:lnTo>
                <a:lnTo>
                  <a:pt x="0" y="0"/>
                </a:lnTo>
                <a:close/>
              </a:path>
            </a:pathLst>
          </a:custGeom>
          <a:blipFill>
            <a:blip r:embed="rId4"/>
            <a:stretch>
              <a:fillRect l="0" t="0" r="0" b="0"/>
            </a:stretch>
          </a:blipFill>
        </p:spPr>
      </p:sp>
      <p:sp>
        <p:nvSpPr>
          <p:cNvPr name="TextBox 4" id="4"/>
          <p:cNvSpPr txBox="true"/>
          <p:nvPr/>
        </p:nvSpPr>
        <p:spPr>
          <a:xfrm rot="0">
            <a:off x="642762" y="588428"/>
            <a:ext cx="108476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Triển khai hệ thống</a:t>
            </a:r>
          </a:p>
        </p:txBody>
      </p:sp>
      <p:sp>
        <p:nvSpPr>
          <p:cNvPr name="TextBox 5" id="5"/>
          <p:cNvSpPr txBox="true"/>
          <p:nvPr/>
        </p:nvSpPr>
        <p:spPr>
          <a:xfrm rot="0">
            <a:off x="1289291" y="1884741"/>
            <a:ext cx="6484370" cy="7715250"/>
          </a:xfrm>
          <a:prstGeom prst="rect">
            <a:avLst/>
          </a:prstGeom>
        </p:spPr>
        <p:txBody>
          <a:bodyPr anchor="t" rtlCol="false" tIns="0" lIns="0" bIns="0" rIns="0">
            <a:spAutoFit/>
          </a:bodyPr>
          <a:lstStyle/>
          <a:p>
            <a:pPr algn="l">
              <a:lnSpc>
                <a:spcPts val="4350"/>
              </a:lnSpc>
            </a:pPr>
            <a:r>
              <a:rPr lang="en-US" sz="3000">
                <a:solidFill>
                  <a:srgbClr val="383838"/>
                </a:solidFill>
                <a:latin typeface="Decalotype"/>
                <a:ea typeface="Decalotype"/>
                <a:cs typeface="Decalotype"/>
                <a:sym typeface="Decalotype"/>
              </a:rPr>
              <a:t>Docke</a:t>
            </a:r>
            <a:r>
              <a:rPr lang="en-US" sz="3000">
                <a:solidFill>
                  <a:srgbClr val="383838"/>
                </a:solidFill>
                <a:latin typeface="Decalotype"/>
                <a:ea typeface="Decalotype"/>
                <a:cs typeface="Decalotype"/>
                <a:sym typeface="Decalotype"/>
              </a:rPr>
              <a:t>r giúp đóng gói và chạy ứng dụng ổn định trên nhiều môi trường.</a:t>
            </a:r>
          </a:p>
          <a:p>
            <a:pPr algn="l">
              <a:lnSpc>
                <a:spcPts val="4350"/>
              </a:lnSpc>
              <a:spcBef>
                <a:spcPct val="0"/>
              </a:spcBef>
            </a:pPr>
            <a:r>
              <a:rPr lang="en-US" sz="3000">
                <a:solidFill>
                  <a:srgbClr val="383838"/>
                </a:solidFill>
                <a:latin typeface="Decalotype"/>
                <a:ea typeface="Decalotype"/>
                <a:cs typeface="Decalotype"/>
                <a:sym typeface="Decalotype"/>
              </a:rPr>
              <a:t>Hệ thống sử dụng kiến trúc Microservices, các service giao tiếp qua REST API hoặc Message Queue.</a:t>
            </a:r>
          </a:p>
          <a:p>
            <a:pPr algn="l">
              <a:lnSpc>
                <a:spcPts val="4350"/>
              </a:lnSpc>
              <a:spcBef>
                <a:spcPct val="0"/>
              </a:spcBef>
            </a:pPr>
            <a:r>
              <a:rPr lang="en-US" sz="3000">
                <a:solidFill>
                  <a:srgbClr val="383838"/>
                </a:solidFill>
                <a:latin typeface="Decalotype"/>
                <a:ea typeface="Decalotype"/>
                <a:cs typeface="Decalotype"/>
                <a:sym typeface="Decalotype"/>
              </a:rPr>
              <a:t>Quy trình triển khai:</a:t>
            </a:r>
          </a:p>
          <a:p>
            <a:pPr algn="l" marL="647702" indent="-323851" lvl="1">
              <a:lnSpc>
                <a:spcPts val="4350"/>
              </a:lnSpc>
              <a:spcBef>
                <a:spcPct val="0"/>
              </a:spcBef>
              <a:buFont typeface="Arial"/>
              <a:buChar char="•"/>
            </a:pPr>
            <a:r>
              <a:rPr lang="en-US" sz="3000">
                <a:solidFill>
                  <a:srgbClr val="383838"/>
                </a:solidFill>
                <a:latin typeface="Decalotype"/>
                <a:ea typeface="Decalotype"/>
                <a:cs typeface="Decalotype"/>
                <a:sym typeface="Decalotype"/>
              </a:rPr>
              <a:t>Viết mã nguồn cho từng service</a:t>
            </a:r>
          </a:p>
          <a:p>
            <a:pPr algn="l" marL="647702" indent="-323851" lvl="1">
              <a:lnSpc>
                <a:spcPts val="4350"/>
              </a:lnSpc>
              <a:spcBef>
                <a:spcPct val="0"/>
              </a:spcBef>
              <a:buFont typeface="Arial"/>
              <a:buChar char="•"/>
            </a:pPr>
            <a:r>
              <a:rPr lang="en-US" sz="3000">
                <a:solidFill>
                  <a:srgbClr val="383838"/>
                </a:solidFill>
                <a:latin typeface="Decalotype"/>
                <a:ea typeface="Decalotype"/>
                <a:cs typeface="Decalotype"/>
                <a:sym typeface="Decalotype"/>
              </a:rPr>
              <a:t>Tạo Dockerfile để build Docker Image</a:t>
            </a:r>
          </a:p>
          <a:p>
            <a:pPr algn="l" marL="647702" indent="-323851" lvl="1">
              <a:lnSpc>
                <a:spcPts val="4350"/>
              </a:lnSpc>
              <a:spcBef>
                <a:spcPct val="0"/>
              </a:spcBef>
              <a:buFont typeface="Arial"/>
              <a:buChar char="•"/>
            </a:pPr>
            <a:r>
              <a:rPr lang="en-US" sz="3000">
                <a:solidFill>
                  <a:srgbClr val="383838"/>
                </a:solidFill>
                <a:latin typeface="Decalotype"/>
                <a:ea typeface="Decalotype"/>
                <a:cs typeface="Decalotype"/>
                <a:sym typeface="Decalotype"/>
              </a:rPr>
              <a:t>Dùng docker-compose up --build để build và chạy container</a:t>
            </a:r>
          </a:p>
          <a:p>
            <a:pPr algn="l" marL="647702" indent="-323851" lvl="1">
              <a:lnSpc>
                <a:spcPts val="4350"/>
              </a:lnSpc>
              <a:spcBef>
                <a:spcPct val="0"/>
              </a:spcBef>
              <a:buFont typeface="Arial"/>
              <a:buChar char="•"/>
            </a:pPr>
            <a:r>
              <a:rPr lang="en-US" sz="3000">
                <a:solidFill>
                  <a:srgbClr val="383838"/>
                </a:solidFill>
                <a:latin typeface="Decalotype"/>
                <a:ea typeface="Decalotype"/>
                <a:cs typeface="Decalotype"/>
                <a:sym typeface="Decalotype"/>
              </a:rPr>
              <a:t>Các container hoạt động độc lập nhưng vẫn giao tiếp với nhau trong hệ thống.</a:t>
            </a:r>
          </a:p>
          <a:p>
            <a:pPr algn="l">
              <a:lnSpc>
                <a:spcPts val="4350"/>
              </a:lnSpc>
            </a:pPr>
          </a:p>
          <a:p>
            <a:pPr algn="l">
              <a:lnSpc>
                <a:spcPts val="4350"/>
              </a:lnSpc>
            </a:pPr>
          </a:p>
        </p:txBody>
      </p:sp>
      <p:sp>
        <p:nvSpPr>
          <p:cNvPr name="TextBox 6" id="6"/>
          <p:cNvSpPr txBox="true"/>
          <p:nvPr/>
        </p:nvSpPr>
        <p:spPr>
          <a:xfrm rot="0">
            <a:off x="11664725" y="8744051"/>
            <a:ext cx="3774579" cy="375591"/>
          </a:xfrm>
          <a:prstGeom prst="rect">
            <a:avLst/>
          </a:prstGeom>
        </p:spPr>
        <p:txBody>
          <a:bodyPr anchor="t" rtlCol="false" tIns="0" lIns="0" bIns="0" rIns="0">
            <a:spAutoFit/>
          </a:bodyPr>
          <a:lstStyle/>
          <a:p>
            <a:pPr algn="ctr">
              <a:lnSpc>
                <a:spcPts val="3081"/>
              </a:lnSpc>
              <a:spcBef>
                <a:spcPct val="0"/>
              </a:spcBef>
            </a:pPr>
            <a:r>
              <a:rPr lang="en-US" sz="2407" i="true" spc="-60">
                <a:solidFill>
                  <a:srgbClr val="383838"/>
                </a:solidFill>
                <a:latin typeface="Noto Sans Italics"/>
                <a:ea typeface="Noto Sans Italics"/>
                <a:cs typeface="Noto Sans Italics"/>
                <a:sym typeface="Noto Sans Italics"/>
              </a:rPr>
              <a:t> Hình 26 : Triển khai hệ thống</a:t>
            </a:r>
          </a:p>
        </p:txBody>
      </p:sp>
    </p:spTree>
  </p:cSld>
  <p:clrMapOvr>
    <a:masterClrMapping/>
  </p:clrMapOvr>
  <p:transition spd="fast">
    <p:push dir="l"/>
  </p:transition>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64287" y="5501485"/>
            <a:ext cx="13559427" cy="2621842"/>
          </a:xfrm>
          <a:custGeom>
            <a:avLst/>
            <a:gdLst/>
            <a:ahLst/>
            <a:cxnLst/>
            <a:rect r="r" b="b" t="t" l="l"/>
            <a:pathLst>
              <a:path h="2621842" w="13559427">
                <a:moveTo>
                  <a:pt x="0" y="0"/>
                </a:moveTo>
                <a:lnTo>
                  <a:pt x="13559426" y="0"/>
                </a:lnTo>
                <a:lnTo>
                  <a:pt x="13559426" y="2621843"/>
                </a:lnTo>
                <a:lnTo>
                  <a:pt x="0" y="2621843"/>
                </a:lnTo>
                <a:lnTo>
                  <a:pt x="0" y="0"/>
                </a:lnTo>
                <a:close/>
              </a:path>
            </a:pathLst>
          </a:custGeom>
          <a:blipFill>
            <a:blip r:embed="rId4"/>
            <a:stretch>
              <a:fillRect l="0" t="0" r="0" b="0"/>
            </a:stretch>
          </a:blipFill>
        </p:spPr>
      </p:sp>
      <p:sp>
        <p:nvSpPr>
          <p:cNvPr name="TextBox 4" id="4"/>
          <p:cNvSpPr txBox="true"/>
          <p:nvPr/>
        </p:nvSpPr>
        <p:spPr>
          <a:xfrm rot="0">
            <a:off x="642762" y="588428"/>
            <a:ext cx="108476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CI-CD với github action</a:t>
            </a:r>
          </a:p>
        </p:txBody>
      </p:sp>
      <p:sp>
        <p:nvSpPr>
          <p:cNvPr name="TextBox 5" id="5"/>
          <p:cNvSpPr txBox="true"/>
          <p:nvPr/>
        </p:nvSpPr>
        <p:spPr>
          <a:xfrm rot="0">
            <a:off x="1815662" y="1777211"/>
            <a:ext cx="14656676" cy="3295650"/>
          </a:xfrm>
          <a:prstGeom prst="rect">
            <a:avLst/>
          </a:prstGeom>
        </p:spPr>
        <p:txBody>
          <a:bodyPr anchor="t" rtlCol="false" tIns="0" lIns="0" bIns="0" rIns="0">
            <a:spAutoFit/>
          </a:bodyPr>
          <a:lstStyle/>
          <a:p>
            <a:pPr algn="l">
              <a:lnSpc>
                <a:spcPts val="4350"/>
              </a:lnSpc>
            </a:pPr>
            <a:r>
              <a:rPr lang="en-US" sz="3000">
                <a:solidFill>
                  <a:srgbClr val="383838"/>
                </a:solidFill>
                <a:latin typeface="Decalotype"/>
                <a:ea typeface="Decalotype"/>
                <a:cs typeface="Decalotype"/>
                <a:sym typeface="Decalotype"/>
              </a:rPr>
              <a:t>Hệ thống CI/CD</a:t>
            </a:r>
            <a:r>
              <a:rPr lang="en-US" sz="3000">
                <a:solidFill>
                  <a:srgbClr val="383838"/>
                </a:solidFill>
                <a:latin typeface="Decalotype"/>
                <a:ea typeface="Decalotype"/>
                <a:cs typeface="Decalotype"/>
                <a:sym typeface="Decalotype"/>
              </a:rPr>
              <a:t> giúp tự động hóa quá trình kiểm thử và triển khai ứng dụng.</a:t>
            </a:r>
          </a:p>
          <a:p>
            <a:pPr algn="l">
              <a:lnSpc>
                <a:spcPts val="4350"/>
              </a:lnSpc>
            </a:pPr>
            <a:r>
              <a:rPr lang="en-US" sz="3000">
                <a:solidFill>
                  <a:srgbClr val="383838"/>
                </a:solidFill>
                <a:latin typeface="Decalotype"/>
                <a:ea typeface="Decalotype"/>
                <a:cs typeface="Decalotype"/>
                <a:sym typeface="Decalotype"/>
              </a:rPr>
              <a:t>Hệ thống sử dụng:</a:t>
            </a:r>
          </a:p>
          <a:p>
            <a:pPr algn="l" marL="647702" indent="-323851" lvl="1">
              <a:lnSpc>
                <a:spcPts val="4350"/>
              </a:lnSpc>
              <a:spcBef>
                <a:spcPct val="0"/>
              </a:spcBef>
              <a:buFont typeface="Arial"/>
              <a:buChar char="•"/>
            </a:pPr>
            <a:r>
              <a:rPr lang="en-US" sz="3000">
                <a:solidFill>
                  <a:srgbClr val="383838"/>
                </a:solidFill>
                <a:latin typeface="Decalotype"/>
                <a:ea typeface="Decalotype"/>
                <a:cs typeface="Decalotype"/>
                <a:sym typeface="Decalotype"/>
              </a:rPr>
              <a:t>GitHub để quả</a:t>
            </a:r>
            <a:r>
              <a:rPr lang="en-US" sz="3000">
                <a:solidFill>
                  <a:srgbClr val="383838"/>
                </a:solidFill>
                <a:latin typeface="Decalotype"/>
                <a:ea typeface="Decalotype"/>
                <a:cs typeface="Decalotype"/>
                <a:sym typeface="Decalotype"/>
              </a:rPr>
              <a:t>n lý mã nguồn</a:t>
            </a:r>
          </a:p>
          <a:p>
            <a:pPr algn="l" marL="647702" indent="-323851" lvl="1">
              <a:lnSpc>
                <a:spcPts val="4350"/>
              </a:lnSpc>
              <a:spcBef>
                <a:spcPct val="0"/>
              </a:spcBef>
              <a:buFont typeface="Arial"/>
              <a:buChar char="•"/>
            </a:pPr>
            <a:r>
              <a:rPr lang="en-US" sz="3000">
                <a:solidFill>
                  <a:srgbClr val="383838"/>
                </a:solidFill>
                <a:latin typeface="Decalotype"/>
                <a:ea typeface="Decalotype"/>
                <a:cs typeface="Decalotype"/>
                <a:sym typeface="Decalotype"/>
              </a:rPr>
              <a:t>GitHub Actions để tự động CI</a:t>
            </a:r>
          </a:p>
          <a:p>
            <a:pPr algn="l" marL="647702" indent="-323851" lvl="1">
              <a:lnSpc>
                <a:spcPts val="4350"/>
              </a:lnSpc>
              <a:buFont typeface="Arial"/>
              <a:buChar char="•"/>
            </a:pPr>
            <a:r>
              <a:rPr lang="en-US" sz="3000">
                <a:solidFill>
                  <a:srgbClr val="383838"/>
                </a:solidFill>
                <a:latin typeface="Decalotype"/>
                <a:ea typeface="Decalotype"/>
                <a:cs typeface="Decalotype"/>
                <a:sym typeface="Decalotype"/>
              </a:rPr>
              <a:t>Vercel để triển khai và hosting ứng dụng web.</a:t>
            </a:r>
          </a:p>
          <a:p>
            <a:pPr algn="l">
              <a:lnSpc>
                <a:spcPts val="4350"/>
              </a:lnSpc>
            </a:pPr>
          </a:p>
        </p:txBody>
      </p:sp>
      <p:sp>
        <p:nvSpPr>
          <p:cNvPr name="TextBox 6" id="6"/>
          <p:cNvSpPr txBox="true"/>
          <p:nvPr/>
        </p:nvSpPr>
        <p:spPr>
          <a:xfrm rot="0">
            <a:off x="6990904" y="8744051"/>
            <a:ext cx="4306193" cy="375591"/>
          </a:xfrm>
          <a:prstGeom prst="rect">
            <a:avLst/>
          </a:prstGeom>
        </p:spPr>
        <p:txBody>
          <a:bodyPr anchor="t" rtlCol="false" tIns="0" lIns="0" bIns="0" rIns="0">
            <a:spAutoFit/>
          </a:bodyPr>
          <a:lstStyle/>
          <a:p>
            <a:pPr algn="ctr">
              <a:lnSpc>
                <a:spcPts val="3081"/>
              </a:lnSpc>
              <a:spcBef>
                <a:spcPct val="0"/>
              </a:spcBef>
            </a:pPr>
            <a:r>
              <a:rPr lang="en-US" sz="2407" i="true" spc="-60">
                <a:solidFill>
                  <a:srgbClr val="383838"/>
                </a:solidFill>
                <a:latin typeface="Noto Sans Italics"/>
                <a:ea typeface="Noto Sans Italics"/>
                <a:cs typeface="Noto Sans Italics"/>
                <a:sym typeface="Noto Sans Italics"/>
              </a:rPr>
              <a:t> Hình 27 : CI-CD với github action </a:t>
            </a:r>
          </a:p>
        </p:txBody>
      </p:sp>
    </p:spTree>
  </p:cSld>
  <p:clrMapOvr>
    <a:masterClrMapping/>
  </p:clrMapOvr>
  <p:transition spd="fast">
    <p:push dir="l"/>
  </p:transition>
</p:sld>
</file>

<file path=ppt/slides/slide42.xml><?xml version="1.0" encoding="utf-8"?>
<p:sld xmlns:p="http://schemas.openxmlformats.org/presentationml/2006/main" xmlns:a="http://schemas.openxmlformats.org/drawingml/2006/main">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5134196" y="1028700"/>
          <a:ext cx="8019608" cy="2389436"/>
        </p:xfrm>
        <a:graphic>
          <a:graphicData uri="http://schemas.openxmlformats.org/drawingml/2006/table">
            <a:tbl>
              <a:tblPr/>
              <a:tblGrid>
                <a:gridCol w="8019608"/>
              </a:tblGrid>
              <a:tr h="2389436">
                <a:tc>
                  <a:txBody>
                    <a:bodyPr anchor="t" rtlCol="false"/>
                    <a:lstStyle/>
                    <a:p>
                      <a:pPr algn="ctr">
                        <a:lnSpc>
                          <a:spcPts val="13720"/>
                        </a:lnSpc>
                        <a:defRPr/>
                      </a:pPr>
                      <a:r>
                        <a:rPr lang="en-US" sz="9800" spc="-784">
                          <a:solidFill>
                            <a:srgbClr val="383838"/>
                          </a:solidFill>
                          <a:latin typeface="Decalotype"/>
                          <a:ea typeface="Decalotype"/>
                          <a:cs typeface="Decalotype"/>
                          <a:sym typeface="Decalotype"/>
                        </a:rPr>
                        <a:t>Chương 5</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sp>
        <p:nvSpPr>
          <p:cNvPr name="TextBox 3" id="3"/>
          <p:cNvSpPr txBox="true"/>
          <p:nvPr/>
        </p:nvSpPr>
        <p:spPr>
          <a:xfrm rot="0">
            <a:off x="3483097" y="4190365"/>
            <a:ext cx="11865740" cy="1811020"/>
          </a:xfrm>
          <a:prstGeom prst="rect">
            <a:avLst/>
          </a:prstGeom>
        </p:spPr>
        <p:txBody>
          <a:bodyPr anchor="t" rtlCol="false" tIns="0" lIns="0" bIns="0" rIns="0">
            <a:spAutoFit/>
          </a:bodyPr>
          <a:lstStyle/>
          <a:p>
            <a:pPr algn="ctr">
              <a:lnSpc>
                <a:spcPts val="7279"/>
              </a:lnSpc>
            </a:pPr>
            <a:r>
              <a:rPr lang="en-US" sz="5199" b="true">
                <a:solidFill>
                  <a:srgbClr val="000000"/>
                </a:solidFill>
                <a:latin typeface="Noto Sans Bold"/>
                <a:ea typeface="Noto Sans Bold"/>
                <a:cs typeface="Noto Sans Bold"/>
                <a:sym typeface="Noto Sans Bold"/>
              </a:rPr>
              <a:t>Tích hợp AI agent vào hệ thống Microservice</a:t>
            </a:r>
          </a:p>
        </p:txBody>
      </p:sp>
    </p:spTree>
  </p:cSld>
  <p:clrMapOvr>
    <a:masterClrMapping/>
  </p:clrMapOvr>
  <p:transition spd="fast">
    <p:push dir="l"/>
  </p:transition>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88428"/>
            <a:ext cx="108476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Tổng quan kiến trúc hệ thống</a:t>
            </a:r>
          </a:p>
        </p:txBody>
      </p:sp>
      <p:sp>
        <p:nvSpPr>
          <p:cNvPr name="TextBox 4" id="4"/>
          <p:cNvSpPr txBox="true"/>
          <p:nvPr/>
        </p:nvSpPr>
        <p:spPr>
          <a:xfrm rot="0">
            <a:off x="2281217" y="2080752"/>
            <a:ext cx="14853691" cy="6569076"/>
          </a:xfrm>
          <a:prstGeom prst="rect">
            <a:avLst/>
          </a:prstGeom>
        </p:spPr>
        <p:txBody>
          <a:bodyPr anchor="t" rtlCol="false" tIns="0" lIns="0" bIns="0" rIns="0">
            <a:spAutoFit/>
          </a:bodyPr>
          <a:lstStyle/>
          <a:p>
            <a:pPr algn="l" marL="863596" indent="-431798" lvl="1">
              <a:lnSpc>
                <a:spcPts val="5799"/>
              </a:lnSpc>
              <a:buFont typeface="Arial"/>
              <a:buChar char="•"/>
            </a:pPr>
            <a:r>
              <a:rPr lang="en-US" sz="3999">
                <a:solidFill>
                  <a:srgbClr val="383838"/>
                </a:solidFill>
                <a:latin typeface="Decalotype"/>
                <a:ea typeface="Decalotype"/>
                <a:cs typeface="Decalotype"/>
                <a:sym typeface="Decalotype"/>
              </a:rPr>
              <a:t>Hệ</a:t>
            </a:r>
            <a:r>
              <a:rPr lang="en-US" sz="3999">
                <a:solidFill>
                  <a:srgbClr val="383838"/>
                </a:solidFill>
                <a:latin typeface="Decalotype"/>
                <a:ea typeface="Decalotype"/>
                <a:cs typeface="Decalotype"/>
                <a:sym typeface="Decalotype"/>
              </a:rPr>
              <a:t> thống được xây dựng theo kiến trúc Microservices nhằm tăng khả năng mở rộng, bảo trì và ổn định.</a:t>
            </a:r>
          </a:p>
          <a:p>
            <a:pPr algn="l" marL="863596" indent="-431798" lvl="1">
              <a:lnSpc>
                <a:spcPts val="5799"/>
              </a:lnSpc>
              <a:buFont typeface="Arial"/>
              <a:buChar char="•"/>
            </a:pPr>
            <a:r>
              <a:rPr lang="en-US" sz="3999">
                <a:solidFill>
                  <a:srgbClr val="383838"/>
                </a:solidFill>
                <a:latin typeface="Decalotype"/>
                <a:ea typeface="Decalotype"/>
                <a:cs typeface="Decalotype"/>
                <a:sym typeface="Decalotype"/>
              </a:rPr>
              <a:t>Các service chính gồm Authentication, Product, Inventory, Order, Payment và AI Agent Service, kết hợp với Redis, RabbitMQ, MongoDB và PostgreSQL.</a:t>
            </a:r>
          </a:p>
          <a:p>
            <a:pPr algn="l" marL="863596" indent="-431798" lvl="1">
              <a:lnSpc>
                <a:spcPts val="5799"/>
              </a:lnSpc>
              <a:buFont typeface="Arial"/>
              <a:buChar char="•"/>
            </a:pPr>
            <a:r>
              <a:rPr lang="en-US" sz="3999">
                <a:solidFill>
                  <a:srgbClr val="383838"/>
                </a:solidFill>
                <a:latin typeface="Decalotype"/>
                <a:ea typeface="Decalotype"/>
                <a:cs typeface="Decalotype"/>
                <a:sym typeface="Decalotype"/>
              </a:rPr>
              <a:t>Hệ thống sử dụng Event-Driven Architecture và RabbitMQ để giao tiếp bất đồng bộ, đồng thời tích hợp AI Agent bằng n8n nhằm hỗ trợ tự động hóa và nâng cao trải nghiệm người dùng.</a:t>
            </a:r>
          </a:p>
          <a:p>
            <a:pPr algn="l">
              <a:lnSpc>
                <a:spcPts val="5799"/>
              </a:lnSpc>
            </a:pPr>
          </a:p>
        </p:txBody>
      </p:sp>
    </p:spTree>
  </p:cSld>
  <p:clrMapOvr>
    <a:masterClrMapping/>
  </p:clrMapOvr>
  <p:transition spd="fast">
    <p:push dir="l"/>
  </p:transition>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88428"/>
            <a:ext cx="108476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Authentication Service</a:t>
            </a:r>
          </a:p>
        </p:txBody>
      </p:sp>
      <p:sp>
        <p:nvSpPr>
          <p:cNvPr name="TextBox 4" id="4"/>
          <p:cNvSpPr txBox="true"/>
          <p:nvPr/>
        </p:nvSpPr>
        <p:spPr>
          <a:xfrm rot="0">
            <a:off x="1951266" y="2021458"/>
            <a:ext cx="14853691" cy="6915151"/>
          </a:xfrm>
          <a:prstGeom prst="rect">
            <a:avLst/>
          </a:prstGeom>
        </p:spPr>
        <p:txBody>
          <a:bodyPr anchor="t" rtlCol="false" tIns="0" lIns="0" bIns="0" rIns="0">
            <a:spAutoFit/>
          </a:bodyPr>
          <a:lstStyle/>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Au</a:t>
            </a:r>
            <a:r>
              <a:rPr lang="en-US" sz="4199">
                <a:solidFill>
                  <a:srgbClr val="383838"/>
                </a:solidFill>
                <a:latin typeface="Decalotype"/>
                <a:ea typeface="Decalotype"/>
                <a:cs typeface="Decalotype"/>
                <a:sym typeface="Decalotype"/>
              </a:rPr>
              <a:t>thentication Service là trung tâm xác thực và phân quyền của hệ thống, sử dụng JWT theo mô hình stateless để tăng khả năng mở rộng.</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Service được xây dựng bằng Node.js, ExpressJS và PassportJS; mật khẩu được mã hóa bằng bcrypt và Refresh Token được lưu trong Redis.</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JWT được lựa chọn vì phù hợp với kiến trúc Microservices, giúp giảm tải server và dễ dàng mở rộng hệ thống.</a:t>
            </a:r>
          </a:p>
          <a:p>
            <a:pPr algn="l">
              <a:lnSpc>
                <a:spcPts val="6089"/>
              </a:lnSpc>
            </a:pPr>
          </a:p>
        </p:txBody>
      </p:sp>
    </p:spTree>
  </p:cSld>
  <p:clrMapOvr>
    <a:masterClrMapping/>
  </p:clrMapOvr>
  <p:transition spd="fast">
    <p:push dir="l"/>
  </p:transition>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88428"/>
            <a:ext cx="108476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Logging Service</a:t>
            </a:r>
          </a:p>
        </p:txBody>
      </p:sp>
      <p:sp>
        <p:nvSpPr>
          <p:cNvPr name="TextBox 4" id="4"/>
          <p:cNvSpPr txBox="true"/>
          <p:nvPr/>
        </p:nvSpPr>
        <p:spPr>
          <a:xfrm rot="0">
            <a:off x="1951266" y="2021458"/>
            <a:ext cx="14853691" cy="5372101"/>
          </a:xfrm>
          <a:prstGeom prst="rect">
            <a:avLst/>
          </a:prstGeom>
        </p:spPr>
        <p:txBody>
          <a:bodyPr anchor="t" rtlCol="false" tIns="0" lIns="0" bIns="0" rIns="0">
            <a:spAutoFit/>
          </a:bodyPr>
          <a:lstStyle/>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Logg</a:t>
            </a:r>
            <a:r>
              <a:rPr lang="en-US" sz="4199">
                <a:solidFill>
                  <a:srgbClr val="383838"/>
                </a:solidFill>
                <a:latin typeface="Decalotype"/>
                <a:ea typeface="Decalotype"/>
                <a:cs typeface="Decalotype"/>
                <a:sym typeface="Decalotype"/>
              </a:rPr>
              <a:t>ing Service giúp tập trung log từ các microservices để hỗ trợ monitoring, debugging và audit hệ thống.</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Các service sử dụng Winston Logger để gửi log qua RabbitMQ hoặc HTTP, sau đó lưu vào Elasticsearch và hiển thị bằng Kibana.</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Mô hình này giúp tìm kiếm log nhanh, theo dõi lỗi realtime và hỗ trợ phân tích hiệu năng hệ thống.</a:t>
            </a:r>
          </a:p>
          <a:p>
            <a:pPr algn="l">
              <a:lnSpc>
                <a:spcPts val="6089"/>
              </a:lnSpc>
            </a:pPr>
          </a:p>
        </p:txBody>
      </p:sp>
    </p:spTree>
  </p:cSld>
  <p:clrMapOvr>
    <a:masterClrMapping/>
  </p:clrMapOvr>
  <p:transition spd="fast">
    <p:push dir="l"/>
  </p:transition>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88428"/>
            <a:ext cx="108476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Product Service</a:t>
            </a:r>
          </a:p>
        </p:txBody>
      </p:sp>
      <p:sp>
        <p:nvSpPr>
          <p:cNvPr name="TextBox 4" id="4"/>
          <p:cNvSpPr txBox="true"/>
          <p:nvPr/>
        </p:nvSpPr>
        <p:spPr>
          <a:xfrm rot="0">
            <a:off x="1951266" y="2021458"/>
            <a:ext cx="14853691" cy="6143626"/>
          </a:xfrm>
          <a:prstGeom prst="rect">
            <a:avLst/>
          </a:prstGeom>
        </p:spPr>
        <p:txBody>
          <a:bodyPr anchor="t" rtlCol="false" tIns="0" lIns="0" bIns="0" rIns="0">
            <a:spAutoFit/>
          </a:bodyPr>
          <a:lstStyle/>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Product</a:t>
            </a:r>
            <a:r>
              <a:rPr lang="en-US" sz="4199">
                <a:solidFill>
                  <a:srgbClr val="383838"/>
                </a:solidFill>
                <a:latin typeface="Decalotype"/>
                <a:ea typeface="Decalotype"/>
                <a:cs typeface="Decalotype"/>
                <a:sym typeface="Decalotype"/>
              </a:rPr>
              <a:t> Service quản lý dữ liệu sản phẩm, danh mục, biến thể và hình ảnh của hệ thống.</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Service sử dụng MongoDB do dữ liệu sản phẩm có cấu trúc linh hoạt, kết hợp Redis Cache để tăng tốc truy xuất dữ liệu và giảm tải database.</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Hình ảnh sản phẩm được lưu trên Cloudinary nhằm tối ưu tốc độ tải và phân phối nội dung.</a:t>
            </a:r>
          </a:p>
          <a:p>
            <a:pPr algn="l">
              <a:lnSpc>
                <a:spcPts val="6089"/>
              </a:lnSpc>
            </a:pPr>
          </a:p>
        </p:txBody>
      </p:sp>
    </p:spTree>
  </p:cSld>
  <p:clrMapOvr>
    <a:masterClrMapping/>
  </p:clrMapOvr>
  <p:transition spd="fast">
    <p:push dir="l"/>
  </p:transition>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88428"/>
            <a:ext cx="108476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Inventory Service</a:t>
            </a:r>
          </a:p>
        </p:txBody>
      </p:sp>
      <p:sp>
        <p:nvSpPr>
          <p:cNvPr name="TextBox 4" id="4"/>
          <p:cNvSpPr txBox="true"/>
          <p:nvPr/>
        </p:nvSpPr>
        <p:spPr>
          <a:xfrm rot="0">
            <a:off x="1951266" y="2021458"/>
            <a:ext cx="14853691" cy="6143626"/>
          </a:xfrm>
          <a:prstGeom prst="rect">
            <a:avLst/>
          </a:prstGeom>
        </p:spPr>
        <p:txBody>
          <a:bodyPr anchor="t" rtlCol="false" tIns="0" lIns="0" bIns="0" rIns="0">
            <a:spAutoFit/>
          </a:bodyPr>
          <a:lstStyle/>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Product</a:t>
            </a:r>
            <a:r>
              <a:rPr lang="en-US" sz="4199">
                <a:solidFill>
                  <a:srgbClr val="383838"/>
                </a:solidFill>
                <a:latin typeface="Decalotype"/>
                <a:ea typeface="Decalotype"/>
                <a:cs typeface="Decalotype"/>
                <a:sym typeface="Decalotype"/>
              </a:rPr>
              <a:t> Service quản lý dữ liệu sản phẩm, danh mục, biến thể và hình ảnh của hệ thống.</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Service sử dụng MongoDB do dữ liệu sản phẩm có cấu trúc linh hoạt, kết hợp Redis Cache để tăng tốc truy xuất dữ liệu và giảm tải database.</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Hình ảnh sản phẩm được lưu trên Cloudinary nhằm tối ưu tốc độ tải và phân phối nội dung.</a:t>
            </a:r>
          </a:p>
          <a:p>
            <a:pPr algn="l">
              <a:lnSpc>
                <a:spcPts val="6089"/>
              </a:lnSpc>
            </a:pPr>
          </a:p>
        </p:txBody>
      </p:sp>
    </p:spTree>
  </p:cSld>
  <p:clrMapOvr>
    <a:masterClrMapping/>
  </p:clrMapOvr>
  <p:transition spd="fast">
    <p:push dir="l"/>
  </p:transition>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88428"/>
            <a:ext cx="108476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Order Service</a:t>
            </a:r>
          </a:p>
        </p:txBody>
      </p:sp>
      <p:sp>
        <p:nvSpPr>
          <p:cNvPr name="TextBox 4" id="4"/>
          <p:cNvSpPr txBox="true"/>
          <p:nvPr/>
        </p:nvSpPr>
        <p:spPr>
          <a:xfrm rot="0">
            <a:off x="1951266" y="2021458"/>
            <a:ext cx="14853691" cy="6143626"/>
          </a:xfrm>
          <a:prstGeom prst="rect">
            <a:avLst/>
          </a:prstGeom>
        </p:spPr>
        <p:txBody>
          <a:bodyPr anchor="t" rtlCol="false" tIns="0" lIns="0" bIns="0" rIns="0">
            <a:spAutoFit/>
          </a:bodyPr>
          <a:lstStyle/>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Order</a:t>
            </a:r>
            <a:r>
              <a:rPr lang="en-US" sz="4199">
                <a:solidFill>
                  <a:srgbClr val="383838"/>
                </a:solidFill>
                <a:latin typeface="Decalotype"/>
                <a:ea typeface="Decalotype"/>
                <a:cs typeface="Decalotype"/>
                <a:sym typeface="Decalotype"/>
              </a:rPr>
              <a:t> Service quản lý toàn bộ vòng đời đơn hàng và điều phối giữa Inventory, Payment và Notification Service.</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Hệ thống sử dụng State Machine để kiểm soát trạng thái đơn hàng như PENDING, PAID, SHIPPING, COMPLETED và tránh chuyển trạng thái không hợp lệ.</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Ngoài ra, Saga Pattern được áp dụng để xử lý transaction phân tán và rollback khi có lỗi xảy ra.</a:t>
            </a:r>
          </a:p>
          <a:p>
            <a:pPr algn="l">
              <a:lnSpc>
                <a:spcPts val="6089"/>
              </a:lnSpc>
            </a:pPr>
          </a:p>
        </p:txBody>
      </p:sp>
    </p:spTree>
  </p:cSld>
  <p:clrMapOvr>
    <a:masterClrMapping/>
  </p:clrMapOvr>
  <p:transition spd="fast">
    <p:push dir="l"/>
  </p:transition>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88428"/>
            <a:ext cx="108476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Payment Service</a:t>
            </a:r>
          </a:p>
        </p:txBody>
      </p:sp>
      <p:sp>
        <p:nvSpPr>
          <p:cNvPr name="TextBox 4" id="4"/>
          <p:cNvSpPr txBox="true"/>
          <p:nvPr/>
        </p:nvSpPr>
        <p:spPr>
          <a:xfrm rot="0">
            <a:off x="1951266" y="2021458"/>
            <a:ext cx="14853691" cy="5372101"/>
          </a:xfrm>
          <a:prstGeom prst="rect">
            <a:avLst/>
          </a:prstGeom>
        </p:spPr>
        <p:txBody>
          <a:bodyPr anchor="t" rtlCol="false" tIns="0" lIns="0" bIns="0" rIns="0">
            <a:spAutoFit/>
          </a:bodyPr>
          <a:lstStyle/>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Payment</a:t>
            </a:r>
            <a:r>
              <a:rPr lang="en-US" sz="4199">
                <a:solidFill>
                  <a:srgbClr val="383838"/>
                </a:solidFill>
                <a:latin typeface="Decalotype"/>
                <a:ea typeface="Decalotype"/>
                <a:cs typeface="Decalotype"/>
                <a:sym typeface="Decalotype"/>
              </a:rPr>
              <a:t> Service tích hợp Stripe để xử lý thanh toán trực tuyến an toàn và chính xác.</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Quy trình gồm tạo Payment Intent, xác nhận thanh toán và xử lý webhook từ Stripe để cập nhật trạng thái đơn hàng.</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Hệ thống sử dụng verify signature, retry mechanism và idempotency key để tăng bảo mật và tránh xử lý trùng lặp.</a:t>
            </a:r>
          </a:p>
          <a:p>
            <a:pPr algn="l">
              <a:lnSpc>
                <a:spcPts val="6089"/>
              </a:lnSpc>
            </a:pPr>
          </a:p>
        </p:txBody>
      </p:sp>
    </p:spTree>
  </p:cSld>
  <p:clrMapOvr>
    <a:masterClrMapping/>
  </p:clrMapOvr>
  <p:transition spd="fast">
    <p:push dir="l"/>
  </p:transition>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88428"/>
            <a:ext cx="10847620" cy="16711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n8n AI Agent Service</a:t>
            </a:r>
          </a:p>
          <a:p>
            <a:pPr algn="l">
              <a:lnSpc>
                <a:spcPts val="6665"/>
              </a:lnSpc>
              <a:spcBef>
                <a:spcPct val="0"/>
              </a:spcBef>
            </a:pPr>
          </a:p>
        </p:txBody>
      </p:sp>
      <p:sp>
        <p:nvSpPr>
          <p:cNvPr name="TextBox 4" id="4"/>
          <p:cNvSpPr txBox="true"/>
          <p:nvPr/>
        </p:nvSpPr>
        <p:spPr>
          <a:xfrm rot="0">
            <a:off x="1951266" y="2021458"/>
            <a:ext cx="14853691" cy="5372101"/>
          </a:xfrm>
          <a:prstGeom prst="rect">
            <a:avLst/>
          </a:prstGeom>
        </p:spPr>
        <p:txBody>
          <a:bodyPr anchor="t" rtlCol="false" tIns="0" lIns="0" bIns="0" rIns="0">
            <a:spAutoFit/>
          </a:bodyPr>
          <a:lstStyle/>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n8n</a:t>
            </a:r>
            <a:r>
              <a:rPr lang="en-US" sz="4199">
                <a:solidFill>
                  <a:srgbClr val="383838"/>
                </a:solidFill>
                <a:latin typeface="Decalotype"/>
                <a:ea typeface="Decalotype"/>
                <a:cs typeface="Decalotype"/>
                <a:sym typeface="Decalotype"/>
              </a:rPr>
              <a:t> được sử dụng như AI Orchestration Layer để tự động hóa workflow và tích hợp AI vào hệ thống.</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AI Agent hỗ trợ chatbot, recommendation system, smart notification và business analytics thông qua workflow automation.</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n8n được lựa chọn vì mã nguồn mở, dễ tích hợp API và hỗ trợ xây dựng workflow trực quan.</a:t>
            </a:r>
          </a:p>
          <a:p>
            <a:pPr algn="l">
              <a:lnSpc>
                <a:spcPts val="6089"/>
              </a:lnSpc>
            </a:pPr>
          </a:p>
        </p:txBody>
      </p:sp>
    </p:spTree>
  </p:cSld>
  <p:clrMapOvr>
    <a:masterClrMapping/>
  </p:clrMapOvr>
  <p:transition spd="fast">
    <p:push dir="l"/>
  </p:transition>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88428"/>
            <a:ext cx="108476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RabbitMQ và Event-Driven Architecture</a:t>
            </a:r>
          </a:p>
        </p:txBody>
      </p:sp>
      <p:sp>
        <p:nvSpPr>
          <p:cNvPr name="TextBox 4" id="4"/>
          <p:cNvSpPr txBox="true"/>
          <p:nvPr/>
        </p:nvSpPr>
        <p:spPr>
          <a:xfrm rot="0">
            <a:off x="1951266" y="2021458"/>
            <a:ext cx="14853691" cy="5372101"/>
          </a:xfrm>
          <a:prstGeom prst="rect">
            <a:avLst/>
          </a:prstGeom>
        </p:spPr>
        <p:txBody>
          <a:bodyPr anchor="t" rtlCol="false" tIns="0" lIns="0" bIns="0" rIns="0">
            <a:spAutoFit/>
          </a:bodyPr>
          <a:lstStyle/>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RabbitMQ là message broker trung tâm</a:t>
            </a:r>
            <a:r>
              <a:rPr lang="en-US" sz="4199">
                <a:solidFill>
                  <a:srgbClr val="383838"/>
                </a:solidFill>
                <a:latin typeface="Decalotype"/>
                <a:ea typeface="Decalotype"/>
                <a:cs typeface="Decalotype"/>
                <a:sym typeface="Decalotype"/>
              </a:rPr>
              <a:t> giúp các service giao tiếp theo mô hình event-driven thay vì gọi trực tiếp lẫn nhau.</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Mô hình này giúp tăng khả năng mở rộng, xử lý bất đồng bộ, retry và giảm coupling giữa các service.</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RabbitMQ còn hỗ trợ Dead Letter Queue, Retry Queue và Topic Routing để tăng độ ổn định hệ thống.</a:t>
            </a:r>
          </a:p>
          <a:p>
            <a:pPr algn="l">
              <a:lnSpc>
                <a:spcPts val="6089"/>
              </a:lnSpc>
            </a:pPr>
          </a:p>
        </p:txBody>
      </p:sp>
    </p:spTree>
  </p:cSld>
  <p:clrMapOvr>
    <a:masterClrMapping/>
  </p:clrMapOvr>
  <p:transition spd="fast">
    <p:push dir="l"/>
  </p:transition>
</p:sld>
</file>

<file path=ppt/slides/slide52.xml><?xml version="1.0" encoding="utf-8"?>
<p:sld xmlns:p="http://schemas.openxmlformats.org/presentationml/2006/main" xmlns:a="http://schemas.openxmlformats.org/drawingml/2006/main">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4304199" y="1505425"/>
          <a:ext cx="8378042" cy="2390775"/>
        </p:xfrm>
        <a:graphic>
          <a:graphicData uri="http://schemas.openxmlformats.org/drawingml/2006/table">
            <a:tbl>
              <a:tblPr/>
              <a:tblGrid>
                <a:gridCol w="8378042"/>
              </a:tblGrid>
              <a:tr h="2390775">
                <a:tc>
                  <a:txBody>
                    <a:bodyPr anchor="t" rtlCol="false"/>
                    <a:lstStyle/>
                    <a:p>
                      <a:pPr algn="ctr">
                        <a:lnSpc>
                          <a:spcPts val="13720"/>
                        </a:lnSpc>
                        <a:defRPr/>
                      </a:pPr>
                      <a:r>
                        <a:rPr lang="en-US" sz="9800" spc="-784">
                          <a:solidFill>
                            <a:srgbClr val="383838"/>
                          </a:solidFill>
                          <a:latin typeface="Roca Two"/>
                          <a:ea typeface="Roca Two"/>
                          <a:cs typeface="Roca Two"/>
                          <a:sym typeface="Roca Two"/>
                        </a:rPr>
                        <a:t>Chương 6</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sp>
        <p:nvSpPr>
          <p:cNvPr name="TextBox 3" id="3"/>
          <p:cNvSpPr txBox="true"/>
          <p:nvPr/>
        </p:nvSpPr>
        <p:spPr>
          <a:xfrm rot="0">
            <a:off x="5881311" y="4652327"/>
            <a:ext cx="5869285"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Noto Sans Bold"/>
                <a:ea typeface="Noto Sans Bold"/>
                <a:cs typeface="Noto Sans Bold"/>
                <a:sym typeface="Noto Sans Bold"/>
              </a:rPr>
              <a:t>Tích hợp AI Agent</a:t>
            </a:r>
          </a:p>
        </p:txBody>
      </p:sp>
    </p:spTree>
  </p:cSld>
  <p:clrMapOvr>
    <a:masterClrMapping/>
  </p:clrMapOvr>
  <p:transition spd="fast">
    <p:push dir="l"/>
  </p:transition>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88428"/>
            <a:ext cx="1084762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Mục tiêu tích hợp AI</a:t>
            </a:r>
          </a:p>
        </p:txBody>
      </p:sp>
      <p:sp>
        <p:nvSpPr>
          <p:cNvPr name="TextBox 4" id="4"/>
          <p:cNvSpPr txBox="true"/>
          <p:nvPr/>
        </p:nvSpPr>
        <p:spPr>
          <a:xfrm rot="0">
            <a:off x="1951266" y="2021458"/>
            <a:ext cx="14853691" cy="3829051"/>
          </a:xfrm>
          <a:prstGeom prst="rect">
            <a:avLst/>
          </a:prstGeom>
        </p:spPr>
        <p:txBody>
          <a:bodyPr anchor="t" rtlCol="false" tIns="0" lIns="0" bIns="0" rIns="0">
            <a:spAutoFit/>
          </a:bodyPr>
          <a:lstStyle/>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AI Agent giúp hệ thống thương mại</a:t>
            </a:r>
            <a:r>
              <a:rPr lang="en-US" sz="4199">
                <a:solidFill>
                  <a:srgbClr val="383838"/>
                </a:solidFill>
                <a:latin typeface="Decalotype"/>
                <a:ea typeface="Decalotype"/>
                <a:cs typeface="Decalotype"/>
                <a:sym typeface="Decalotype"/>
              </a:rPr>
              <a:t> điện tử cá nhân hóa trải nghiệm người dùng, tự động tương tác và phân tích hành vi khách hàng.</a:t>
            </a:r>
          </a:p>
          <a:p>
            <a:pPr algn="l" marL="906775" indent="-453388" lvl="1">
              <a:lnSpc>
                <a:spcPts val="6089"/>
              </a:lnSpc>
              <a:buFont typeface="Arial"/>
              <a:buChar char="•"/>
            </a:pPr>
            <a:r>
              <a:rPr lang="en-US" sz="4199">
                <a:solidFill>
                  <a:srgbClr val="383838"/>
                </a:solidFill>
                <a:latin typeface="Decalotype"/>
                <a:ea typeface="Decalotype"/>
                <a:cs typeface="Decalotype"/>
                <a:sym typeface="Decalotype"/>
              </a:rPr>
              <a:t>Việc tích hợp AI vào Microservices giúp tăng tỷ lệ chuyển đổi, nâng cao trải nghiệm và cải thiện khả năng giữ chân người dùng.</a:t>
            </a:r>
          </a:p>
          <a:p>
            <a:pPr algn="l">
              <a:lnSpc>
                <a:spcPts val="6089"/>
              </a:lnSpc>
            </a:pPr>
          </a:p>
        </p:txBody>
      </p:sp>
    </p:spTree>
  </p:cSld>
  <p:clrMapOvr>
    <a:masterClrMapping/>
  </p:clrMapOvr>
  <p:transition spd="fast">
    <p:push dir="l"/>
  </p:transition>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Object 3" id="3"/>
          <p:cNvGraphicFramePr/>
          <p:nvPr/>
        </p:nvGraphicFramePr>
        <p:xfrm>
          <a:off x="8416356" y="2624293"/>
          <a:ext cx="9201150" cy="3676460"/>
        </p:xfrm>
        <a:graphic>
          <a:graphicData uri="http://schemas.openxmlformats.org/presentationml/2006/ole">
            <p:oleObj imgW="11036300" imgH="5511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0">
            <a:off x="642762" y="588428"/>
            <a:ext cx="13034070" cy="832919"/>
          </a:xfrm>
          <a:prstGeom prst="rect">
            <a:avLst/>
          </a:prstGeom>
        </p:spPr>
        <p:txBody>
          <a:bodyPr anchor="t" rtlCol="false" tIns="0" lIns="0" bIns="0" rIns="0">
            <a:spAutoFit/>
          </a:bodyPr>
          <a:lstStyle/>
          <a:p>
            <a:pPr algn="l">
              <a:lnSpc>
                <a:spcPts val="6665"/>
              </a:lnSpc>
              <a:spcBef>
                <a:spcPct val="0"/>
              </a:spcBef>
            </a:pPr>
            <a:r>
              <a:rPr lang="en-US" b="true" sz="5207" spc="-130">
                <a:solidFill>
                  <a:srgbClr val="383838"/>
                </a:solidFill>
                <a:latin typeface="Decalotype Bold"/>
                <a:ea typeface="Decalotype Bold"/>
                <a:cs typeface="Decalotype Bold"/>
                <a:sym typeface="Decalotype Bold"/>
              </a:rPr>
              <a:t>Cách tiếp cận là triển khai Chatbot tư vấn qua n8n </a:t>
            </a:r>
          </a:p>
        </p:txBody>
      </p:sp>
      <p:sp>
        <p:nvSpPr>
          <p:cNvPr name="TextBox 5" id="5"/>
          <p:cNvSpPr txBox="true"/>
          <p:nvPr/>
        </p:nvSpPr>
        <p:spPr>
          <a:xfrm rot="0">
            <a:off x="1449458" y="2388153"/>
            <a:ext cx="6573854" cy="5505450"/>
          </a:xfrm>
          <a:prstGeom prst="rect">
            <a:avLst/>
          </a:prstGeom>
        </p:spPr>
        <p:txBody>
          <a:bodyPr anchor="t" rtlCol="false" tIns="0" lIns="0" bIns="0" rIns="0">
            <a:spAutoFit/>
          </a:bodyPr>
          <a:lstStyle/>
          <a:p>
            <a:pPr algn="l" marL="647702" indent="-323851" lvl="1">
              <a:lnSpc>
                <a:spcPts val="4350"/>
              </a:lnSpc>
              <a:buFont typeface="Arial"/>
              <a:buChar char="•"/>
            </a:pPr>
            <a:r>
              <a:rPr lang="en-US" sz="3000">
                <a:solidFill>
                  <a:srgbClr val="383838"/>
                </a:solidFill>
                <a:latin typeface="Decalotype"/>
                <a:ea typeface="Decalotype"/>
                <a:cs typeface="Decalotype"/>
                <a:sym typeface="Decalotype"/>
              </a:rPr>
              <a:t>n8n được sử dụng để xây</a:t>
            </a:r>
            <a:r>
              <a:rPr lang="en-US" sz="3000">
                <a:solidFill>
                  <a:srgbClr val="383838"/>
                </a:solidFill>
                <a:latin typeface="Decalotype"/>
                <a:ea typeface="Decalotype"/>
                <a:cs typeface="Decalotype"/>
                <a:sym typeface="Decalotype"/>
              </a:rPr>
              <a:t> dựng AI Agent theo mô hình Workflow-as-a-Service, giúp tách biệt logic chatbot khỏi backend và dễ mở rộng hệ thống.</a:t>
            </a:r>
          </a:p>
          <a:p>
            <a:pPr algn="l" marL="647702" indent="-323851" lvl="1">
              <a:lnSpc>
                <a:spcPts val="4350"/>
              </a:lnSpc>
              <a:buFont typeface="Arial"/>
              <a:buChar char="•"/>
            </a:pPr>
            <a:r>
              <a:rPr lang="en-US" sz="3000">
                <a:solidFill>
                  <a:srgbClr val="383838"/>
                </a:solidFill>
                <a:latin typeface="Decalotype"/>
                <a:ea typeface="Decalotype"/>
                <a:cs typeface="Decalotype"/>
                <a:sym typeface="Decalotype"/>
              </a:rPr>
              <a:t>AI Agent giao tiếp qua Webhook và sử dụng RAG kết hợp Vector Database để truy xuất dữ liệu thực tế từ microservices hoặc tài liệu, giúp tăng độ chính xác khi tư vấn.</a:t>
            </a:r>
          </a:p>
          <a:p>
            <a:pPr algn="l">
              <a:lnSpc>
                <a:spcPts val="4350"/>
              </a:lnSpc>
            </a:pPr>
          </a:p>
        </p:txBody>
      </p:sp>
    </p:spTree>
  </p:cSld>
  <p:clrMapOvr>
    <a:masterClrMapping/>
  </p:clrMapOvr>
  <p:transition spd="fast">
    <p:push dir="l"/>
  </p:transition>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97953"/>
            <a:ext cx="16822096" cy="778816"/>
          </a:xfrm>
          <a:prstGeom prst="rect">
            <a:avLst/>
          </a:prstGeom>
        </p:spPr>
        <p:txBody>
          <a:bodyPr anchor="t" rtlCol="false" tIns="0" lIns="0" bIns="0" rIns="0">
            <a:spAutoFit/>
          </a:bodyPr>
          <a:lstStyle/>
          <a:p>
            <a:pPr algn="l">
              <a:lnSpc>
                <a:spcPts val="6281"/>
              </a:lnSpc>
              <a:spcBef>
                <a:spcPct val="0"/>
              </a:spcBef>
            </a:pPr>
            <a:r>
              <a:rPr lang="en-US" b="true" sz="4907" spc="-122">
                <a:solidFill>
                  <a:srgbClr val="383838"/>
                </a:solidFill>
                <a:latin typeface="Decalotype Bold"/>
                <a:ea typeface="Decalotype Bold"/>
                <a:cs typeface="Decalotype Bold"/>
                <a:sym typeface="Decalotype Bold"/>
              </a:rPr>
              <a:t>Xây dựng 1 workflow cho chatbot tư vấn sản phẩm và chính sách</a:t>
            </a:r>
          </a:p>
        </p:txBody>
      </p:sp>
      <p:sp>
        <p:nvSpPr>
          <p:cNvPr name="TextBox 4" id="4"/>
          <p:cNvSpPr txBox="true"/>
          <p:nvPr/>
        </p:nvSpPr>
        <p:spPr>
          <a:xfrm rot="0">
            <a:off x="1951266" y="2016125"/>
            <a:ext cx="14853691" cy="6169025"/>
          </a:xfrm>
          <a:prstGeom prst="rect">
            <a:avLst/>
          </a:prstGeom>
        </p:spPr>
        <p:txBody>
          <a:bodyPr anchor="t" rtlCol="false" tIns="0" lIns="0" bIns="0" rIns="0">
            <a:spAutoFit/>
          </a:bodyPr>
          <a:lstStyle/>
          <a:p>
            <a:pPr algn="l">
              <a:lnSpc>
                <a:spcPts val="4929"/>
              </a:lnSpc>
            </a:pPr>
            <a:r>
              <a:rPr lang="en-US" sz="3399">
                <a:solidFill>
                  <a:srgbClr val="383838"/>
                </a:solidFill>
                <a:latin typeface="Decalotype"/>
                <a:ea typeface="Decalotype"/>
                <a:cs typeface="Decalotype"/>
                <a:sym typeface="Decalotype"/>
              </a:rPr>
              <a:t>Workflow AI được xây dựng gồm 4 tầng:</a:t>
            </a:r>
          </a:p>
          <a:p>
            <a:pPr algn="l" marL="734059" indent="-367030" lvl="1">
              <a:lnSpc>
                <a:spcPts val="4929"/>
              </a:lnSpc>
              <a:buFont typeface="Arial"/>
              <a:buChar char="•"/>
            </a:pPr>
            <a:r>
              <a:rPr lang="en-US" sz="3399">
                <a:solidFill>
                  <a:srgbClr val="383838"/>
                </a:solidFill>
                <a:latin typeface="Decalotype"/>
                <a:ea typeface="Decalotype"/>
                <a:cs typeface="Decalotype"/>
                <a:sym typeface="Decalotype"/>
              </a:rPr>
              <a:t>Tiếp nhận yêu cầu người</a:t>
            </a:r>
            <a:r>
              <a:rPr lang="en-US" sz="3399">
                <a:solidFill>
                  <a:srgbClr val="383838"/>
                </a:solidFill>
                <a:latin typeface="Decalotype"/>
                <a:ea typeface="Decalotype"/>
                <a:cs typeface="Decalotype"/>
                <a:sym typeface="Decalotype"/>
              </a:rPr>
              <a:t> dùng</a:t>
            </a:r>
          </a:p>
          <a:p>
            <a:pPr algn="l" marL="734059" indent="-367030" lvl="1">
              <a:lnSpc>
                <a:spcPts val="4929"/>
              </a:lnSpc>
              <a:buFont typeface="Arial"/>
              <a:buChar char="•"/>
            </a:pPr>
            <a:r>
              <a:rPr lang="en-US" sz="3399">
                <a:solidFill>
                  <a:srgbClr val="383838"/>
                </a:solidFill>
                <a:latin typeface="Decalotype"/>
                <a:ea typeface="Decalotype"/>
                <a:cs typeface="Decalotype"/>
                <a:sym typeface="Decalotype"/>
              </a:rPr>
              <a:t>AI Router phân loại ý định</a:t>
            </a:r>
          </a:p>
          <a:p>
            <a:pPr algn="l" marL="734059" indent="-367030" lvl="1">
              <a:lnSpc>
                <a:spcPts val="4929"/>
              </a:lnSpc>
              <a:buFont typeface="Arial"/>
              <a:buChar char="•"/>
            </a:pPr>
            <a:r>
              <a:rPr lang="en-US" sz="3399">
                <a:solidFill>
                  <a:srgbClr val="383838"/>
                </a:solidFill>
                <a:latin typeface="Decalotype"/>
                <a:ea typeface="Decalotype"/>
                <a:cs typeface="Decalotype"/>
                <a:sym typeface="Decalotype"/>
              </a:rPr>
              <a:t>If Node điều hướng workflow</a:t>
            </a:r>
          </a:p>
          <a:p>
            <a:pPr algn="l" marL="734059" indent="-367030" lvl="1">
              <a:lnSpc>
                <a:spcPts val="4929"/>
              </a:lnSpc>
              <a:buFont typeface="Arial"/>
              <a:buChar char="•"/>
            </a:pPr>
            <a:r>
              <a:rPr lang="en-US" sz="3399">
                <a:solidFill>
                  <a:srgbClr val="383838"/>
                </a:solidFill>
                <a:latin typeface="Decalotype"/>
                <a:ea typeface="Decalotype"/>
                <a:cs typeface="Decalotype"/>
                <a:sym typeface="Decalotype"/>
              </a:rPr>
              <a:t>AI Agent chuyên biệt xử lý nghiệp vụ</a:t>
            </a:r>
          </a:p>
          <a:p>
            <a:pPr algn="l">
              <a:lnSpc>
                <a:spcPts val="4929"/>
              </a:lnSpc>
            </a:pPr>
            <a:r>
              <a:rPr lang="en-US" sz="3399">
                <a:solidFill>
                  <a:srgbClr val="383838"/>
                </a:solidFill>
                <a:latin typeface="Decalotype"/>
                <a:ea typeface="Decalotype"/>
                <a:cs typeface="Decalotype"/>
                <a:sym typeface="Decalotype"/>
              </a:rPr>
              <a:t>Trong đó:</a:t>
            </a:r>
          </a:p>
          <a:p>
            <a:pPr algn="l" marL="734059" indent="-367030" lvl="1">
              <a:lnSpc>
                <a:spcPts val="4929"/>
              </a:lnSpc>
              <a:buFont typeface="Arial"/>
              <a:buChar char="•"/>
            </a:pPr>
            <a:r>
              <a:rPr lang="en-US" sz="3399">
                <a:solidFill>
                  <a:srgbClr val="383838"/>
                </a:solidFill>
                <a:latin typeface="Decalotype"/>
                <a:ea typeface="Decalotype"/>
                <a:cs typeface="Decalotype"/>
                <a:sym typeface="Decalotype"/>
              </a:rPr>
              <a:t>AI Agent tư vấn sản phẩm kết nối MongoDB để lấy dữ liệu realtime</a:t>
            </a:r>
          </a:p>
          <a:p>
            <a:pPr algn="l" marL="734059" indent="-367030" lvl="1">
              <a:lnSpc>
                <a:spcPts val="4929"/>
              </a:lnSpc>
              <a:buFont typeface="Arial"/>
              <a:buChar char="•"/>
            </a:pPr>
            <a:r>
              <a:rPr lang="en-US" sz="3399">
                <a:solidFill>
                  <a:srgbClr val="383838"/>
                </a:solidFill>
                <a:latin typeface="Decalotype"/>
                <a:ea typeface="Decalotype"/>
                <a:cs typeface="Decalotype"/>
                <a:sym typeface="Decalotype"/>
              </a:rPr>
              <a:t>AI Agent tư vấn chính sách sử dụng Memory và Vector Database để trả lời chính xác hơn.</a:t>
            </a:r>
          </a:p>
          <a:p>
            <a:pPr algn="l">
              <a:lnSpc>
                <a:spcPts val="4929"/>
              </a:lnSpc>
            </a:pPr>
          </a:p>
        </p:txBody>
      </p:sp>
    </p:spTree>
  </p:cSld>
  <p:clrMapOvr>
    <a:masterClrMapping/>
  </p:clrMapOvr>
  <p:transition spd="fast">
    <p:push dir="l"/>
  </p:transition>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88428"/>
            <a:ext cx="16822096" cy="832919"/>
          </a:xfrm>
          <a:prstGeom prst="rect">
            <a:avLst/>
          </a:prstGeom>
        </p:spPr>
        <p:txBody>
          <a:bodyPr anchor="t" rtlCol="false" tIns="0" lIns="0" bIns="0" rIns="0">
            <a:spAutoFit/>
          </a:bodyPr>
          <a:lstStyle/>
          <a:p>
            <a:pPr algn="l">
              <a:lnSpc>
                <a:spcPts val="6665"/>
              </a:lnSpc>
            </a:pPr>
            <a:r>
              <a:rPr lang="en-US" sz="5207" spc="-130" b="true">
                <a:solidFill>
                  <a:srgbClr val="383838"/>
                </a:solidFill>
                <a:latin typeface="Decalotype Bold"/>
                <a:ea typeface="Decalotype Bold"/>
                <a:cs typeface="Decalotype Bold"/>
                <a:sym typeface="Decalotype Bold"/>
              </a:rPr>
              <a:t>Cách xây dựng Agent tư vấn Chính sách (AI Agent 1)</a:t>
            </a:r>
          </a:p>
        </p:txBody>
      </p:sp>
      <p:sp>
        <p:nvSpPr>
          <p:cNvPr name="TextBox 4" id="4"/>
          <p:cNvSpPr txBox="true"/>
          <p:nvPr/>
        </p:nvSpPr>
        <p:spPr>
          <a:xfrm rot="0">
            <a:off x="1951266" y="1997075"/>
            <a:ext cx="14287555" cy="5696728"/>
          </a:xfrm>
          <a:prstGeom prst="rect">
            <a:avLst/>
          </a:prstGeom>
        </p:spPr>
        <p:txBody>
          <a:bodyPr anchor="t" rtlCol="false" tIns="0" lIns="0" bIns="0" rIns="0">
            <a:spAutoFit/>
          </a:bodyPr>
          <a:lstStyle/>
          <a:p>
            <a:pPr algn="l" marL="966262" indent="-483131" lvl="1">
              <a:lnSpc>
                <a:spcPts val="6489"/>
              </a:lnSpc>
              <a:buFont typeface="Arial"/>
              <a:buChar char="•"/>
            </a:pPr>
            <a:r>
              <a:rPr lang="en-US" sz="4475">
                <a:solidFill>
                  <a:srgbClr val="383838"/>
                </a:solidFill>
                <a:latin typeface="Decalotype"/>
                <a:ea typeface="Decalotype"/>
                <a:cs typeface="Decalotype"/>
                <a:sym typeface="Decalotype"/>
              </a:rPr>
              <a:t>AI Agent tư vấn chính sách hoạt động như một chuyên viên</a:t>
            </a:r>
            <a:r>
              <a:rPr lang="en-US" sz="4475">
                <a:solidFill>
                  <a:srgbClr val="383838"/>
                </a:solidFill>
                <a:latin typeface="Decalotype"/>
                <a:ea typeface="Decalotype"/>
                <a:cs typeface="Decalotype"/>
                <a:sym typeface="Decalotype"/>
              </a:rPr>
              <a:t> chăm sóc khách hàng, hỗ trợ giải đáp các vấn đề về bảo hành, đổi trả, hoàn tiền và vận chuyển.</a:t>
            </a:r>
          </a:p>
          <a:p>
            <a:pPr algn="l" marL="966262" indent="-483131" lvl="1">
              <a:lnSpc>
                <a:spcPts val="6489"/>
              </a:lnSpc>
              <a:buFont typeface="Arial"/>
              <a:buChar char="•"/>
            </a:pPr>
            <a:r>
              <a:rPr lang="en-US" sz="4475">
                <a:solidFill>
                  <a:srgbClr val="383838"/>
                </a:solidFill>
                <a:latin typeface="Decalotype"/>
                <a:ea typeface="Decalotype"/>
                <a:cs typeface="Decalotype"/>
                <a:sym typeface="Decalotype"/>
              </a:rPr>
              <a:t>Agent được kết nối với kho tài liệu chính sách để cung cấp thông tin chính xác, đồng thời sử dụng Memory để duy trì ngữ cảnh hội thoại và hỗ trợ người dùng hiệu quả hơn.</a:t>
            </a:r>
          </a:p>
          <a:p>
            <a:pPr algn="l">
              <a:lnSpc>
                <a:spcPts val="6489"/>
              </a:lnSpc>
            </a:pPr>
          </a:p>
        </p:txBody>
      </p:sp>
    </p:spTree>
  </p:cSld>
  <p:clrMapOvr>
    <a:masterClrMapping/>
  </p:clrMapOvr>
  <p:transition spd="fast">
    <p:push dir="l"/>
  </p:transition>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97953"/>
            <a:ext cx="16822096" cy="1569391"/>
          </a:xfrm>
          <a:prstGeom prst="rect">
            <a:avLst/>
          </a:prstGeom>
        </p:spPr>
        <p:txBody>
          <a:bodyPr anchor="t" rtlCol="false" tIns="0" lIns="0" bIns="0" rIns="0">
            <a:spAutoFit/>
          </a:bodyPr>
          <a:lstStyle/>
          <a:p>
            <a:pPr algn="l">
              <a:lnSpc>
                <a:spcPts val="6281"/>
              </a:lnSpc>
            </a:pPr>
            <a:r>
              <a:rPr lang="en-US" sz="4907" spc="-122" b="true">
                <a:solidFill>
                  <a:srgbClr val="383838"/>
                </a:solidFill>
                <a:latin typeface="Decalotype Bold"/>
                <a:ea typeface="Decalotype Bold"/>
                <a:cs typeface="Decalotype Bold"/>
                <a:sym typeface="Decalotype Bold"/>
              </a:rPr>
              <a:t>Cách xây dựng Agent tư vấn Sản phẩm (AI Agent 2)</a:t>
            </a:r>
          </a:p>
          <a:p>
            <a:pPr algn="l">
              <a:lnSpc>
                <a:spcPts val="6281"/>
              </a:lnSpc>
              <a:spcBef>
                <a:spcPct val="0"/>
              </a:spcBef>
            </a:pPr>
          </a:p>
        </p:txBody>
      </p:sp>
      <p:sp>
        <p:nvSpPr>
          <p:cNvPr name="TextBox 4" id="4"/>
          <p:cNvSpPr txBox="true"/>
          <p:nvPr/>
        </p:nvSpPr>
        <p:spPr>
          <a:xfrm rot="0">
            <a:off x="1951266" y="2006600"/>
            <a:ext cx="14853691" cy="5537200"/>
          </a:xfrm>
          <a:prstGeom prst="rect">
            <a:avLst/>
          </a:prstGeom>
        </p:spPr>
        <p:txBody>
          <a:bodyPr anchor="t" rtlCol="false" tIns="0" lIns="0" bIns="0" rIns="0">
            <a:spAutoFit/>
          </a:bodyPr>
          <a:lstStyle/>
          <a:p>
            <a:pPr algn="l" marL="820417" indent="-410209" lvl="1">
              <a:lnSpc>
                <a:spcPts val="5509"/>
              </a:lnSpc>
              <a:buFont typeface="Arial"/>
              <a:buChar char="•"/>
            </a:pPr>
            <a:r>
              <a:rPr lang="en-US" sz="3799">
                <a:solidFill>
                  <a:srgbClr val="383838"/>
                </a:solidFill>
                <a:latin typeface="Decalotype"/>
                <a:ea typeface="Decalotype"/>
                <a:cs typeface="Decalotype"/>
                <a:sym typeface="Decalotype"/>
              </a:rPr>
              <a:t>AI Agent đóng vai trò như một nhân viên tư vấn sản phẩm thông minh, có khả năng truy xuất dữ liệu thực tế từ MongoDB để cung cấp</a:t>
            </a:r>
            <a:r>
              <a:rPr lang="en-US" sz="3799">
                <a:solidFill>
                  <a:srgbClr val="383838"/>
                </a:solidFill>
                <a:latin typeface="Decalotype"/>
                <a:ea typeface="Decalotype"/>
                <a:cs typeface="Decalotype"/>
                <a:sym typeface="Decalotype"/>
              </a:rPr>
              <a:t> thông tin chính xác về giá, mô tả, thông số kỹ thuật và tình trạng tồn kho.</a:t>
            </a:r>
          </a:p>
          <a:p>
            <a:pPr algn="l" marL="820417" indent="-410209" lvl="1">
              <a:lnSpc>
                <a:spcPts val="5509"/>
              </a:lnSpc>
              <a:buFont typeface="Arial"/>
              <a:buChar char="•"/>
            </a:pPr>
            <a:r>
              <a:rPr lang="en-US" sz="3799">
                <a:solidFill>
                  <a:srgbClr val="383838"/>
                </a:solidFill>
                <a:latin typeface="Decalotype"/>
                <a:ea typeface="Decalotype"/>
                <a:cs typeface="Decalotype"/>
                <a:sym typeface="Decalotype"/>
              </a:rPr>
              <a:t>Agent sử dụng mô hình RAG (Retrieval-Augmented Generation) nhằm hạn chế hiện tượng hallucination và tăng độ chính xác khi phản hồi người dùng. Ngoài ra, hệ thống còn có khả năng đề xuất các sản phẩm tương tự nếu không tìm thấy sản phẩm phù hợp trong cơ sở dữ liệu.</a:t>
            </a:r>
          </a:p>
          <a:p>
            <a:pPr algn="l">
              <a:lnSpc>
                <a:spcPts val="5509"/>
              </a:lnSpc>
            </a:pPr>
          </a:p>
        </p:txBody>
      </p:sp>
    </p:spTree>
  </p:cSld>
  <p:clrMapOvr>
    <a:masterClrMapping/>
  </p:clrMapOvr>
  <p:transition spd="fast">
    <p:push dir="l"/>
  </p:transition>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Object 3" id="3"/>
          <p:cNvGraphicFramePr/>
          <p:nvPr/>
        </p:nvGraphicFramePr>
        <p:xfrm>
          <a:off x="2965814" y="1858231"/>
          <a:ext cx="8915400" cy="2914507"/>
        </p:xfrm>
        <a:graphic>
          <a:graphicData uri="http://schemas.openxmlformats.org/presentationml/2006/ole">
            <p:oleObj imgW="10693400" imgH="46863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0">
            <a:off x="642762" y="597953"/>
            <a:ext cx="16822096" cy="778816"/>
          </a:xfrm>
          <a:prstGeom prst="rect">
            <a:avLst/>
          </a:prstGeom>
        </p:spPr>
        <p:txBody>
          <a:bodyPr anchor="t" rtlCol="false" tIns="0" lIns="0" bIns="0" rIns="0">
            <a:spAutoFit/>
          </a:bodyPr>
          <a:lstStyle/>
          <a:p>
            <a:pPr algn="l">
              <a:lnSpc>
                <a:spcPts val="6281"/>
              </a:lnSpc>
              <a:spcBef>
                <a:spcPct val="0"/>
              </a:spcBef>
            </a:pPr>
            <a:r>
              <a:rPr lang="en-US" b="true" sz="4907" spc="-122">
                <a:solidFill>
                  <a:srgbClr val="383838"/>
                </a:solidFill>
                <a:latin typeface="Decalotype Bold"/>
                <a:ea typeface="Decalotype Bold"/>
                <a:cs typeface="Decalotype Bold"/>
                <a:sym typeface="Decalotype Bold"/>
              </a:rPr>
              <a:t>So sánh đặc tính hai Agent</a:t>
            </a:r>
          </a:p>
        </p:txBody>
      </p:sp>
    </p:spTree>
  </p:cSld>
  <p:clrMapOvr>
    <a:masterClrMapping/>
  </p:clrMapOvr>
  <p:transition spd="fast">
    <p:push dir="l"/>
  </p:transition>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00484" y="1821468"/>
            <a:ext cx="14404473" cy="6644063"/>
          </a:xfrm>
          <a:custGeom>
            <a:avLst/>
            <a:gdLst/>
            <a:ahLst/>
            <a:cxnLst/>
            <a:rect r="r" b="b" t="t" l="l"/>
            <a:pathLst>
              <a:path h="6644063" w="14404473">
                <a:moveTo>
                  <a:pt x="0" y="0"/>
                </a:moveTo>
                <a:lnTo>
                  <a:pt x="14404473" y="0"/>
                </a:lnTo>
                <a:lnTo>
                  <a:pt x="14404473" y="6644064"/>
                </a:lnTo>
                <a:lnTo>
                  <a:pt x="0" y="6644064"/>
                </a:lnTo>
                <a:lnTo>
                  <a:pt x="0" y="0"/>
                </a:lnTo>
                <a:close/>
              </a:path>
            </a:pathLst>
          </a:custGeom>
          <a:blipFill>
            <a:blip r:embed="rId4"/>
            <a:stretch>
              <a:fillRect l="0" t="0" r="0" b="0"/>
            </a:stretch>
          </a:blipFill>
        </p:spPr>
      </p:sp>
      <p:sp>
        <p:nvSpPr>
          <p:cNvPr name="TextBox 4" id="4"/>
          <p:cNvSpPr txBox="true"/>
          <p:nvPr/>
        </p:nvSpPr>
        <p:spPr>
          <a:xfrm rot="0">
            <a:off x="642762" y="597953"/>
            <a:ext cx="16822096" cy="778816"/>
          </a:xfrm>
          <a:prstGeom prst="rect">
            <a:avLst/>
          </a:prstGeom>
        </p:spPr>
        <p:txBody>
          <a:bodyPr anchor="t" rtlCol="false" tIns="0" lIns="0" bIns="0" rIns="0">
            <a:spAutoFit/>
          </a:bodyPr>
          <a:lstStyle/>
          <a:p>
            <a:pPr algn="l">
              <a:lnSpc>
                <a:spcPts val="6281"/>
              </a:lnSpc>
              <a:spcBef>
                <a:spcPct val="0"/>
              </a:spcBef>
            </a:pPr>
            <a:r>
              <a:rPr lang="en-US" b="true" sz="4907" spc="-122">
                <a:solidFill>
                  <a:srgbClr val="383838"/>
                </a:solidFill>
                <a:latin typeface="Decalotype Bold"/>
                <a:ea typeface="Decalotype Bold"/>
                <a:cs typeface="Decalotype Bold"/>
                <a:sym typeface="Decalotype Bold"/>
              </a:rPr>
              <a:t>Workflow hệ thống </a:t>
            </a:r>
          </a:p>
        </p:txBody>
      </p:sp>
      <p:sp>
        <p:nvSpPr>
          <p:cNvPr name="TextBox 5" id="5"/>
          <p:cNvSpPr txBox="true"/>
          <p:nvPr/>
        </p:nvSpPr>
        <p:spPr>
          <a:xfrm rot="0">
            <a:off x="7279779" y="8744051"/>
            <a:ext cx="3728442" cy="375591"/>
          </a:xfrm>
          <a:prstGeom prst="rect">
            <a:avLst/>
          </a:prstGeom>
        </p:spPr>
        <p:txBody>
          <a:bodyPr anchor="t" rtlCol="false" tIns="0" lIns="0" bIns="0" rIns="0">
            <a:spAutoFit/>
          </a:bodyPr>
          <a:lstStyle/>
          <a:p>
            <a:pPr algn="ctr">
              <a:lnSpc>
                <a:spcPts val="3081"/>
              </a:lnSpc>
              <a:spcBef>
                <a:spcPct val="0"/>
              </a:spcBef>
            </a:pPr>
            <a:r>
              <a:rPr lang="en-US" sz="2407" i="true" spc="-60">
                <a:solidFill>
                  <a:srgbClr val="383838"/>
                </a:solidFill>
                <a:latin typeface="Noto Sans Italics"/>
                <a:ea typeface="Noto Sans Italics"/>
                <a:cs typeface="Noto Sans Italics"/>
                <a:sym typeface="Noto Sans Italics"/>
              </a:rPr>
              <a:t> Hình 28: Workflow hệ thống </a:t>
            </a:r>
          </a:p>
        </p:txBody>
      </p:sp>
    </p:spTree>
  </p:cSld>
  <p:clrMapOvr>
    <a:masterClrMapping/>
  </p:clrMapOvr>
  <p:transition spd="fast">
    <p:push dir="l"/>
  </p:transition>
</p:sld>
</file>

<file path=ppt/slides/slide60.xml><?xml version="1.0" encoding="utf-8"?>
<p:sld xmlns:p="http://schemas.openxmlformats.org/presentationml/2006/main" xmlns:a="http://schemas.openxmlformats.org/drawingml/2006/main">
  <p:cSld>
    <p:bg>
      <p:bgPr>
        <a:solidFill>
          <a:srgbClr val="EFEE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4304199" y="1505425"/>
          <a:ext cx="8378042" cy="2390775"/>
        </p:xfrm>
        <a:graphic>
          <a:graphicData uri="http://schemas.openxmlformats.org/drawingml/2006/table">
            <a:tbl>
              <a:tblPr/>
              <a:tblGrid>
                <a:gridCol w="8378042"/>
              </a:tblGrid>
              <a:tr h="2390775">
                <a:tc>
                  <a:txBody>
                    <a:bodyPr anchor="t" rtlCol="false"/>
                    <a:lstStyle/>
                    <a:p>
                      <a:pPr algn="ctr">
                        <a:lnSpc>
                          <a:spcPts val="13720"/>
                        </a:lnSpc>
                        <a:defRPr/>
                      </a:pPr>
                      <a:r>
                        <a:rPr lang="en-US" sz="9800" spc="-784">
                          <a:solidFill>
                            <a:srgbClr val="383838"/>
                          </a:solidFill>
                          <a:latin typeface="Roca Two"/>
                          <a:ea typeface="Roca Two"/>
                          <a:cs typeface="Roca Two"/>
                          <a:sym typeface="Roca Two"/>
                        </a:rPr>
                        <a:t>Chương 7</a:t>
                      </a:r>
                      <a:endParaRPr lang="en-US" sz="1100"/>
                    </a:p>
                  </a:txBody>
                  <a:tcPr marL="114300" marR="114300" marT="114300" marB="114300" anchor="ctr">
                    <a:lnL cmpd="sng" algn="ctr" cap="flat" w="9525">
                      <a:solidFill>
                        <a:srgbClr val="737373"/>
                      </a:solidFill>
                      <a:prstDash val="solid"/>
                      <a:round/>
                      <a:headEnd type="none" w="med" len="med"/>
                      <a:tailEnd type="none" w="med" len="med"/>
                    </a:lnL>
                    <a:lnR cmpd="sng" algn="ctr" cap="flat" w="9525">
                      <a:solidFill>
                        <a:srgbClr val="737373"/>
                      </a:solidFill>
                      <a:prstDash val="solid"/>
                      <a:round/>
                      <a:headEnd type="none" w="med" len="med"/>
                      <a:tailEnd type="none" w="med" len="med"/>
                    </a:lnR>
                    <a:lnT cmpd="sng" algn="ctr" cap="flat" w="9525">
                      <a:solidFill>
                        <a:srgbClr val="737373"/>
                      </a:solidFill>
                      <a:prstDash val="solid"/>
                      <a:round/>
                      <a:headEnd type="none" w="med" len="med"/>
                      <a:tailEnd type="none" w="med" len="med"/>
                    </a:lnT>
                    <a:lnB cmpd="sng" algn="ctr" cap="flat" w="9525">
                      <a:solidFill>
                        <a:srgbClr val="737373"/>
                      </a:solidFill>
                      <a:prstDash val="solid"/>
                      <a:round/>
                      <a:headEnd type="none" w="med" len="med"/>
                      <a:tailEnd type="none" w="med" len="med"/>
                    </a:lnB>
                  </a:tcPr>
                </a:tc>
              </a:tr>
            </a:tbl>
          </a:graphicData>
        </a:graphic>
      </p:graphicFrame>
      <p:sp>
        <p:nvSpPr>
          <p:cNvPr name="TextBox 3" id="3"/>
          <p:cNvSpPr txBox="true"/>
          <p:nvPr/>
        </p:nvSpPr>
        <p:spPr>
          <a:xfrm rot="0">
            <a:off x="4015254" y="4652327"/>
            <a:ext cx="9601399"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Noto Sans Bold"/>
                <a:ea typeface="Noto Sans Bold"/>
                <a:cs typeface="Noto Sans Bold"/>
                <a:sym typeface="Noto Sans Bold"/>
              </a:rPr>
              <a:t>Kết luận và hướng phát triển</a:t>
            </a:r>
          </a:p>
        </p:txBody>
      </p:sp>
    </p:spTree>
  </p:cSld>
  <p:clrMapOvr>
    <a:masterClrMapping/>
  </p:clrMapOvr>
  <p:transition spd="fast">
    <p:push dir="l"/>
  </p:transition>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97953"/>
            <a:ext cx="16822096" cy="778816"/>
          </a:xfrm>
          <a:prstGeom prst="rect">
            <a:avLst/>
          </a:prstGeom>
        </p:spPr>
        <p:txBody>
          <a:bodyPr anchor="t" rtlCol="false" tIns="0" lIns="0" bIns="0" rIns="0">
            <a:spAutoFit/>
          </a:bodyPr>
          <a:lstStyle/>
          <a:p>
            <a:pPr algn="l">
              <a:lnSpc>
                <a:spcPts val="6281"/>
              </a:lnSpc>
              <a:spcBef>
                <a:spcPct val="0"/>
              </a:spcBef>
            </a:pPr>
            <a:r>
              <a:rPr lang="en-US" b="true" sz="4907" spc="-122">
                <a:solidFill>
                  <a:srgbClr val="383838"/>
                </a:solidFill>
                <a:latin typeface="Decalotype Bold"/>
                <a:ea typeface="Decalotype Bold"/>
                <a:cs typeface="Decalotype Bold"/>
                <a:sym typeface="Decalotype Bold"/>
              </a:rPr>
              <a:t>Kết luận</a:t>
            </a:r>
          </a:p>
        </p:txBody>
      </p:sp>
      <p:sp>
        <p:nvSpPr>
          <p:cNvPr name="TextBox 4" id="4"/>
          <p:cNvSpPr txBox="true"/>
          <p:nvPr/>
        </p:nvSpPr>
        <p:spPr>
          <a:xfrm rot="0">
            <a:off x="1951266" y="2006600"/>
            <a:ext cx="14853691" cy="7623175"/>
          </a:xfrm>
          <a:prstGeom prst="rect">
            <a:avLst/>
          </a:prstGeom>
        </p:spPr>
        <p:txBody>
          <a:bodyPr anchor="t" rtlCol="false" tIns="0" lIns="0" bIns="0" rIns="0">
            <a:spAutoFit/>
          </a:bodyPr>
          <a:lstStyle/>
          <a:p>
            <a:pPr algn="l" marL="820417" indent="-410209" lvl="1">
              <a:lnSpc>
                <a:spcPts val="5509"/>
              </a:lnSpc>
              <a:buFont typeface="Arial"/>
              <a:buChar char="•"/>
            </a:pPr>
            <a:r>
              <a:rPr lang="en-US" sz="3799">
                <a:solidFill>
                  <a:srgbClr val="383838"/>
                </a:solidFill>
                <a:latin typeface="Decalotype"/>
                <a:ea typeface="Decalotype"/>
                <a:cs typeface="Decalotype"/>
                <a:sym typeface="Decalotype"/>
              </a:rPr>
              <a:t>Đề tài đã xây dựng thành công hệ thống thương mại điện tử theo kiến trúc Microservices, tích hợp AI Agent và workflow automation bằ</a:t>
            </a:r>
            <a:r>
              <a:rPr lang="en-US" sz="3799">
                <a:solidFill>
                  <a:srgbClr val="383838"/>
                </a:solidFill>
                <a:latin typeface="Decalotype"/>
                <a:ea typeface="Decalotype"/>
                <a:cs typeface="Decalotype"/>
                <a:sym typeface="Decalotype"/>
              </a:rPr>
              <a:t>ng n8n nhằm nâng cao khả năng mở rộng, tự động hóa và trải nghiệm người dùng.</a:t>
            </a:r>
          </a:p>
          <a:p>
            <a:pPr algn="l" marL="820417" indent="-410209" lvl="1">
              <a:lnSpc>
                <a:spcPts val="5509"/>
              </a:lnSpc>
              <a:buFont typeface="Arial"/>
              <a:buChar char="•"/>
            </a:pPr>
            <a:r>
              <a:rPr lang="en-US" sz="3799">
                <a:solidFill>
                  <a:srgbClr val="383838"/>
                </a:solidFill>
                <a:latin typeface="Decalotype"/>
                <a:ea typeface="Decalotype"/>
                <a:cs typeface="Decalotype"/>
                <a:sym typeface="Decalotype"/>
              </a:rPr>
              <a:t>Hệ thống sử dụng các công nghệ hiện đại như Next.js, NestJS, PostgreSQL, MongoDB, Redis, RabbitMQ và Docker, đồng thời triển khai nhiều AI Agent hỗ trợ tư vấn và cá nhân hóa mua sắm.</a:t>
            </a:r>
          </a:p>
          <a:p>
            <a:pPr algn="l" marL="820417" indent="-410209" lvl="1">
              <a:lnSpc>
                <a:spcPts val="5509"/>
              </a:lnSpc>
              <a:buFont typeface="Arial"/>
              <a:buChar char="•"/>
            </a:pPr>
            <a:r>
              <a:rPr lang="en-US" sz="3799">
                <a:solidFill>
                  <a:srgbClr val="383838"/>
                </a:solidFill>
                <a:latin typeface="Decalotype"/>
                <a:ea typeface="Decalotype"/>
                <a:cs typeface="Decalotype"/>
                <a:sym typeface="Decalotype"/>
              </a:rPr>
              <a:t>Bên cạnh những kết quả đạt được, hệ thống vẫn còn hạn chế về khả năng triển khai thực tế quy mô lớn và các tính năng AI chuyên sâu, tuy nhiên đề tài đã đáp ứng tốt mục tiêu nghiên cứu và giúp nhóm tích lũy nhiều kinh nghiệm thực tế.</a:t>
            </a:r>
          </a:p>
          <a:p>
            <a:pPr algn="l">
              <a:lnSpc>
                <a:spcPts val="5509"/>
              </a:lnSpc>
            </a:pPr>
          </a:p>
        </p:txBody>
      </p:sp>
    </p:spTree>
  </p:cSld>
  <p:clrMapOvr>
    <a:masterClrMapping/>
  </p:clrMapOvr>
  <p:transition spd="fast">
    <p:push dir="l"/>
  </p:transition>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EFEEE8"/>
        </a:solidFill>
      </p:bgPr>
    </p:bg>
    <p:spTree>
      <p:nvGrpSpPr>
        <p:cNvPr id="1" name=""/>
        <p:cNvGrpSpPr/>
        <p:nvPr/>
      </p:nvGrpSpPr>
      <p:grpSpPr>
        <a:xfrm>
          <a:off x="0" y="0"/>
          <a:ext cx="0" cy="0"/>
          <a:chOff x="0" y="0"/>
          <a:chExt cx="0" cy="0"/>
        </a:xfrm>
      </p:grpSpPr>
      <p:sp>
        <p:nvSpPr>
          <p:cNvPr name="Freeform 2" id="2"/>
          <p:cNvSpPr/>
          <p:nvPr/>
        </p:nvSpPr>
        <p:spPr>
          <a:xfrm flipH="false" flipV="false" rot="0">
            <a:off x="16804957" y="8936609"/>
            <a:ext cx="659901" cy="643383"/>
          </a:xfrm>
          <a:custGeom>
            <a:avLst/>
            <a:gdLst/>
            <a:ahLst/>
            <a:cxnLst/>
            <a:rect r="r" b="b" t="t" l="l"/>
            <a:pathLst>
              <a:path h="643383" w="659901">
                <a:moveTo>
                  <a:pt x="0" y="0"/>
                </a:moveTo>
                <a:lnTo>
                  <a:pt x="659901" y="0"/>
                </a:lnTo>
                <a:lnTo>
                  <a:pt x="659901" y="643382"/>
                </a:lnTo>
                <a:lnTo>
                  <a:pt x="0" y="6433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2762" y="597953"/>
            <a:ext cx="16822096" cy="778816"/>
          </a:xfrm>
          <a:prstGeom prst="rect">
            <a:avLst/>
          </a:prstGeom>
        </p:spPr>
        <p:txBody>
          <a:bodyPr anchor="t" rtlCol="false" tIns="0" lIns="0" bIns="0" rIns="0">
            <a:spAutoFit/>
          </a:bodyPr>
          <a:lstStyle/>
          <a:p>
            <a:pPr algn="l">
              <a:lnSpc>
                <a:spcPts val="6281"/>
              </a:lnSpc>
              <a:spcBef>
                <a:spcPct val="0"/>
              </a:spcBef>
            </a:pPr>
            <a:r>
              <a:rPr lang="en-US" b="true" sz="4907" spc="-122">
                <a:solidFill>
                  <a:srgbClr val="383838"/>
                </a:solidFill>
                <a:latin typeface="Decalotype Bold"/>
                <a:ea typeface="Decalotype Bold"/>
                <a:cs typeface="Decalotype Bold"/>
                <a:sym typeface="Decalotype Bold"/>
              </a:rPr>
              <a:t>Hướng phát triển</a:t>
            </a:r>
          </a:p>
        </p:txBody>
      </p:sp>
      <p:sp>
        <p:nvSpPr>
          <p:cNvPr name="TextBox 4" id="4"/>
          <p:cNvSpPr txBox="true"/>
          <p:nvPr/>
        </p:nvSpPr>
        <p:spPr>
          <a:xfrm rot="0">
            <a:off x="1717155" y="2093912"/>
            <a:ext cx="14853691" cy="5994401"/>
          </a:xfrm>
          <a:prstGeom prst="rect">
            <a:avLst/>
          </a:prstGeom>
        </p:spPr>
        <p:txBody>
          <a:bodyPr anchor="t" rtlCol="false" tIns="0" lIns="0" bIns="0" rIns="0">
            <a:spAutoFit/>
          </a:bodyPr>
          <a:lstStyle/>
          <a:p>
            <a:pPr algn="l" marL="885186" indent="-442593" lvl="1">
              <a:lnSpc>
                <a:spcPts val="5944"/>
              </a:lnSpc>
              <a:buFont typeface="Arial"/>
              <a:buChar char="•"/>
            </a:pPr>
            <a:r>
              <a:rPr lang="en-US" sz="4099">
                <a:solidFill>
                  <a:srgbClr val="383838"/>
                </a:solidFill>
                <a:latin typeface="Decalotype"/>
                <a:ea typeface="Decalotype"/>
                <a:cs typeface="Decalotype"/>
                <a:sym typeface="Decalotype"/>
              </a:rPr>
              <a:t>Trong tương lai, hệ thống có thể mở rộng AI Age</a:t>
            </a:r>
            <a:r>
              <a:rPr lang="en-US" sz="4099">
                <a:solidFill>
                  <a:srgbClr val="383838"/>
                </a:solidFill>
                <a:latin typeface="Decalotype"/>
                <a:ea typeface="Decalotype"/>
                <a:cs typeface="Decalotype"/>
                <a:sym typeface="Decalotype"/>
              </a:rPr>
              <a:t>nt, tích hợp LLM, Computer Vision và triển khai trên cloud kết hợp Kubernetes để tăng khả năng mở rộng.</a:t>
            </a:r>
          </a:p>
          <a:p>
            <a:pPr algn="l" marL="885186" indent="-442593" lvl="1">
              <a:lnSpc>
                <a:spcPts val="5944"/>
              </a:lnSpc>
              <a:buFont typeface="Arial"/>
              <a:buChar char="•"/>
            </a:pPr>
            <a:r>
              <a:rPr lang="en-US" sz="4099">
                <a:solidFill>
                  <a:srgbClr val="383838"/>
                </a:solidFill>
                <a:latin typeface="Decalotype"/>
                <a:ea typeface="Decalotype"/>
                <a:cs typeface="Decalotype"/>
                <a:sym typeface="Decalotype"/>
              </a:rPr>
              <a:t>Ngoài ra, hệ thống sẽ phát triển thêm các tính năng phân tích dữ liệu, mobile app, livestream bán hàng và bảo mật nâng cao nhằm hoàn thiện nền tảng thương mại điện tử thông minh.</a:t>
            </a:r>
          </a:p>
          <a:p>
            <a:pPr algn="l">
              <a:lnSpc>
                <a:spcPts val="5944"/>
              </a:lnSpc>
            </a:pPr>
          </a:p>
          <a:p>
            <a:pPr algn="l">
              <a:lnSpc>
                <a:spcPts val="5944"/>
              </a:lnSpc>
            </a:pPr>
          </a:p>
        </p:txBody>
      </p:sp>
    </p:spTree>
  </p:cSld>
  <p:clrMapOvr>
    <a:masterClrMapping/>
  </p:clrMapOvr>
  <p:transition spd="fast">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DAHFHT22sL4</dc:identifier>
  <dcterms:modified xsi:type="dcterms:W3CDTF">2011-08-01T06:04:30Z</dcterms:modified>
  <cp:revision>1</cp:revision>
  <dc:title>Black and Grey Simple Dynamic Professional Portfolio Presentation</dc:title>
</cp:coreProperties>
</file>